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60" r:id="rId5"/>
    <p:sldId id="261" r:id="rId6"/>
    <p:sldId id="262" r:id="rId7"/>
    <p:sldId id="263" r:id="rId8"/>
    <p:sldId id="258" r:id="rId9"/>
    <p:sldId id="265" r:id="rId10"/>
    <p:sldId id="266" r:id="rId11"/>
    <p:sldId id="267" r:id="rId12"/>
    <p:sldId id="268" r:id="rId13"/>
    <p:sldId id="269" r:id="rId14"/>
    <p:sldId id="270" r:id="rId15"/>
    <p:sldId id="271" r:id="rId16"/>
    <p:sldId id="272" r:id="rId17"/>
    <p:sldId id="273" r:id="rId18"/>
    <p:sldId id="274" r:id="rId19"/>
    <p:sldId id="308" r:id="rId20"/>
    <p:sldId id="275" r:id="rId21"/>
    <p:sldId id="276" r:id="rId22"/>
    <p:sldId id="277" r:id="rId23"/>
    <p:sldId id="278" r:id="rId24"/>
    <p:sldId id="279" r:id="rId25"/>
    <p:sldId id="280" r:id="rId26"/>
    <p:sldId id="281" r:id="rId27"/>
    <p:sldId id="282" r:id="rId28"/>
    <p:sldId id="283" r:id="rId29"/>
    <p:sldId id="264" r:id="rId30"/>
    <p:sldId id="285" r:id="rId31"/>
    <p:sldId id="286" r:id="rId32"/>
    <p:sldId id="287" r:id="rId33"/>
    <p:sldId id="288" r:id="rId34"/>
    <p:sldId id="289" r:id="rId35"/>
    <p:sldId id="291" r:id="rId36"/>
    <p:sldId id="292" r:id="rId37"/>
    <p:sldId id="293" r:id="rId38"/>
    <p:sldId id="294" r:id="rId39"/>
    <p:sldId id="295" r:id="rId40"/>
    <p:sldId id="296" r:id="rId41"/>
    <p:sldId id="297" r:id="rId42"/>
    <p:sldId id="299" r:id="rId43"/>
    <p:sldId id="300" r:id="rId44"/>
    <p:sldId id="302" r:id="rId45"/>
    <p:sldId id="306" r:id="rId46"/>
    <p:sldId id="301" r:id="rId47"/>
    <p:sldId id="307" r:id="rId48"/>
    <p:sldId id="303" r:id="rId49"/>
    <p:sldId id="304" r:id="rId50"/>
    <p:sldId id="28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n Zook" initials="KZ" lastIdx="0" clrIdx="0">
    <p:extLst>
      <p:ext uri="{19B8F6BF-5375-455C-9EA6-DF929625EA0E}">
        <p15:presenceInfo xmlns:p15="http://schemas.microsoft.com/office/powerpoint/2012/main" userId="S-1-5-21-2075735302-1962817296-126092852-104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4660"/>
  </p:normalViewPr>
  <p:slideViewPr>
    <p:cSldViewPr snapToGrid="0">
      <p:cViewPr varScale="1">
        <p:scale>
          <a:sx n="88" d="100"/>
          <a:sy n="88" d="100"/>
        </p:scale>
        <p:origin x="1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F899-AAAC-4F64-9C27-DA6744262C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D5CC6A-D98B-45E5-B531-B4121A30C6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C799FE-3EEE-4613-9792-4CD663BAC96A}"/>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5" name="Footer Placeholder 4">
            <a:extLst>
              <a:ext uri="{FF2B5EF4-FFF2-40B4-BE49-F238E27FC236}">
                <a16:creationId xmlns:a16="http://schemas.microsoft.com/office/drawing/2014/main" id="{AFB45C94-EE43-4E32-B3F8-4AA6B0D2DD7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1B430BE-B83B-41A3-BD66-4325946E6A0F}"/>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3213026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A2BDF-11C0-4047-928C-8E8173EE12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0FE9D5-738B-4520-B401-360AA744B65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7E641-4052-4108-9537-A05E330ADB5D}"/>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5" name="Footer Placeholder 4">
            <a:extLst>
              <a:ext uri="{FF2B5EF4-FFF2-40B4-BE49-F238E27FC236}">
                <a16:creationId xmlns:a16="http://schemas.microsoft.com/office/drawing/2014/main" id="{7433388D-D103-461C-93CF-C56B6950456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CE24DB-69D4-4576-8C32-F37FAB67164D}"/>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1023320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B8A5F-A456-4C38-8E7A-2DB27A3870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D26574-E49E-44DB-BCB6-766C5E1703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7713501-C21A-4DCA-88F9-C2558F23D2B5}"/>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5" name="Footer Placeholder 4">
            <a:extLst>
              <a:ext uri="{FF2B5EF4-FFF2-40B4-BE49-F238E27FC236}">
                <a16:creationId xmlns:a16="http://schemas.microsoft.com/office/drawing/2014/main" id="{D118A321-7ADE-4144-B2D6-D16DA996B0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4F7D11-FDB2-4E88-AB57-AAD2C107E108}"/>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4236791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74C36-56E9-47C3-8EC3-F9FB3AE7CB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D08E8F-14CE-48F3-A3D4-16E35CF7340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F9A493-F65E-4B8A-B403-87636121ED4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73EDE9-D8AF-4886-B4FF-9DD9FA935008}"/>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6" name="Footer Placeholder 5">
            <a:extLst>
              <a:ext uri="{FF2B5EF4-FFF2-40B4-BE49-F238E27FC236}">
                <a16:creationId xmlns:a16="http://schemas.microsoft.com/office/drawing/2014/main" id="{3374713B-C49C-4217-9055-CEFA313B791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80F873-BAFF-42C1-B785-B0D4A15063F4}"/>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737248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FB17-6BCF-461F-AFFC-F6A0FF7B76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7BF770-4A41-4E9C-9632-F74274B519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AB3916B-F0E0-4079-B1AF-10BD9E78230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FD73BC-5D21-45C6-947D-4C7B4D15B6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0246DC4-BC98-4BCF-9F7A-09D91AC8ABC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D3145E-9E59-40E9-8D42-2D662038CAE4}"/>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8" name="Footer Placeholder 7">
            <a:extLst>
              <a:ext uri="{FF2B5EF4-FFF2-40B4-BE49-F238E27FC236}">
                <a16:creationId xmlns:a16="http://schemas.microsoft.com/office/drawing/2014/main" id="{8E351A96-F03C-4FBE-B583-8E950DB35C4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8270A3-1309-41FC-AA97-8ABCAA62FB70}"/>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345784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1D363-CF8B-48AD-AA1C-03D5D802CF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DF7622-B661-4C3C-B154-03DFC38AE9F2}"/>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4" name="Footer Placeholder 3">
            <a:extLst>
              <a:ext uri="{FF2B5EF4-FFF2-40B4-BE49-F238E27FC236}">
                <a16:creationId xmlns:a16="http://schemas.microsoft.com/office/drawing/2014/main" id="{F1C1463C-36FF-403B-BF07-9A14E52A15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C50A5C9-E0FA-4AC2-B24F-097BE830FBD6}"/>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3728960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98F2D0-143B-4855-93F5-8B506EC93AAA}"/>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3" name="Footer Placeholder 2">
            <a:extLst>
              <a:ext uri="{FF2B5EF4-FFF2-40B4-BE49-F238E27FC236}">
                <a16:creationId xmlns:a16="http://schemas.microsoft.com/office/drawing/2014/main" id="{791C1400-971C-4C55-9912-39A137ED902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66281B7-822C-4F79-B64A-23E6009DB0F7}"/>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2821215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2DCF6-C124-4291-B011-32886D2BD7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4823B1-DEC4-4123-892B-A2A96BEBB3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C952A0-7C27-4364-8E0E-77D7B29A91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5C55CB-232D-4114-A7F9-5190FB0AE4AA}"/>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6" name="Footer Placeholder 5">
            <a:extLst>
              <a:ext uri="{FF2B5EF4-FFF2-40B4-BE49-F238E27FC236}">
                <a16:creationId xmlns:a16="http://schemas.microsoft.com/office/drawing/2014/main" id="{F280367C-4B9D-4FFE-9AFF-BBF50E6C724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4EDABAC-57F6-4207-BCE6-4DD0AF3904E5}"/>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3188727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B393-A930-4AB7-A9A3-015255B77B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3A66F6-621F-459D-AF1B-5C6F6C8EBC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D8C0614-2573-4EA8-81E0-2B2357509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BFF83E-BC4E-4AFB-950F-B3EA1E9183E5}"/>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6" name="Footer Placeholder 5">
            <a:extLst>
              <a:ext uri="{FF2B5EF4-FFF2-40B4-BE49-F238E27FC236}">
                <a16:creationId xmlns:a16="http://schemas.microsoft.com/office/drawing/2014/main" id="{409364D9-8E1A-406E-A078-AF4752BCB81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8BBB229-5455-426E-AEC3-83DECEF6918D}"/>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3126104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6A16C-5C39-4964-A06C-F2386ACEBD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A0E8C7-788F-4BFE-A161-94405B3AE73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E9F312-1278-4373-A61A-A4A3F62727CE}"/>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5" name="Footer Placeholder 4">
            <a:extLst>
              <a:ext uri="{FF2B5EF4-FFF2-40B4-BE49-F238E27FC236}">
                <a16:creationId xmlns:a16="http://schemas.microsoft.com/office/drawing/2014/main" id="{7E5DBB37-BDD3-4F00-84E0-603D14CE9C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9E435A-C7C3-42EC-AD47-9179EE9585C0}"/>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1917361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1BD8D0-6CF0-4F25-AC73-4373431CE4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12AD13-6C29-4D44-89E8-B4AEC6C1405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05E13A-3942-4B82-B36E-C988A57AC8CA}"/>
              </a:ext>
            </a:extLst>
          </p:cNvPr>
          <p:cNvSpPr>
            <a:spLocks noGrp="1"/>
          </p:cNvSpPr>
          <p:nvPr>
            <p:ph type="dt" sz="half" idx="10"/>
          </p:nvPr>
        </p:nvSpPr>
        <p:spPr/>
        <p:txBody>
          <a:bodyPr/>
          <a:lstStyle/>
          <a:p>
            <a:fld id="{33088F3C-9E81-4E49-8427-25161F1C0BC9}" type="datetimeFigureOut">
              <a:rPr lang="en-US" smtClean="0"/>
              <a:t>7/9/2024</a:t>
            </a:fld>
            <a:endParaRPr lang="en-US" dirty="0"/>
          </a:p>
        </p:txBody>
      </p:sp>
      <p:sp>
        <p:nvSpPr>
          <p:cNvPr id="5" name="Footer Placeholder 4">
            <a:extLst>
              <a:ext uri="{FF2B5EF4-FFF2-40B4-BE49-F238E27FC236}">
                <a16:creationId xmlns:a16="http://schemas.microsoft.com/office/drawing/2014/main" id="{93F7B400-2427-4559-82B6-AE0CB8BBC5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9094409-7684-4112-B63A-C9365F363D29}"/>
              </a:ext>
            </a:extLst>
          </p:cNvPr>
          <p:cNvSpPr>
            <a:spLocks noGrp="1"/>
          </p:cNvSpPr>
          <p:nvPr>
            <p:ph type="sldNum" sz="quarter" idx="12"/>
          </p:nvPr>
        </p:nvSpPr>
        <p:spPr/>
        <p:txBody>
          <a:bodyPr/>
          <a:lstStyle/>
          <a:p>
            <a:fld id="{EB40AB03-247E-42FF-9FEA-9219012E571C}" type="slidenum">
              <a:rPr lang="en-US" smtClean="0"/>
              <a:t>‹#›</a:t>
            </a:fld>
            <a:endParaRPr lang="en-US" dirty="0"/>
          </a:p>
        </p:txBody>
      </p:sp>
    </p:spTree>
    <p:extLst>
      <p:ext uri="{BB962C8B-B14F-4D97-AF65-F5344CB8AC3E}">
        <p14:creationId xmlns:p14="http://schemas.microsoft.com/office/powerpoint/2010/main" val="802744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1B838D-F430-478D-9BDC-3FF015A587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37DEA7-7A7B-44C5-873E-CD76CB02E3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6D6906-395C-43FF-9B2C-6AECF7C600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088F3C-9E81-4E49-8427-25161F1C0BC9}" type="datetimeFigureOut">
              <a:rPr lang="en-US" smtClean="0"/>
              <a:t>7/9/2024</a:t>
            </a:fld>
            <a:endParaRPr lang="en-US" dirty="0"/>
          </a:p>
        </p:txBody>
      </p:sp>
      <p:sp>
        <p:nvSpPr>
          <p:cNvPr id="5" name="Footer Placeholder 4">
            <a:extLst>
              <a:ext uri="{FF2B5EF4-FFF2-40B4-BE49-F238E27FC236}">
                <a16:creationId xmlns:a16="http://schemas.microsoft.com/office/drawing/2014/main" id="{CF0C4A33-1B70-4048-9859-CA5016A3CA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9FC5986-1B33-429C-957A-833BD2D4E6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40AB03-247E-42FF-9FEA-9219012E571C}" type="slidenum">
              <a:rPr lang="en-US" smtClean="0"/>
              <a:t>‹#›</a:t>
            </a:fld>
            <a:endParaRPr lang="en-US" dirty="0"/>
          </a:p>
        </p:txBody>
      </p:sp>
    </p:spTree>
    <p:extLst>
      <p:ext uri="{BB962C8B-B14F-4D97-AF65-F5344CB8AC3E}">
        <p14:creationId xmlns:p14="http://schemas.microsoft.com/office/powerpoint/2010/main" val="2223060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ownloads.languagetechnology.org/fieldworks/Documentation/Flex_tips.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downloads.languagetechnology.org/fieldworks/Documentation/FLEx%209.1%20Conceptual%20Model.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04A778-153B-4155-8A3A-CAF799ECA8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548"/>
            <a:ext cx="12192000" cy="6800903"/>
          </a:xfrm>
          <a:prstGeom prst="rect">
            <a:avLst/>
          </a:prstGeom>
        </p:spPr>
      </p:pic>
      <p:sp>
        <p:nvSpPr>
          <p:cNvPr id="2" name="Title 1">
            <a:extLst>
              <a:ext uri="{FF2B5EF4-FFF2-40B4-BE49-F238E27FC236}">
                <a16:creationId xmlns:a16="http://schemas.microsoft.com/office/drawing/2014/main" id="{6B9EAC4B-6F40-496D-B49F-E2AE594AA3A3}"/>
              </a:ext>
            </a:extLst>
          </p:cNvPr>
          <p:cNvSpPr>
            <a:spLocks noGrp="1"/>
          </p:cNvSpPr>
          <p:nvPr>
            <p:ph type="ctrTitle"/>
          </p:nvPr>
        </p:nvSpPr>
        <p:spPr/>
        <p:txBody>
          <a:bodyPr/>
          <a:lstStyle/>
          <a:p>
            <a:r>
              <a:rPr lang="en-US" b="1" dirty="0">
                <a:latin typeface="+mn-lt"/>
              </a:rPr>
              <a:t>FLEx 9.1 Conceptual Model</a:t>
            </a:r>
          </a:p>
        </p:txBody>
      </p:sp>
      <p:sp>
        <p:nvSpPr>
          <p:cNvPr id="6" name="Subtitle 2">
            <a:extLst>
              <a:ext uri="{FF2B5EF4-FFF2-40B4-BE49-F238E27FC236}">
                <a16:creationId xmlns:a16="http://schemas.microsoft.com/office/drawing/2014/main" id="{25999A4E-6B15-4459-B68B-4D3478FA3172}"/>
              </a:ext>
            </a:extLst>
          </p:cNvPr>
          <p:cNvSpPr>
            <a:spLocks noGrp="1"/>
          </p:cNvSpPr>
          <p:nvPr>
            <p:ph type="subTitle" idx="1"/>
          </p:nvPr>
        </p:nvSpPr>
        <p:spPr>
          <a:xfrm>
            <a:off x="1524000" y="3602038"/>
            <a:ext cx="9144000" cy="1655762"/>
          </a:xfrm>
        </p:spPr>
        <p:txBody>
          <a:bodyPr/>
          <a:lstStyle/>
          <a:p>
            <a:r>
              <a:rPr lang="en-US" sz="4800" b="1" dirty="0"/>
              <a:t>Grammar and Interlinear model</a:t>
            </a:r>
            <a:br>
              <a:rPr lang="en-US" dirty="0"/>
            </a:br>
            <a:r>
              <a:rPr lang="en-US" dirty="0"/>
              <a:t>Ken Zook</a:t>
            </a:r>
          </a:p>
          <a:p>
            <a:r>
              <a:rPr lang="en-US" dirty="0"/>
              <a:t>June 25, 2024</a:t>
            </a:r>
          </a:p>
        </p:txBody>
      </p:sp>
    </p:spTree>
    <p:extLst>
      <p:ext uri="{BB962C8B-B14F-4D97-AF65-F5344CB8AC3E}">
        <p14:creationId xmlns:p14="http://schemas.microsoft.com/office/powerpoint/2010/main" val="2811164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Grammar: Introduction</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85000" lnSpcReduction="10000"/>
          </a:bodyPr>
          <a:lstStyle/>
          <a:p>
            <a:r>
              <a:rPr lang="en-US" dirty="0"/>
              <a:t>Most objects in the grammar area come from factory lists that are provided with FLEx. The user normally chooses from these lists to provide the features they want.</a:t>
            </a:r>
          </a:p>
          <a:p>
            <a:r>
              <a:rPr lang="en-US" dirty="0"/>
              <a:t>The core part of the grammar is the Parts Of Speech list seen in the Category Edit tool in the Grammar area. In addition to providing names and abbreviations for categories, there are other details that can be added to a category including Affix Templates, Affix Slots, Inflection Class Info, Features, and Stem Names.</a:t>
            </a:r>
          </a:p>
          <a:p>
            <a:r>
              <a:rPr lang="en-US" dirty="0"/>
              <a:t>Using these features along with lexical entries, a user can use morphological parsers to validate morphology as specified by the grammar. These specifications affect the </a:t>
            </a:r>
            <a:r>
              <a:rPr lang="en-US" dirty="0" err="1"/>
              <a:t>XAmple</a:t>
            </a:r>
            <a:r>
              <a:rPr lang="en-US" dirty="0"/>
              <a:t>, </a:t>
            </a:r>
            <a:r>
              <a:rPr lang="en-US" dirty="0" err="1"/>
              <a:t>HermitCrab</a:t>
            </a:r>
            <a:r>
              <a:rPr lang="en-US" dirty="0"/>
              <a:t>, and interlinear parsers.</a:t>
            </a:r>
          </a:p>
          <a:p>
            <a:r>
              <a:rPr lang="en-US" dirty="0"/>
              <a:t>The Grammar area, provides various tools to list phonemes, phonological features and rules, natural classes, environments, inflection features, etc. </a:t>
            </a:r>
          </a:p>
          <a:p>
            <a:r>
              <a:rPr lang="en-US" dirty="0"/>
              <a:t>There is also a Grammar Sketch tool that will provide a sketch of your grammar at any point in time.</a:t>
            </a:r>
          </a:p>
          <a:p>
            <a:r>
              <a:rPr lang="en-US" dirty="0"/>
              <a:t>The Feature Types list in the Lists area is also related to Grammar and is not a true </a:t>
            </a:r>
            <a:r>
              <a:rPr lang="en-US" dirty="0" err="1"/>
              <a:t>CmPossibility</a:t>
            </a:r>
            <a:r>
              <a:rPr lang="en-US" dirty="0"/>
              <a:t> list.</a:t>
            </a:r>
          </a:p>
        </p:txBody>
      </p:sp>
    </p:spTree>
    <p:extLst>
      <p:ext uri="{BB962C8B-B14F-4D97-AF65-F5344CB8AC3E}">
        <p14:creationId xmlns:p14="http://schemas.microsoft.com/office/powerpoint/2010/main" val="1482352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Grammar: Introduction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1" y="939800"/>
            <a:ext cx="6618514" cy="5781675"/>
          </a:xfrm>
        </p:spPr>
        <p:txBody>
          <a:bodyPr>
            <a:normAutofit/>
          </a:bodyPr>
          <a:lstStyle/>
          <a:p>
            <a:r>
              <a:rPr lang="en-US" dirty="0"/>
              <a:t>To illustrate some of the grammar capabilities, the sample project illustrates some basics for parsing French verbs that follow the ER paradigm. This can parse the verb ‘manger’ into ‘mange’ for first person singular (I eat), and ‘</a:t>
            </a:r>
            <a:r>
              <a:rPr lang="en-US" dirty="0" err="1"/>
              <a:t>mangeons</a:t>
            </a:r>
            <a:r>
              <a:rPr lang="en-US" dirty="0"/>
              <a:t>’ for third person singular (we eat). Once this is set up, it could parse other verbs that use the same affixes to determine person and number, as long as the other main entries are linked to the ‘ER Verbs’ Inflection Class in their Grammatical Info Details section.</a:t>
            </a:r>
          </a:p>
          <a:p>
            <a:endParaRPr lang="en-US" dirty="0"/>
          </a:p>
        </p:txBody>
      </p:sp>
      <p:pic>
        <p:nvPicPr>
          <p:cNvPr id="6" name="Picture 5">
            <a:extLst>
              <a:ext uri="{FF2B5EF4-FFF2-40B4-BE49-F238E27FC236}">
                <a16:creationId xmlns:a16="http://schemas.microsoft.com/office/drawing/2014/main" id="{9A2B2484-85FC-4ECF-8474-42C455F01C4C}"/>
              </a:ext>
            </a:extLst>
          </p:cNvPr>
          <p:cNvPicPr>
            <a:picLocks noChangeAspect="1"/>
          </p:cNvPicPr>
          <p:nvPr/>
        </p:nvPicPr>
        <p:blipFill>
          <a:blip r:embed="rId2"/>
          <a:stretch>
            <a:fillRect/>
          </a:stretch>
        </p:blipFill>
        <p:spPr>
          <a:xfrm>
            <a:off x="7652657" y="1227068"/>
            <a:ext cx="4459890" cy="4760075"/>
          </a:xfrm>
          <a:prstGeom prst="rect">
            <a:avLst/>
          </a:prstGeom>
        </p:spPr>
      </p:pic>
    </p:spTree>
    <p:extLst>
      <p:ext uri="{BB962C8B-B14F-4D97-AF65-F5344CB8AC3E}">
        <p14:creationId xmlns:p14="http://schemas.microsoft.com/office/powerpoint/2010/main" val="404034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Grammar: Inflection features</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6074229" cy="5681133"/>
          </a:xfrm>
        </p:spPr>
        <p:txBody>
          <a:bodyPr>
            <a:normAutofit fontScale="77500" lnSpcReduction="20000"/>
          </a:bodyPr>
          <a:lstStyle/>
          <a:p>
            <a:r>
              <a:rPr lang="en-US" dirty="0"/>
              <a:t>The first step to do this is adding features. In the Inflection Features tool, add a new Complex Feature with check marks in person and number sections under subject agreement.</a:t>
            </a: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pic>
        <p:nvPicPr>
          <p:cNvPr id="2" name="Picture 1">
            <a:extLst>
              <a:ext uri="{FF2B5EF4-FFF2-40B4-BE49-F238E27FC236}">
                <a16:creationId xmlns:a16="http://schemas.microsoft.com/office/drawing/2014/main" id="{20FDE9B6-443C-4AFA-9554-3478E1815116}"/>
              </a:ext>
            </a:extLst>
          </p:cNvPr>
          <p:cNvPicPr>
            <a:picLocks noChangeAspect="1"/>
          </p:cNvPicPr>
          <p:nvPr/>
        </p:nvPicPr>
        <p:blipFill>
          <a:blip r:embed="rId2"/>
          <a:stretch>
            <a:fillRect/>
          </a:stretch>
        </p:blipFill>
        <p:spPr>
          <a:xfrm>
            <a:off x="7073406" y="851914"/>
            <a:ext cx="4672282" cy="5849005"/>
          </a:xfrm>
          <a:prstGeom prst="rect">
            <a:avLst/>
          </a:prstGeom>
        </p:spPr>
      </p:pic>
      <p:pic>
        <p:nvPicPr>
          <p:cNvPr id="6" name="Picture 5">
            <a:extLst>
              <a:ext uri="{FF2B5EF4-FFF2-40B4-BE49-F238E27FC236}">
                <a16:creationId xmlns:a16="http://schemas.microsoft.com/office/drawing/2014/main" id="{37E7D645-210A-48FF-BD96-79DEE4102B12}"/>
              </a:ext>
            </a:extLst>
          </p:cNvPr>
          <p:cNvPicPr>
            <a:picLocks noChangeAspect="1"/>
          </p:cNvPicPr>
          <p:nvPr/>
        </p:nvPicPr>
        <p:blipFill>
          <a:blip r:embed="rId3"/>
          <a:stretch>
            <a:fillRect/>
          </a:stretch>
        </p:blipFill>
        <p:spPr>
          <a:xfrm>
            <a:off x="1047045" y="2036689"/>
            <a:ext cx="5549698" cy="4712007"/>
          </a:xfrm>
          <a:prstGeom prst="rect">
            <a:avLst/>
          </a:prstGeom>
        </p:spPr>
      </p:pic>
    </p:spTree>
    <p:extLst>
      <p:ext uri="{BB962C8B-B14F-4D97-AF65-F5344CB8AC3E}">
        <p14:creationId xmlns:p14="http://schemas.microsoft.com/office/powerpoint/2010/main" val="3129797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Grammar: Verb category</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3940629" cy="5681133"/>
          </a:xfrm>
        </p:spPr>
        <p:txBody>
          <a:bodyPr>
            <a:normAutofit fontScale="92500" lnSpcReduction="20000"/>
          </a:bodyPr>
          <a:lstStyle/>
          <a:p>
            <a:r>
              <a:rPr lang="en-US" dirty="0"/>
              <a:t>In Category Edit, add an Affix Template, an Affix Slot, and an Inflection Class Info to the Verb category. At this point, the affix template will not have any entries in the </a:t>
            </a:r>
            <a:r>
              <a:rPr lang="en-US" dirty="0" err="1"/>
              <a:t>vPersNum</a:t>
            </a:r>
            <a:r>
              <a:rPr lang="en-US" dirty="0"/>
              <a:t> column.</a:t>
            </a: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a:p>
            <a:endParaRPr lang="en-US" dirty="0"/>
          </a:p>
        </p:txBody>
      </p:sp>
      <p:pic>
        <p:nvPicPr>
          <p:cNvPr id="2" name="Picture 1">
            <a:extLst>
              <a:ext uri="{FF2B5EF4-FFF2-40B4-BE49-F238E27FC236}">
                <a16:creationId xmlns:a16="http://schemas.microsoft.com/office/drawing/2014/main" id="{5E6D99DB-3E7C-4A82-AC4F-BBEE6BC1A6B7}"/>
              </a:ext>
            </a:extLst>
          </p:cNvPr>
          <p:cNvPicPr>
            <a:picLocks noChangeAspect="1"/>
          </p:cNvPicPr>
          <p:nvPr/>
        </p:nvPicPr>
        <p:blipFill>
          <a:blip r:embed="rId2"/>
          <a:stretch>
            <a:fillRect/>
          </a:stretch>
        </p:blipFill>
        <p:spPr>
          <a:xfrm>
            <a:off x="5233515" y="818353"/>
            <a:ext cx="6754168" cy="6011114"/>
          </a:xfrm>
          <a:prstGeom prst="rect">
            <a:avLst/>
          </a:prstGeom>
        </p:spPr>
      </p:pic>
      <p:pic>
        <p:nvPicPr>
          <p:cNvPr id="6" name="Picture 5">
            <a:extLst>
              <a:ext uri="{FF2B5EF4-FFF2-40B4-BE49-F238E27FC236}">
                <a16:creationId xmlns:a16="http://schemas.microsoft.com/office/drawing/2014/main" id="{29B763DA-B276-4DE7-A3FC-90574B8D8542}"/>
              </a:ext>
            </a:extLst>
          </p:cNvPr>
          <p:cNvPicPr>
            <a:picLocks noChangeAspect="1"/>
          </p:cNvPicPr>
          <p:nvPr/>
        </p:nvPicPr>
        <p:blipFill>
          <a:blip r:embed="rId3"/>
          <a:stretch>
            <a:fillRect/>
          </a:stretch>
        </p:blipFill>
        <p:spPr>
          <a:xfrm>
            <a:off x="427056" y="3429000"/>
            <a:ext cx="4557648" cy="2754086"/>
          </a:xfrm>
          <a:prstGeom prst="rect">
            <a:avLst/>
          </a:prstGeom>
        </p:spPr>
      </p:pic>
    </p:spTree>
    <p:extLst>
      <p:ext uri="{BB962C8B-B14F-4D97-AF65-F5344CB8AC3E}">
        <p14:creationId xmlns:p14="http://schemas.microsoft.com/office/powerpoint/2010/main" val="607501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Grammar: User setup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1" y="776514"/>
            <a:ext cx="6542313" cy="5681133"/>
          </a:xfrm>
        </p:spPr>
        <p:txBody>
          <a:bodyPr>
            <a:normAutofit lnSpcReduction="10000"/>
          </a:bodyPr>
          <a:lstStyle/>
          <a:p>
            <a:r>
              <a:rPr lang="en-US" dirty="0"/>
              <a:t>In the entry for ‘manger’, specify the lexeme form as ‘</a:t>
            </a:r>
            <a:r>
              <a:rPr lang="en-US" dirty="0" err="1"/>
              <a:t>mang</a:t>
            </a:r>
            <a:r>
              <a:rPr lang="en-US" dirty="0"/>
              <a:t>’ and the citation form as ‘manger’. In the Grammatical Info Details section, the entry is classified as a verb, and the Inflection Class is set to ER Verbs.</a:t>
            </a:r>
          </a:p>
          <a:p>
            <a:endParaRPr lang="en-US" dirty="0"/>
          </a:p>
          <a:p>
            <a:r>
              <a:rPr lang="en-US" dirty="0"/>
              <a:t>In the ‘-e’ suffix entry, add the entry to the ‘</a:t>
            </a:r>
            <a:r>
              <a:rPr lang="en-US" dirty="0" err="1"/>
              <a:t>vPersNum</a:t>
            </a:r>
            <a:r>
              <a:rPr lang="en-US" dirty="0"/>
              <a:t>’ slot, and set the Inflection features to ‘singular number’ and ‘first person’.</a:t>
            </a:r>
          </a:p>
          <a:p>
            <a:r>
              <a:rPr lang="en-US" dirty="0"/>
              <a:t>Make similar changes to the ‘-eons’ entry, except person is set to ‘third person’, and number is set to ‘plural number’.</a:t>
            </a:r>
          </a:p>
          <a:p>
            <a:endParaRPr lang="en-US" dirty="0"/>
          </a:p>
          <a:p>
            <a:endParaRPr lang="en-US" dirty="0"/>
          </a:p>
        </p:txBody>
      </p:sp>
      <p:pic>
        <p:nvPicPr>
          <p:cNvPr id="2" name="Picture 1">
            <a:extLst>
              <a:ext uri="{FF2B5EF4-FFF2-40B4-BE49-F238E27FC236}">
                <a16:creationId xmlns:a16="http://schemas.microsoft.com/office/drawing/2014/main" id="{8D72776A-726D-4315-878D-A2609B1B8DD5}"/>
              </a:ext>
            </a:extLst>
          </p:cNvPr>
          <p:cNvPicPr>
            <a:picLocks noChangeAspect="1"/>
          </p:cNvPicPr>
          <p:nvPr/>
        </p:nvPicPr>
        <p:blipFill>
          <a:blip r:embed="rId2"/>
          <a:stretch>
            <a:fillRect/>
          </a:stretch>
        </p:blipFill>
        <p:spPr>
          <a:xfrm>
            <a:off x="7291782" y="2713510"/>
            <a:ext cx="4746652" cy="3631740"/>
          </a:xfrm>
          <a:prstGeom prst="rect">
            <a:avLst/>
          </a:prstGeom>
        </p:spPr>
      </p:pic>
      <p:pic>
        <p:nvPicPr>
          <p:cNvPr id="3" name="Picture 2">
            <a:extLst>
              <a:ext uri="{FF2B5EF4-FFF2-40B4-BE49-F238E27FC236}">
                <a16:creationId xmlns:a16="http://schemas.microsoft.com/office/drawing/2014/main" id="{5D129B4B-EC1D-4BE7-BD3D-D77A7425535E}"/>
              </a:ext>
            </a:extLst>
          </p:cNvPr>
          <p:cNvPicPr>
            <a:picLocks noChangeAspect="1"/>
          </p:cNvPicPr>
          <p:nvPr/>
        </p:nvPicPr>
        <p:blipFill>
          <a:blip r:embed="rId3"/>
          <a:stretch>
            <a:fillRect/>
          </a:stretch>
        </p:blipFill>
        <p:spPr>
          <a:xfrm>
            <a:off x="7542153" y="1216802"/>
            <a:ext cx="2844745" cy="856719"/>
          </a:xfrm>
          <a:prstGeom prst="rect">
            <a:avLst/>
          </a:prstGeom>
        </p:spPr>
      </p:pic>
      <p:sp>
        <p:nvSpPr>
          <p:cNvPr id="6" name="TextBox 5">
            <a:extLst>
              <a:ext uri="{FF2B5EF4-FFF2-40B4-BE49-F238E27FC236}">
                <a16:creationId xmlns:a16="http://schemas.microsoft.com/office/drawing/2014/main" id="{C6F527EE-E5C4-4B0F-9451-A5FCFC192CD1}"/>
              </a:ext>
            </a:extLst>
          </p:cNvPr>
          <p:cNvSpPr txBox="1"/>
          <p:nvPr/>
        </p:nvSpPr>
        <p:spPr>
          <a:xfrm>
            <a:off x="8136488" y="796670"/>
            <a:ext cx="1978267" cy="400110"/>
          </a:xfrm>
          <a:prstGeom prst="rect">
            <a:avLst/>
          </a:prstGeom>
          <a:noFill/>
        </p:spPr>
        <p:txBody>
          <a:bodyPr wrap="square" rtlCol="0">
            <a:spAutoFit/>
          </a:bodyPr>
          <a:lstStyle/>
          <a:p>
            <a:r>
              <a:rPr lang="en-US" sz="2000" b="1" dirty="0" err="1"/>
              <a:t>mang</a:t>
            </a:r>
            <a:r>
              <a:rPr lang="en-US" sz="2000" b="1" dirty="0"/>
              <a:t> / manger</a:t>
            </a:r>
          </a:p>
        </p:txBody>
      </p:sp>
      <p:sp>
        <p:nvSpPr>
          <p:cNvPr id="7" name="TextBox 6">
            <a:extLst>
              <a:ext uri="{FF2B5EF4-FFF2-40B4-BE49-F238E27FC236}">
                <a16:creationId xmlns:a16="http://schemas.microsoft.com/office/drawing/2014/main" id="{963664E0-2F07-4D07-B241-58BA0FAAF3BA}"/>
              </a:ext>
            </a:extLst>
          </p:cNvPr>
          <p:cNvSpPr txBox="1"/>
          <p:nvPr/>
        </p:nvSpPr>
        <p:spPr>
          <a:xfrm>
            <a:off x="9616943" y="2376221"/>
            <a:ext cx="441455" cy="400110"/>
          </a:xfrm>
          <a:prstGeom prst="rect">
            <a:avLst/>
          </a:prstGeom>
          <a:noFill/>
        </p:spPr>
        <p:txBody>
          <a:bodyPr wrap="square" rtlCol="0">
            <a:spAutoFit/>
          </a:bodyPr>
          <a:lstStyle/>
          <a:p>
            <a:r>
              <a:rPr lang="en-US" sz="2000" b="1" dirty="0"/>
              <a:t>-e</a:t>
            </a:r>
          </a:p>
        </p:txBody>
      </p:sp>
    </p:spTree>
    <p:extLst>
      <p:ext uri="{BB962C8B-B14F-4D97-AF65-F5344CB8AC3E}">
        <p14:creationId xmlns:p14="http://schemas.microsoft.com/office/powerpoint/2010/main" val="121751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Grammar: with lexicon</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5013960" cy="5681133"/>
          </a:xfrm>
        </p:spPr>
        <p:txBody>
          <a:bodyPr>
            <a:normAutofit/>
          </a:bodyPr>
          <a:lstStyle/>
          <a:p>
            <a:r>
              <a:rPr lang="en-US" dirty="0" err="1"/>
              <a:t>MoStemMsa</a:t>
            </a:r>
            <a:r>
              <a:rPr lang="en-US" dirty="0"/>
              <a:t> references category and </a:t>
            </a:r>
            <a:r>
              <a:rPr lang="en-US" dirty="0" err="1"/>
              <a:t>MoInflClass</a:t>
            </a:r>
            <a:r>
              <a:rPr lang="en-US" dirty="0"/>
              <a:t>.</a:t>
            </a:r>
          </a:p>
          <a:p>
            <a:r>
              <a:rPr lang="en-US" dirty="0" err="1"/>
              <a:t>MoInflAffMsa</a:t>
            </a:r>
            <a:r>
              <a:rPr lang="en-US" dirty="0"/>
              <a:t> references category and </a:t>
            </a:r>
            <a:r>
              <a:rPr lang="en-US" dirty="0" err="1"/>
              <a:t>MoInflAffixSlot</a:t>
            </a:r>
            <a:endParaRPr lang="en-US" dirty="0"/>
          </a:p>
          <a:p>
            <a:r>
              <a:rPr lang="en-US" dirty="0" err="1"/>
              <a:t>MoInflAffMsa</a:t>
            </a:r>
            <a:r>
              <a:rPr lang="en-US" dirty="0"/>
              <a:t> owns a </a:t>
            </a:r>
            <a:r>
              <a:rPr lang="en-US" dirty="0" err="1"/>
              <a:t>FsFeatStruc</a:t>
            </a:r>
            <a:r>
              <a:rPr lang="en-US" dirty="0"/>
              <a:t> connection to various parts of the feature system</a:t>
            </a:r>
          </a:p>
        </p:txBody>
      </p:sp>
      <p:pic>
        <p:nvPicPr>
          <p:cNvPr id="6" name="Picture 5">
            <a:extLst>
              <a:ext uri="{FF2B5EF4-FFF2-40B4-BE49-F238E27FC236}">
                <a16:creationId xmlns:a16="http://schemas.microsoft.com/office/drawing/2014/main" id="{3791F022-1469-4687-8746-343AF150D208}"/>
              </a:ext>
            </a:extLst>
          </p:cNvPr>
          <p:cNvPicPr/>
          <p:nvPr/>
        </p:nvPicPr>
        <p:blipFill>
          <a:blip r:embed="rId2"/>
          <a:stretch>
            <a:fillRect/>
          </a:stretch>
        </p:blipFill>
        <p:spPr>
          <a:xfrm>
            <a:off x="6457722" y="46943"/>
            <a:ext cx="5331507" cy="6791132"/>
          </a:xfrm>
          <a:prstGeom prst="rect">
            <a:avLst/>
          </a:prstGeom>
        </p:spPr>
      </p:pic>
      <p:pic>
        <p:nvPicPr>
          <p:cNvPr id="2" name="Picture 1">
            <a:extLst>
              <a:ext uri="{FF2B5EF4-FFF2-40B4-BE49-F238E27FC236}">
                <a16:creationId xmlns:a16="http://schemas.microsoft.com/office/drawing/2014/main" id="{46F15017-E279-4422-BBF5-37FF010633BD}"/>
              </a:ext>
            </a:extLst>
          </p:cNvPr>
          <p:cNvPicPr>
            <a:picLocks noChangeAspect="1"/>
          </p:cNvPicPr>
          <p:nvPr/>
        </p:nvPicPr>
        <p:blipFill>
          <a:blip r:embed="rId3"/>
          <a:stretch>
            <a:fillRect/>
          </a:stretch>
        </p:blipFill>
        <p:spPr>
          <a:xfrm>
            <a:off x="1259382" y="4493845"/>
            <a:ext cx="4171596" cy="1813413"/>
          </a:xfrm>
          <a:prstGeom prst="rect">
            <a:avLst/>
          </a:prstGeom>
        </p:spPr>
      </p:pic>
    </p:spTree>
    <p:extLst>
      <p:ext uri="{BB962C8B-B14F-4D97-AF65-F5344CB8AC3E}">
        <p14:creationId xmlns:p14="http://schemas.microsoft.com/office/powerpoint/2010/main" val="2347355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Introduction </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FLEx maintains a wordform inventory based on unique words in baselines of interlinear texts in the Texts &amp; Words area.</a:t>
            </a:r>
          </a:p>
          <a:p>
            <a:r>
              <a:rPr lang="en-US" dirty="0"/>
              <a:t>The wordform inventory can be viewed in the Word Analyses tool in the Texts &amp; Words area.</a:t>
            </a:r>
          </a:p>
          <a:p>
            <a:r>
              <a:rPr lang="en-US" dirty="0"/>
              <a:t>Initially capitalized and uncapitalized words are both included because it is unknown whether they should be different or not.</a:t>
            </a:r>
          </a:p>
          <a:p>
            <a:r>
              <a:rPr lang="en-US" dirty="0"/>
              <a:t>The wordforms shown in Word Analyses are limited to ones in the  texts filter. To change the filter, go to View &gt; Choose Texts,</a:t>
            </a:r>
            <a:br>
              <a:rPr lang="en-US" dirty="0"/>
            </a:br>
            <a:r>
              <a:rPr lang="en-US" dirty="0"/>
              <a:t>or use the Choose Texts icon in the toolbar. This will show</a:t>
            </a:r>
            <a:br>
              <a:rPr lang="en-US" dirty="0"/>
            </a:br>
            <a:r>
              <a:rPr lang="en-US" dirty="0"/>
              <a:t>all of the texts in the project. Ones with checkmarks are </a:t>
            </a:r>
            <a:br>
              <a:rPr lang="en-US" dirty="0"/>
            </a:br>
            <a:r>
              <a:rPr lang="en-US" dirty="0"/>
              <a:t>in the current filter that affects what you see in</a:t>
            </a:r>
            <a:br>
              <a:rPr lang="en-US" dirty="0"/>
            </a:br>
            <a:r>
              <a:rPr lang="en-US" dirty="0"/>
              <a:t>Word Analyses and Interlinear Texts.</a:t>
            </a:r>
          </a:p>
          <a:p>
            <a:endParaRPr lang="en-US" dirty="0"/>
          </a:p>
        </p:txBody>
      </p:sp>
      <p:pic>
        <p:nvPicPr>
          <p:cNvPr id="2" name="Picture 1">
            <a:extLst>
              <a:ext uri="{FF2B5EF4-FFF2-40B4-BE49-F238E27FC236}">
                <a16:creationId xmlns:a16="http://schemas.microsoft.com/office/drawing/2014/main" id="{5F7F2054-C870-4803-A666-668CB02E1E2D}"/>
              </a:ext>
            </a:extLst>
          </p:cNvPr>
          <p:cNvPicPr>
            <a:picLocks noChangeAspect="1"/>
          </p:cNvPicPr>
          <p:nvPr/>
        </p:nvPicPr>
        <p:blipFill>
          <a:blip r:embed="rId2"/>
          <a:stretch>
            <a:fillRect/>
          </a:stretch>
        </p:blipFill>
        <p:spPr>
          <a:xfrm>
            <a:off x="9648662" y="4111261"/>
            <a:ext cx="2343477" cy="2610214"/>
          </a:xfrm>
          <a:prstGeom prst="rect">
            <a:avLst/>
          </a:prstGeom>
        </p:spPr>
      </p:pic>
    </p:spTree>
    <p:extLst>
      <p:ext uri="{BB962C8B-B14F-4D97-AF65-F5344CB8AC3E}">
        <p14:creationId xmlns:p14="http://schemas.microsoft.com/office/powerpoint/2010/main" val="547022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Structured text</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85000" lnSpcReduction="20000"/>
          </a:bodyPr>
          <a:lstStyle/>
          <a:p>
            <a:r>
              <a:rPr lang="en-US" dirty="0"/>
              <a:t>Suppose we create a new Text 1 interlinear text without typing anything in the baseline. This is what we have in FLEx.</a:t>
            </a:r>
            <a:br>
              <a:rPr lang="en-US" dirty="0"/>
            </a:br>
            <a:endParaRPr lang="en-US" dirty="0"/>
          </a:p>
          <a:p>
            <a:endParaRPr lang="en-US" dirty="0"/>
          </a:p>
          <a:p>
            <a:endParaRPr lang="en-US" dirty="0"/>
          </a:p>
          <a:p>
            <a:endParaRPr lang="en-US" dirty="0"/>
          </a:p>
          <a:p>
            <a:r>
              <a:rPr lang="en-US" dirty="0"/>
              <a:t>An interlinear text is implemented by a Text object that has</a:t>
            </a:r>
          </a:p>
          <a:p>
            <a:pPr lvl="1"/>
            <a:r>
              <a:rPr lang="en-US" dirty="0"/>
              <a:t>Name - MultiUnicode inherited from </a:t>
            </a:r>
            <a:r>
              <a:rPr lang="en-US" dirty="0" err="1"/>
              <a:t>CmMajorObject</a:t>
            </a:r>
            <a:r>
              <a:rPr lang="en-US" dirty="0"/>
              <a:t> shown as the Title in the UI.</a:t>
            </a:r>
          </a:p>
          <a:p>
            <a:pPr lvl="1"/>
            <a:r>
              <a:rPr lang="en-US" dirty="0"/>
              <a:t>Abbreviation – MultiUnicode inherited from </a:t>
            </a:r>
            <a:r>
              <a:rPr lang="en-US" dirty="0" err="1"/>
              <a:t>CmMajorObject</a:t>
            </a:r>
            <a:endParaRPr lang="en-US" dirty="0"/>
          </a:p>
          <a:p>
            <a:pPr lvl="1"/>
            <a:r>
              <a:rPr lang="en-US" dirty="0"/>
              <a:t>Contents – atomic owning property holding a </a:t>
            </a:r>
            <a:r>
              <a:rPr lang="en-US" dirty="0" err="1"/>
              <a:t>StText</a:t>
            </a:r>
            <a:endParaRPr lang="en-US" dirty="0"/>
          </a:p>
          <a:p>
            <a:pPr lvl="1"/>
            <a:r>
              <a:rPr lang="en-US" dirty="0" err="1"/>
              <a:t>IsTranslated</a:t>
            </a:r>
            <a:r>
              <a:rPr lang="en-US" dirty="0"/>
              <a:t> - Boolean to indicate if it’s translated text, such as scripture, or original text.</a:t>
            </a:r>
          </a:p>
          <a:p>
            <a:pPr lvl="1"/>
            <a:r>
              <a:rPr lang="en-US" dirty="0" err="1"/>
              <a:t>DateCreated</a:t>
            </a:r>
            <a:r>
              <a:rPr lang="en-US" dirty="0"/>
              <a:t> and </a:t>
            </a:r>
            <a:r>
              <a:rPr lang="en-US" dirty="0" err="1"/>
              <a:t>DateModified</a:t>
            </a:r>
            <a:r>
              <a:rPr lang="en-US" dirty="0"/>
              <a:t> inherited from </a:t>
            </a:r>
            <a:r>
              <a:rPr lang="en-US" dirty="0" err="1"/>
              <a:t>CmMajorObject</a:t>
            </a:r>
            <a:endParaRPr lang="en-US" dirty="0"/>
          </a:p>
          <a:p>
            <a:pPr lvl="1"/>
            <a:r>
              <a:rPr lang="en-US" dirty="0"/>
              <a:t>Source – MultiString</a:t>
            </a:r>
          </a:p>
          <a:p>
            <a:pPr lvl="1"/>
            <a:r>
              <a:rPr lang="en-US" dirty="0"/>
              <a:t>Genres – reference collection to </a:t>
            </a:r>
            <a:r>
              <a:rPr lang="en-US" dirty="0" err="1"/>
              <a:t>CmPossibility</a:t>
            </a:r>
            <a:r>
              <a:rPr lang="en-US" dirty="0"/>
              <a:t> in the Genres list. This allows texts to be hierarchically arranged in the Choose Texts dialog making it easier to filter on certain types of text.</a:t>
            </a:r>
          </a:p>
          <a:p>
            <a:r>
              <a:rPr lang="en-US" dirty="0"/>
              <a:t>Text objects do not have owners. Most of these Text properties can only be seen or modified in the Info tab in the Interlinear Texts tool.</a:t>
            </a:r>
          </a:p>
          <a:p>
            <a:pPr lvl="1"/>
            <a:endParaRPr lang="en-US" dirty="0"/>
          </a:p>
          <a:p>
            <a:endParaRPr lang="en-US" dirty="0"/>
          </a:p>
        </p:txBody>
      </p:sp>
      <p:pic>
        <p:nvPicPr>
          <p:cNvPr id="6" name="Picture 5">
            <a:extLst>
              <a:ext uri="{FF2B5EF4-FFF2-40B4-BE49-F238E27FC236}">
                <a16:creationId xmlns:a16="http://schemas.microsoft.com/office/drawing/2014/main" id="{5835AE6B-2EB9-4A2D-88F5-2A9F6EF5414C}"/>
              </a:ext>
            </a:extLst>
          </p:cNvPr>
          <p:cNvPicPr/>
          <p:nvPr/>
        </p:nvPicPr>
        <p:blipFill>
          <a:blip r:embed="rId2"/>
          <a:stretch>
            <a:fillRect/>
          </a:stretch>
        </p:blipFill>
        <p:spPr>
          <a:xfrm>
            <a:off x="1491565" y="1496672"/>
            <a:ext cx="6175327" cy="1480358"/>
          </a:xfrm>
          <a:prstGeom prst="rect">
            <a:avLst/>
          </a:prstGeom>
        </p:spPr>
      </p:pic>
    </p:spTree>
    <p:extLst>
      <p:ext uri="{BB962C8B-B14F-4D97-AF65-F5344CB8AC3E}">
        <p14:creationId xmlns:p14="http://schemas.microsoft.com/office/powerpoint/2010/main" val="2700841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Structured text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err="1"/>
              <a:t>StText</a:t>
            </a:r>
            <a:r>
              <a:rPr lang="en-US" dirty="0"/>
              <a:t> (Structured Text) is a class in FLEx that can hold any number of paragraphs (</a:t>
            </a:r>
            <a:r>
              <a:rPr lang="en-US" dirty="0" err="1"/>
              <a:t>StTxtPara</a:t>
            </a:r>
            <a:r>
              <a:rPr lang="en-US" dirty="0"/>
              <a:t>) that can have styles associated with paragraphs and text in paragraphs. An </a:t>
            </a:r>
            <a:r>
              <a:rPr lang="en-US" dirty="0" err="1"/>
              <a:t>StText</a:t>
            </a:r>
            <a:r>
              <a:rPr lang="en-US" dirty="0"/>
              <a:t> can be used kind of like a Google document. Whenever you press the Enter key, it starts a new </a:t>
            </a:r>
            <a:r>
              <a:rPr lang="en-US" dirty="0" err="1"/>
              <a:t>StTxtPara</a:t>
            </a:r>
            <a:r>
              <a:rPr lang="en-US" dirty="0"/>
              <a:t> at that point. </a:t>
            </a:r>
            <a:r>
              <a:rPr lang="en-US" dirty="0" err="1"/>
              <a:t>StText</a:t>
            </a:r>
            <a:r>
              <a:rPr lang="en-US" dirty="0"/>
              <a:t> has</a:t>
            </a:r>
          </a:p>
          <a:p>
            <a:pPr lvl="1"/>
            <a:r>
              <a:rPr lang="en-US" dirty="0"/>
              <a:t>Paragraphs – an owning sequence of </a:t>
            </a:r>
            <a:r>
              <a:rPr lang="en-US" dirty="0" err="1"/>
              <a:t>StPara</a:t>
            </a:r>
            <a:r>
              <a:rPr lang="en-US" dirty="0"/>
              <a:t> which is abstract, and is implemented as </a:t>
            </a:r>
            <a:r>
              <a:rPr lang="en-US" dirty="0" err="1"/>
              <a:t>StTxtPara</a:t>
            </a:r>
            <a:r>
              <a:rPr lang="en-US" dirty="0"/>
              <a:t> or </a:t>
            </a:r>
            <a:r>
              <a:rPr lang="en-US" dirty="0" err="1"/>
              <a:t>ScrTextPara</a:t>
            </a:r>
            <a:r>
              <a:rPr lang="en-US" dirty="0"/>
              <a:t> (for Scripture).</a:t>
            </a:r>
          </a:p>
          <a:p>
            <a:pPr lvl="1"/>
            <a:r>
              <a:rPr lang="en-US" dirty="0" err="1"/>
              <a:t>DateModified</a:t>
            </a:r>
            <a:r>
              <a:rPr lang="en-US" dirty="0"/>
              <a:t> – Time when modified</a:t>
            </a:r>
          </a:p>
          <a:p>
            <a:pPr lvl="1"/>
            <a:r>
              <a:rPr lang="en-US" dirty="0" err="1"/>
              <a:t>RightToLeft</a:t>
            </a:r>
            <a:r>
              <a:rPr lang="en-US" dirty="0"/>
              <a:t> – Boolean. True if the text is right-to-left, or False if left-to-right.</a:t>
            </a:r>
          </a:p>
          <a:p>
            <a:pPr lvl="1"/>
            <a:r>
              <a:rPr lang="en-US" dirty="0"/>
              <a:t>Tags – owning collection of </a:t>
            </a:r>
            <a:r>
              <a:rPr lang="en-US" dirty="0" err="1"/>
              <a:t>TextTag</a:t>
            </a:r>
            <a:r>
              <a:rPr lang="en-US" dirty="0"/>
              <a:t> (used in text tagging).</a:t>
            </a:r>
          </a:p>
          <a:p>
            <a:endParaRPr lang="en-US" dirty="0"/>
          </a:p>
        </p:txBody>
      </p:sp>
      <p:pic>
        <p:nvPicPr>
          <p:cNvPr id="7" name="Picture 6">
            <a:extLst>
              <a:ext uri="{FF2B5EF4-FFF2-40B4-BE49-F238E27FC236}">
                <a16:creationId xmlns:a16="http://schemas.microsoft.com/office/drawing/2014/main" id="{62C56F8B-70A2-469C-8E2B-FB23611986A5}"/>
              </a:ext>
            </a:extLst>
          </p:cNvPr>
          <p:cNvPicPr/>
          <p:nvPr/>
        </p:nvPicPr>
        <p:blipFill>
          <a:blip r:embed="rId2"/>
          <a:stretch>
            <a:fillRect/>
          </a:stretch>
        </p:blipFill>
        <p:spPr>
          <a:xfrm>
            <a:off x="2152747" y="4985459"/>
            <a:ext cx="6175327" cy="1480358"/>
          </a:xfrm>
          <a:prstGeom prst="rect">
            <a:avLst/>
          </a:prstGeom>
        </p:spPr>
      </p:pic>
    </p:spTree>
    <p:extLst>
      <p:ext uri="{BB962C8B-B14F-4D97-AF65-F5344CB8AC3E}">
        <p14:creationId xmlns:p14="http://schemas.microsoft.com/office/powerpoint/2010/main" val="1919935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Structured text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err="1"/>
              <a:t>StTxtPara</a:t>
            </a:r>
            <a:r>
              <a:rPr lang="en-US" dirty="0"/>
              <a:t> stores the text for the baseline of the paragraph, plus additional information for interlinearization. </a:t>
            </a:r>
            <a:r>
              <a:rPr lang="en-US" dirty="0" err="1"/>
              <a:t>StTxtPara</a:t>
            </a:r>
            <a:r>
              <a:rPr lang="en-US" dirty="0"/>
              <a:t> has</a:t>
            </a:r>
          </a:p>
          <a:p>
            <a:pPr lvl="1"/>
            <a:r>
              <a:rPr lang="en-US" dirty="0"/>
              <a:t>Contents – String holding the baseline text.</a:t>
            </a:r>
          </a:p>
          <a:p>
            <a:pPr lvl="1"/>
            <a:r>
              <a:rPr lang="en-US" dirty="0"/>
              <a:t>Segments – an owning sequence of Segment for interlinearization.</a:t>
            </a:r>
          </a:p>
          <a:p>
            <a:pPr lvl="1"/>
            <a:r>
              <a:rPr lang="en-US" dirty="0" err="1"/>
              <a:t>ParseIsCurrent</a:t>
            </a:r>
            <a:r>
              <a:rPr lang="en-US" dirty="0"/>
              <a:t> – Boolean. True if the Segments have not changed since they were last parsed, or False if they need to be reparsed.</a:t>
            </a:r>
          </a:p>
          <a:p>
            <a:pPr lvl="1"/>
            <a:r>
              <a:rPr lang="en-US" dirty="0" err="1"/>
              <a:t>StyleRules</a:t>
            </a:r>
            <a:r>
              <a:rPr lang="en-US" dirty="0"/>
              <a:t> – Used where paragraph and text styles are allowed.</a:t>
            </a:r>
          </a:p>
          <a:p>
            <a:r>
              <a:rPr lang="en-US" dirty="0"/>
              <a:t>In the empty Text diagrammed here, the only real information is the title of the text in the Name property of Text. The </a:t>
            </a:r>
            <a:r>
              <a:rPr lang="en-US" dirty="0" err="1"/>
              <a:t>StTxtPara</a:t>
            </a:r>
            <a:r>
              <a:rPr lang="en-US" dirty="0"/>
              <a:t> does not have any text in the baseline at this point.</a:t>
            </a:r>
          </a:p>
          <a:p>
            <a:endParaRPr lang="en-US" dirty="0"/>
          </a:p>
        </p:txBody>
      </p:sp>
      <p:pic>
        <p:nvPicPr>
          <p:cNvPr id="6" name="Picture 5">
            <a:extLst>
              <a:ext uri="{FF2B5EF4-FFF2-40B4-BE49-F238E27FC236}">
                <a16:creationId xmlns:a16="http://schemas.microsoft.com/office/drawing/2014/main" id="{5AFDA59A-4EFC-4B21-9496-8D8D7F21EDA5}"/>
              </a:ext>
            </a:extLst>
          </p:cNvPr>
          <p:cNvPicPr/>
          <p:nvPr/>
        </p:nvPicPr>
        <p:blipFill>
          <a:blip r:embed="rId2"/>
          <a:stretch>
            <a:fillRect/>
          </a:stretch>
        </p:blipFill>
        <p:spPr>
          <a:xfrm>
            <a:off x="2279355" y="4969679"/>
            <a:ext cx="6175327" cy="1480358"/>
          </a:xfrm>
          <a:prstGeom prst="rect">
            <a:avLst/>
          </a:prstGeom>
        </p:spPr>
      </p:pic>
    </p:spTree>
    <p:extLst>
      <p:ext uri="{BB962C8B-B14F-4D97-AF65-F5344CB8AC3E}">
        <p14:creationId xmlns:p14="http://schemas.microsoft.com/office/powerpoint/2010/main" val="809723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Segment</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If we now type a text in the baseline and go to the Analyze tab, it will look like this, assuming none of the words are in the lexicon and you haven’t done any previous analyses. Word Analyses will show this.</a:t>
            </a:r>
          </a:p>
          <a:p>
            <a:endParaRPr lang="en-US" dirty="0"/>
          </a:p>
        </p:txBody>
      </p:sp>
      <p:pic>
        <p:nvPicPr>
          <p:cNvPr id="7" name="Picture 6">
            <a:extLst>
              <a:ext uri="{FF2B5EF4-FFF2-40B4-BE49-F238E27FC236}">
                <a16:creationId xmlns:a16="http://schemas.microsoft.com/office/drawing/2014/main" id="{56E1570E-00B4-4807-BF86-84E8F1AE6451}"/>
              </a:ext>
            </a:extLst>
          </p:cNvPr>
          <p:cNvPicPr/>
          <p:nvPr/>
        </p:nvPicPr>
        <p:blipFill>
          <a:blip r:embed="rId2"/>
          <a:stretch>
            <a:fillRect/>
          </a:stretch>
        </p:blipFill>
        <p:spPr>
          <a:xfrm>
            <a:off x="261257" y="2713968"/>
            <a:ext cx="4669973" cy="3293575"/>
          </a:xfrm>
          <a:prstGeom prst="rect">
            <a:avLst/>
          </a:prstGeom>
        </p:spPr>
      </p:pic>
      <p:pic>
        <p:nvPicPr>
          <p:cNvPr id="8" name="Picture 7">
            <a:extLst>
              <a:ext uri="{FF2B5EF4-FFF2-40B4-BE49-F238E27FC236}">
                <a16:creationId xmlns:a16="http://schemas.microsoft.com/office/drawing/2014/main" id="{34D17C9A-C066-41BC-94D9-B7194264BC3A}"/>
              </a:ext>
            </a:extLst>
          </p:cNvPr>
          <p:cNvPicPr/>
          <p:nvPr/>
        </p:nvPicPr>
        <p:blipFill>
          <a:blip r:embed="rId3"/>
          <a:stretch>
            <a:fillRect/>
          </a:stretch>
        </p:blipFill>
        <p:spPr>
          <a:xfrm>
            <a:off x="5092505" y="2820147"/>
            <a:ext cx="6969970" cy="1765919"/>
          </a:xfrm>
          <a:prstGeom prst="rect">
            <a:avLst/>
          </a:prstGeom>
        </p:spPr>
      </p:pic>
    </p:spTree>
    <p:extLst>
      <p:ext uri="{BB962C8B-B14F-4D97-AF65-F5344CB8AC3E}">
        <p14:creationId xmlns:p14="http://schemas.microsoft.com/office/powerpoint/2010/main" val="2557513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Segment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At this point, the implementation in FLEx starting at </a:t>
            </a:r>
            <a:r>
              <a:rPr lang="en-US" dirty="0" err="1"/>
              <a:t>StTxtPara</a:t>
            </a:r>
            <a:r>
              <a:rPr lang="en-US" dirty="0"/>
              <a:t> is this.</a:t>
            </a:r>
          </a:p>
          <a:p>
            <a:endParaRPr lang="en-US" dirty="0"/>
          </a:p>
        </p:txBody>
      </p:sp>
      <p:pic>
        <p:nvPicPr>
          <p:cNvPr id="6" name="Picture 5">
            <a:extLst>
              <a:ext uri="{FF2B5EF4-FFF2-40B4-BE49-F238E27FC236}">
                <a16:creationId xmlns:a16="http://schemas.microsoft.com/office/drawing/2014/main" id="{07EB7C3F-A167-496C-9185-6AA4C33AF2B9}"/>
              </a:ext>
            </a:extLst>
          </p:cNvPr>
          <p:cNvPicPr/>
          <p:nvPr/>
        </p:nvPicPr>
        <p:blipFill>
          <a:blip r:embed="rId2"/>
          <a:stretch>
            <a:fillRect/>
          </a:stretch>
        </p:blipFill>
        <p:spPr>
          <a:xfrm>
            <a:off x="1817931" y="1557484"/>
            <a:ext cx="6749915" cy="4360716"/>
          </a:xfrm>
          <a:prstGeom prst="rect">
            <a:avLst/>
          </a:prstGeom>
        </p:spPr>
      </p:pic>
    </p:spTree>
    <p:extLst>
      <p:ext uri="{BB962C8B-B14F-4D97-AF65-F5344CB8AC3E}">
        <p14:creationId xmlns:p14="http://schemas.microsoft.com/office/powerpoint/2010/main" val="2335813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Segment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92500"/>
          </a:bodyPr>
          <a:lstStyle/>
          <a:p>
            <a:r>
              <a:rPr lang="en-US" dirty="0"/>
              <a:t>Segment is a class that holds all the information that is relevant to the analysis of a sequence of words ending in period, question mark, exclamation point, or section sign (U+00A7). Segment has</a:t>
            </a:r>
          </a:p>
          <a:p>
            <a:pPr lvl="1"/>
            <a:r>
              <a:rPr lang="en-US" dirty="0"/>
              <a:t>Analyses – reference sequence to </a:t>
            </a:r>
            <a:r>
              <a:rPr lang="en-US" dirty="0" err="1"/>
              <a:t>IAnalysis</a:t>
            </a:r>
            <a:r>
              <a:rPr lang="en-US" dirty="0"/>
              <a:t>, which is an interface that includes </a:t>
            </a:r>
            <a:r>
              <a:rPr lang="en-US" dirty="0" err="1"/>
              <a:t>WfiWordform</a:t>
            </a:r>
            <a:r>
              <a:rPr lang="en-US" dirty="0"/>
              <a:t>, </a:t>
            </a:r>
            <a:r>
              <a:rPr lang="en-US" dirty="0" err="1"/>
              <a:t>WfiAnalysis</a:t>
            </a:r>
            <a:r>
              <a:rPr lang="en-US" dirty="0"/>
              <a:t>, </a:t>
            </a:r>
            <a:r>
              <a:rPr lang="en-US" dirty="0" err="1"/>
              <a:t>WfiGloss</a:t>
            </a:r>
            <a:r>
              <a:rPr lang="en-US" dirty="0"/>
              <a:t>, and </a:t>
            </a:r>
            <a:r>
              <a:rPr lang="en-US" dirty="0" err="1"/>
              <a:t>PunctuationForm</a:t>
            </a:r>
            <a:r>
              <a:rPr lang="en-US" dirty="0"/>
              <a:t>.</a:t>
            </a:r>
          </a:p>
          <a:p>
            <a:pPr lvl="1"/>
            <a:r>
              <a:rPr lang="en-US" dirty="0" err="1"/>
              <a:t>BeginOffset</a:t>
            </a:r>
            <a:r>
              <a:rPr lang="en-US" dirty="0"/>
              <a:t> – An integer giving the offset from the beginning of the Contents string in </a:t>
            </a:r>
            <a:r>
              <a:rPr lang="en-US" dirty="0" err="1"/>
              <a:t>StTxtPara</a:t>
            </a:r>
            <a:r>
              <a:rPr lang="en-US" dirty="0"/>
              <a:t> to the beginning of this segment. This allows FLEx to find the section of baseline text in the </a:t>
            </a:r>
            <a:r>
              <a:rPr lang="en-US" dirty="0" err="1"/>
              <a:t>StTxtPara</a:t>
            </a:r>
            <a:r>
              <a:rPr lang="en-US" dirty="0"/>
              <a:t> Contents string that is covered by this Segment.</a:t>
            </a:r>
          </a:p>
          <a:p>
            <a:pPr lvl="1"/>
            <a:r>
              <a:rPr lang="en-US" dirty="0" err="1"/>
              <a:t>FreeTranslation</a:t>
            </a:r>
            <a:r>
              <a:rPr lang="en-US" dirty="0"/>
              <a:t> – MultiString giving the free translation of the text in this segment.</a:t>
            </a:r>
          </a:p>
          <a:p>
            <a:pPr lvl="1"/>
            <a:r>
              <a:rPr lang="en-US" dirty="0" err="1"/>
              <a:t>LiteralTranslation</a:t>
            </a:r>
            <a:r>
              <a:rPr lang="en-US" dirty="0"/>
              <a:t> – MultiString giving the literal translation of the text in this segment.</a:t>
            </a:r>
          </a:p>
          <a:p>
            <a:pPr lvl="1"/>
            <a:r>
              <a:rPr lang="en-US" dirty="0"/>
              <a:t>Notes – owning sequence of Note, allowing notes to be added to this segment.</a:t>
            </a:r>
          </a:p>
          <a:p>
            <a:pPr lvl="1"/>
            <a:r>
              <a:rPr lang="en-US" dirty="0"/>
              <a:t>Other properties used to store information from ELAN, but not currently covered by FLEx UI include </a:t>
            </a:r>
            <a:r>
              <a:rPr lang="en-US" dirty="0" err="1"/>
              <a:t>BeginTimeOffset</a:t>
            </a:r>
            <a:r>
              <a:rPr lang="en-US" dirty="0"/>
              <a:t>, </a:t>
            </a:r>
            <a:r>
              <a:rPr lang="en-US" dirty="0" err="1"/>
              <a:t>EndTimeOffset</a:t>
            </a:r>
            <a:r>
              <a:rPr lang="en-US" dirty="0"/>
              <a:t>, </a:t>
            </a:r>
            <a:r>
              <a:rPr lang="en-US" dirty="0" err="1"/>
              <a:t>MediaURI</a:t>
            </a:r>
            <a:r>
              <a:rPr lang="en-US" dirty="0"/>
              <a:t>, Reference, and Speaker.</a:t>
            </a:r>
          </a:p>
          <a:p>
            <a:pPr lvl="1"/>
            <a:r>
              <a:rPr lang="en-US" dirty="0"/>
              <a:t>Custom fields are also possible on Segment.</a:t>
            </a:r>
          </a:p>
          <a:p>
            <a:endParaRPr lang="en-US" dirty="0"/>
          </a:p>
        </p:txBody>
      </p:sp>
    </p:spTree>
    <p:extLst>
      <p:ext uri="{BB962C8B-B14F-4D97-AF65-F5344CB8AC3E}">
        <p14:creationId xmlns:p14="http://schemas.microsoft.com/office/powerpoint/2010/main" val="224686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Segment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92500" lnSpcReduction="20000"/>
          </a:bodyPr>
          <a:lstStyle/>
          <a:p>
            <a:r>
              <a:rPr lang="en-US" dirty="0"/>
              <a:t>The baseline is stored in the Contents String of </a:t>
            </a:r>
            <a:r>
              <a:rPr lang="en-US" dirty="0" err="1"/>
              <a:t>StTxtPara</a:t>
            </a:r>
            <a:r>
              <a:rPr lang="en-US" dirty="0"/>
              <a:t>.</a:t>
            </a:r>
          </a:p>
          <a:p>
            <a:r>
              <a:rPr lang="en-US" dirty="0"/>
              <a:t>FLEx breaks the baseline from the paragraph into segments ending in period, question mark, exclamation point, or section sign (U+00A7). Since there is only one period in this example, we only need one Segment in the Segments owning sequence property. In this case, the segment starts at the beginning of the string, so </a:t>
            </a:r>
            <a:r>
              <a:rPr lang="en-US" dirty="0" err="1"/>
              <a:t>BeginOffset</a:t>
            </a:r>
            <a:r>
              <a:rPr lang="en-US" dirty="0"/>
              <a:t> is set to 0.</a:t>
            </a:r>
          </a:p>
          <a:p>
            <a:r>
              <a:rPr lang="en-US" dirty="0"/>
              <a:t>As editing takes place, FLEx attempts to keep the Analyses accurately matching the baseline.</a:t>
            </a:r>
          </a:p>
          <a:p>
            <a:r>
              <a:rPr lang="en-US" dirty="0"/>
              <a:t>During Send/Receive, it’s not always possible to keep everything current. When this happens, FLEx sets </a:t>
            </a:r>
            <a:r>
              <a:rPr lang="en-US" dirty="0" err="1"/>
              <a:t>ParseIsCurrent</a:t>
            </a:r>
            <a:r>
              <a:rPr lang="en-US" dirty="0"/>
              <a:t> on </a:t>
            </a:r>
            <a:r>
              <a:rPr lang="en-US" dirty="0" err="1"/>
              <a:t>StTxtPara</a:t>
            </a:r>
            <a:r>
              <a:rPr lang="en-US" dirty="0"/>
              <a:t> to False. The next time that Text is opened, FLEx will reparse the baseline text and resets the Analyses to reflect the current state of the data.</a:t>
            </a:r>
          </a:p>
          <a:p>
            <a:r>
              <a:rPr lang="en-US" dirty="0"/>
              <a:t>A user can also force this operation at any time by using Tools &gt; Utilities &gt; Force Rechecking Word Breaks. This sets all of the </a:t>
            </a:r>
            <a:r>
              <a:rPr lang="en-US" dirty="0" err="1"/>
              <a:t>StTextPara</a:t>
            </a:r>
            <a:r>
              <a:rPr lang="en-US" dirty="0"/>
              <a:t> </a:t>
            </a:r>
            <a:r>
              <a:rPr lang="en-US" dirty="0" err="1"/>
              <a:t>ParseIsCurrent</a:t>
            </a:r>
            <a:r>
              <a:rPr lang="en-US" dirty="0"/>
              <a:t> flags to false. When you go to the Word Analyses tool, or the Concordance tool, FLEx will automatically reparse all Texts and reset the flags to True.</a:t>
            </a:r>
          </a:p>
          <a:p>
            <a:endParaRPr lang="en-US" dirty="0"/>
          </a:p>
        </p:txBody>
      </p:sp>
    </p:spTree>
    <p:extLst>
      <p:ext uri="{BB962C8B-B14F-4D97-AF65-F5344CB8AC3E}">
        <p14:creationId xmlns:p14="http://schemas.microsoft.com/office/powerpoint/2010/main" val="3827024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Segment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This is a free translation and a Note at the bottom of a Segment.</a:t>
            </a:r>
          </a:p>
          <a:p>
            <a:endParaRPr lang="en-US" dirty="0"/>
          </a:p>
          <a:p>
            <a:endParaRPr lang="en-US" dirty="0"/>
          </a:p>
          <a:p>
            <a:r>
              <a:rPr lang="en-US" dirty="0"/>
              <a:t>This is how it is implemented in FLEx (omitting other Segment fields)</a:t>
            </a:r>
          </a:p>
          <a:p>
            <a:endParaRPr lang="en-US" dirty="0"/>
          </a:p>
          <a:p>
            <a:endParaRPr lang="en-US" dirty="0"/>
          </a:p>
        </p:txBody>
      </p:sp>
      <p:pic>
        <p:nvPicPr>
          <p:cNvPr id="6" name="Picture 5">
            <a:extLst>
              <a:ext uri="{FF2B5EF4-FFF2-40B4-BE49-F238E27FC236}">
                <a16:creationId xmlns:a16="http://schemas.microsoft.com/office/drawing/2014/main" id="{9E51823A-4E4C-4339-B413-CEB6B3D4340F}"/>
              </a:ext>
            </a:extLst>
          </p:cNvPr>
          <p:cNvPicPr/>
          <p:nvPr/>
        </p:nvPicPr>
        <p:blipFill>
          <a:blip r:embed="rId2"/>
          <a:stretch>
            <a:fillRect/>
          </a:stretch>
        </p:blipFill>
        <p:spPr>
          <a:xfrm>
            <a:off x="2213976" y="1294044"/>
            <a:ext cx="3353983" cy="898061"/>
          </a:xfrm>
          <a:prstGeom prst="rect">
            <a:avLst/>
          </a:prstGeom>
        </p:spPr>
      </p:pic>
      <p:pic>
        <p:nvPicPr>
          <p:cNvPr id="7" name="Picture 6">
            <a:extLst>
              <a:ext uri="{FF2B5EF4-FFF2-40B4-BE49-F238E27FC236}">
                <a16:creationId xmlns:a16="http://schemas.microsoft.com/office/drawing/2014/main" id="{E2EF15E7-A9B8-43CD-9F35-1DC6C8232643}"/>
              </a:ext>
            </a:extLst>
          </p:cNvPr>
          <p:cNvPicPr/>
          <p:nvPr/>
        </p:nvPicPr>
        <p:blipFill>
          <a:blip r:embed="rId3"/>
          <a:stretch>
            <a:fillRect/>
          </a:stretch>
        </p:blipFill>
        <p:spPr>
          <a:xfrm>
            <a:off x="1146517" y="3233851"/>
            <a:ext cx="7528154" cy="1093030"/>
          </a:xfrm>
          <a:prstGeom prst="rect">
            <a:avLst/>
          </a:prstGeom>
        </p:spPr>
      </p:pic>
    </p:spTree>
    <p:extLst>
      <p:ext uri="{BB962C8B-B14F-4D97-AF65-F5344CB8AC3E}">
        <p14:creationId xmlns:p14="http://schemas.microsoft.com/office/powerpoint/2010/main" val="1301215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Wordforms</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85000" lnSpcReduction="20000"/>
          </a:bodyPr>
          <a:lstStyle/>
          <a:p>
            <a:r>
              <a:rPr lang="en-US" dirty="0"/>
              <a:t>FLEx breaks the baseline text for this segment into wordforms based on space and punctuation, then finds an existing </a:t>
            </a:r>
            <a:r>
              <a:rPr lang="en-US" dirty="0" err="1"/>
              <a:t>WfiWordform</a:t>
            </a:r>
            <a:r>
              <a:rPr lang="en-US" dirty="0"/>
              <a:t> that matches the wordform, or creates a new </a:t>
            </a:r>
            <a:r>
              <a:rPr lang="en-US" dirty="0" err="1"/>
              <a:t>WfiWordform</a:t>
            </a:r>
            <a:r>
              <a:rPr lang="en-US" dirty="0"/>
              <a:t> with the text from the wordform which is stored in the MultiUnicode Form field of </a:t>
            </a:r>
            <a:r>
              <a:rPr lang="en-US" dirty="0" err="1"/>
              <a:t>WfiWordform</a:t>
            </a:r>
            <a:r>
              <a:rPr lang="en-US" dirty="0"/>
              <a:t>.</a:t>
            </a:r>
          </a:p>
          <a:p>
            <a:r>
              <a:rPr lang="en-US" dirty="0"/>
              <a:t> </a:t>
            </a:r>
            <a:r>
              <a:rPr lang="en-US" dirty="0" err="1"/>
              <a:t>WfiWordform</a:t>
            </a:r>
            <a:r>
              <a:rPr lang="en-US" dirty="0"/>
              <a:t> objects do not have owners.</a:t>
            </a:r>
          </a:p>
          <a:p>
            <a:r>
              <a:rPr lang="en-US" dirty="0"/>
              <a:t>The Analyses reference sequence property on Segment stores a reference to each </a:t>
            </a:r>
            <a:r>
              <a:rPr lang="en-US" dirty="0" err="1"/>
              <a:t>WfiWordform</a:t>
            </a:r>
            <a:r>
              <a:rPr lang="en-US" dirty="0"/>
              <a:t> or </a:t>
            </a:r>
            <a:r>
              <a:rPr lang="en-US" dirty="0" err="1"/>
              <a:t>PunctuationForm</a:t>
            </a:r>
            <a:r>
              <a:rPr lang="en-US" dirty="0"/>
              <a:t>.</a:t>
            </a:r>
          </a:p>
          <a:p>
            <a:r>
              <a:rPr lang="en-US" dirty="0"/>
              <a:t>When Analyses reference </a:t>
            </a:r>
            <a:r>
              <a:rPr lang="en-US" dirty="0" err="1"/>
              <a:t>WfiWordform</a:t>
            </a:r>
            <a:r>
              <a:rPr lang="en-US" dirty="0"/>
              <a:t>, it means there is no analysis for this word at this point. In the display, this is shown by 3 asterisks in each field.</a:t>
            </a:r>
          </a:p>
          <a:p>
            <a:r>
              <a:rPr lang="en-US" dirty="0"/>
              <a:t>Punctuation is stored in </a:t>
            </a:r>
            <a:r>
              <a:rPr lang="en-US" dirty="0" err="1"/>
              <a:t>PunctuationForm</a:t>
            </a:r>
            <a:r>
              <a:rPr lang="en-US" dirty="0"/>
              <a:t> objects and referenced from Analyses. The Form field for </a:t>
            </a:r>
            <a:r>
              <a:rPr lang="en-US" dirty="0" err="1"/>
              <a:t>PuncutationForm</a:t>
            </a:r>
            <a:r>
              <a:rPr lang="en-US" dirty="0"/>
              <a:t> is a String property.</a:t>
            </a:r>
          </a:p>
          <a:p>
            <a:r>
              <a:rPr lang="en-US" dirty="0"/>
              <a:t>When creating a new interlinear text, if you have more than one vernacular writing system, FLEx will ask which writing system you will be using for this text. This is not stored in any property. The writing system of the first character of the baseline is the only way to determine this. Any runs that are not in this writing system in the baseline are stored in </a:t>
            </a:r>
            <a:r>
              <a:rPr lang="en-US" dirty="0" err="1"/>
              <a:t>PunctuationForm</a:t>
            </a:r>
            <a:r>
              <a:rPr lang="en-US" dirty="0"/>
              <a:t> objects rather than </a:t>
            </a:r>
            <a:r>
              <a:rPr lang="en-US" dirty="0" err="1"/>
              <a:t>WfiWordform</a:t>
            </a:r>
            <a:r>
              <a:rPr lang="en-US" dirty="0"/>
              <a:t> objects.</a:t>
            </a:r>
          </a:p>
          <a:p>
            <a:r>
              <a:rPr lang="en-US" dirty="0"/>
              <a:t>Any text in </a:t>
            </a:r>
            <a:r>
              <a:rPr lang="en-US" dirty="0" err="1"/>
              <a:t>PunctuationForm</a:t>
            </a:r>
            <a:r>
              <a:rPr lang="en-US" dirty="0"/>
              <a:t> objects cannot be analyzed.</a:t>
            </a:r>
          </a:p>
          <a:p>
            <a:endParaRPr lang="en-US" dirty="0"/>
          </a:p>
          <a:p>
            <a:endParaRPr lang="en-US" dirty="0"/>
          </a:p>
        </p:txBody>
      </p:sp>
    </p:spTree>
    <p:extLst>
      <p:ext uri="{BB962C8B-B14F-4D97-AF65-F5344CB8AC3E}">
        <p14:creationId xmlns:p14="http://schemas.microsoft.com/office/powerpoint/2010/main" val="2188828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Wordforms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92500"/>
          </a:bodyPr>
          <a:lstStyle/>
          <a:p>
            <a:r>
              <a:rPr lang="en-US" dirty="0" err="1"/>
              <a:t>PunctuationForm</a:t>
            </a:r>
            <a:r>
              <a:rPr lang="en-US" dirty="0"/>
              <a:t> objects are never deleted. Because they will be created if a person uses any writing system other than the vernacular writing system for the baseline, they should avoid this as much as possible. If the project gets cluttered with many unneeded </a:t>
            </a:r>
            <a:r>
              <a:rPr lang="en-US" dirty="0" err="1"/>
              <a:t>PuncuationForm</a:t>
            </a:r>
            <a:r>
              <a:rPr lang="en-US" dirty="0"/>
              <a:t> objects, they can all be deleted. In Notepad++, you can delete all </a:t>
            </a:r>
            <a:r>
              <a:rPr lang="en-US" dirty="0" err="1"/>
              <a:t>PunctuationForm</a:t>
            </a:r>
            <a:r>
              <a:rPr lang="en-US" dirty="0"/>
              <a:t> objects from fwdata by using this regular expression search and replace.</a:t>
            </a:r>
          </a:p>
          <a:p>
            <a:r>
              <a:rPr lang="en-US" dirty="0"/>
              <a:t>Search</a:t>
            </a:r>
            <a:br>
              <a:rPr lang="en-US" dirty="0"/>
            </a:br>
            <a:r>
              <a:rPr lang="en-US" sz="1900" dirty="0"/>
              <a:t>&lt;rt class="</a:t>
            </a:r>
            <a:r>
              <a:rPr lang="en-US" sz="1900" dirty="0" err="1"/>
              <a:t>PunctuationForm</a:t>
            </a:r>
            <a:r>
              <a:rPr lang="en-US" sz="1900" dirty="0"/>
              <a:t>".*\r\n&lt;Form&gt;\r\n&lt;Str&gt;\r\n&lt;Run.*\r\n&lt;/Str&gt;\r\n&lt;/Form&gt;\r\n&lt;/rt&gt;\r\n</a:t>
            </a:r>
            <a:br>
              <a:rPr lang="en-US" sz="1900" dirty="0"/>
            </a:br>
            <a:r>
              <a:rPr lang="en-US" dirty="0"/>
              <a:t>Replace (leave empty)</a:t>
            </a:r>
          </a:p>
          <a:p>
            <a:pPr lvl="1"/>
            <a:r>
              <a:rPr lang="en-US" dirty="0"/>
              <a:t>After doing this, you need to run Tools &gt; Utilities &gt; Find and fix… from another project to process your repaired project to remove any references to the deleted punctuation forms.</a:t>
            </a:r>
          </a:p>
          <a:p>
            <a:pPr lvl="1"/>
            <a:r>
              <a:rPr lang="en-US" dirty="0"/>
              <a:t>Then open the project and use Tools &gt; Utilities &gt; Force Rechecking Word Breaks.</a:t>
            </a:r>
          </a:p>
          <a:p>
            <a:pPr lvl="1"/>
            <a:r>
              <a:rPr lang="en-US" dirty="0"/>
              <a:t>Then go to Concordance or Word Analyses which will reparse everything and add new </a:t>
            </a:r>
            <a:r>
              <a:rPr lang="en-US" dirty="0" err="1"/>
              <a:t>PunctuationForm</a:t>
            </a:r>
            <a:r>
              <a:rPr lang="en-US" dirty="0"/>
              <a:t> objects where needed.</a:t>
            </a:r>
          </a:p>
          <a:p>
            <a:endParaRPr lang="en-US" dirty="0"/>
          </a:p>
          <a:p>
            <a:endParaRPr lang="en-US" dirty="0"/>
          </a:p>
        </p:txBody>
      </p:sp>
    </p:spTree>
    <p:extLst>
      <p:ext uri="{BB962C8B-B14F-4D97-AF65-F5344CB8AC3E}">
        <p14:creationId xmlns:p14="http://schemas.microsoft.com/office/powerpoint/2010/main" val="1664277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Wordforms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Wordforms should be unique. If duplicates somehow occur, you can run Tools &gt; Utilities &gt; Merge Duplicate Wordforms to merge them together. This will copy the analyses from the duplicate ones into a single wordform. After running this, you should run Tools &gt; Utilities &gt; Merge Duplicate Analyses. This will merge any duplicate analyses in the wordforms.</a:t>
            </a:r>
          </a:p>
          <a:p>
            <a:r>
              <a:rPr lang="en-US" dirty="0"/>
              <a:t>FLEx can interlinearize texts in different vernacular writing systems. There are various issues involved in doing this. See section 13, </a:t>
            </a:r>
            <a:r>
              <a:rPr lang="en-US" dirty="0" err="1"/>
              <a:t>Interlinearizing</a:t>
            </a:r>
            <a:r>
              <a:rPr lang="en-US"/>
              <a:t> with multiple scripts in </a:t>
            </a:r>
            <a:r>
              <a:rPr lang="en-US" u="sng">
                <a:hlinkClick r:id="rId2"/>
              </a:rPr>
              <a:t>https://downloads.languagetechnology.org/fieldworks/Documentation/Flex_tips.pdf</a:t>
            </a:r>
            <a:r>
              <a:rPr lang="en-US"/>
              <a:t> before attempting to do this.</a:t>
            </a:r>
          </a:p>
          <a:p>
            <a:endParaRPr lang="en-US" dirty="0"/>
          </a:p>
          <a:p>
            <a:endParaRPr lang="en-US" dirty="0"/>
          </a:p>
        </p:txBody>
      </p:sp>
    </p:spTree>
    <p:extLst>
      <p:ext uri="{BB962C8B-B14F-4D97-AF65-F5344CB8AC3E}">
        <p14:creationId xmlns:p14="http://schemas.microsoft.com/office/powerpoint/2010/main" val="219992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Analyses</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Suppose the lexicon already has a definition for ‘lion’ and ‘garçon’? The interlinear display will now show this in the Analyze tab</a:t>
            </a:r>
          </a:p>
          <a:p>
            <a:endParaRPr lang="en-US" dirty="0"/>
          </a:p>
          <a:p>
            <a:endParaRPr lang="en-US" dirty="0"/>
          </a:p>
          <a:p>
            <a:endParaRPr lang="en-US" dirty="0"/>
          </a:p>
          <a:p>
            <a:endParaRPr lang="en-US" dirty="0"/>
          </a:p>
          <a:p>
            <a:r>
              <a:rPr lang="en-US" dirty="0"/>
              <a:t>Word Analyses will now show this</a:t>
            </a:r>
            <a:br>
              <a:rPr lang="en-US" dirty="0"/>
            </a:br>
            <a:r>
              <a:rPr lang="en-US" dirty="0"/>
              <a:t>for ‘garçon’</a:t>
            </a:r>
          </a:p>
          <a:p>
            <a:r>
              <a:rPr lang="en-US" dirty="0"/>
              <a:t>The user hasn’t done anything to the text, but FLEx found two words in the lexicon that matched a wordform, so it automatically created an analysis candidate that is shown in blue in the interlinear Analyze tab.</a:t>
            </a:r>
          </a:p>
          <a:p>
            <a:endParaRPr lang="en-US" dirty="0"/>
          </a:p>
          <a:p>
            <a:endParaRPr lang="en-US" dirty="0"/>
          </a:p>
          <a:p>
            <a:endParaRPr lang="en-US" dirty="0"/>
          </a:p>
        </p:txBody>
      </p:sp>
      <p:pic>
        <p:nvPicPr>
          <p:cNvPr id="6" name="Picture 5">
            <a:extLst>
              <a:ext uri="{FF2B5EF4-FFF2-40B4-BE49-F238E27FC236}">
                <a16:creationId xmlns:a16="http://schemas.microsoft.com/office/drawing/2014/main" id="{8D1917AA-A722-4F06-8DE6-7443C532EDF9}"/>
              </a:ext>
            </a:extLst>
          </p:cNvPr>
          <p:cNvPicPr/>
          <p:nvPr/>
        </p:nvPicPr>
        <p:blipFill>
          <a:blip r:embed="rId2"/>
          <a:stretch>
            <a:fillRect/>
          </a:stretch>
        </p:blipFill>
        <p:spPr>
          <a:xfrm>
            <a:off x="838200" y="1743075"/>
            <a:ext cx="5125061" cy="1868377"/>
          </a:xfrm>
          <a:prstGeom prst="rect">
            <a:avLst/>
          </a:prstGeom>
        </p:spPr>
      </p:pic>
      <p:pic>
        <p:nvPicPr>
          <p:cNvPr id="7" name="Picture 6">
            <a:extLst>
              <a:ext uri="{FF2B5EF4-FFF2-40B4-BE49-F238E27FC236}">
                <a16:creationId xmlns:a16="http://schemas.microsoft.com/office/drawing/2014/main" id="{CE4D3150-144E-4A87-A057-17F67B421C73}"/>
              </a:ext>
            </a:extLst>
          </p:cNvPr>
          <p:cNvPicPr/>
          <p:nvPr/>
        </p:nvPicPr>
        <p:blipFill>
          <a:blip r:embed="rId3"/>
          <a:stretch>
            <a:fillRect/>
          </a:stretch>
        </p:blipFill>
        <p:spPr>
          <a:xfrm>
            <a:off x="6602043" y="1743075"/>
            <a:ext cx="4019066" cy="3057733"/>
          </a:xfrm>
          <a:prstGeom prst="rect">
            <a:avLst/>
          </a:prstGeom>
        </p:spPr>
      </p:pic>
    </p:spTree>
    <p:extLst>
      <p:ext uri="{BB962C8B-B14F-4D97-AF65-F5344CB8AC3E}">
        <p14:creationId xmlns:p14="http://schemas.microsoft.com/office/powerpoint/2010/main" val="1759270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A9172E-E40B-4CD9-BEE3-AC1A921A3D77}"/>
              </a:ext>
            </a:extLst>
          </p:cNvPr>
          <p:cNvPicPr>
            <a:picLocks noChangeAspect="1"/>
          </p:cNvPicPr>
          <p:nvPr/>
        </p:nvPicPr>
        <p:blipFill>
          <a:blip r:embed="rId2"/>
          <a:stretch>
            <a:fillRect/>
          </a:stretch>
        </p:blipFill>
        <p:spPr>
          <a:xfrm>
            <a:off x="5616312" y="318653"/>
            <a:ext cx="6220693" cy="6220693"/>
          </a:xfrm>
          <a:prstGeom prst="rect">
            <a:avLst/>
          </a:prstGeom>
        </p:spPr>
      </p:pic>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Analyses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endParaRPr lang="en-US" dirty="0"/>
          </a:p>
          <a:p>
            <a:r>
              <a:rPr lang="en-US" dirty="0"/>
              <a:t>Preview…</a:t>
            </a:r>
          </a:p>
          <a:p>
            <a:endParaRPr lang="en-US" dirty="0"/>
          </a:p>
          <a:p>
            <a:endParaRPr lang="en-US" dirty="0"/>
          </a:p>
        </p:txBody>
      </p:sp>
      <p:pic>
        <p:nvPicPr>
          <p:cNvPr id="9" name="Picture 8">
            <a:extLst>
              <a:ext uri="{FF2B5EF4-FFF2-40B4-BE49-F238E27FC236}">
                <a16:creationId xmlns:a16="http://schemas.microsoft.com/office/drawing/2014/main" id="{1D814A5F-D8DA-4017-BE1E-F2E94E232380}"/>
              </a:ext>
            </a:extLst>
          </p:cNvPr>
          <p:cNvPicPr>
            <a:picLocks noChangeAspect="1"/>
          </p:cNvPicPr>
          <p:nvPr/>
        </p:nvPicPr>
        <p:blipFill>
          <a:blip r:embed="rId3"/>
          <a:stretch>
            <a:fillRect/>
          </a:stretch>
        </p:blipFill>
        <p:spPr>
          <a:xfrm>
            <a:off x="1972590" y="1971039"/>
            <a:ext cx="2946191" cy="1981983"/>
          </a:xfrm>
          <a:prstGeom prst="rect">
            <a:avLst/>
          </a:prstGeom>
        </p:spPr>
      </p:pic>
      <p:pic>
        <p:nvPicPr>
          <p:cNvPr id="10" name="Picture 9">
            <a:extLst>
              <a:ext uri="{FF2B5EF4-FFF2-40B4-BE49-F238E27FC236}">
                <a16:creationId xmlns:a16="http://schemas.microsoft.com/office/drawing/2014/main" id="{F9E4BA7F-FAE0-4A88-A326-771B87C69D31}"/>
              </a:ext>
            </a:extLst>
          </p:cNvPr>
          <p:cNvPicPr>
            <a:picLocks noChangeAspect="1"/>
          </p:cNvPicPr>
          <p:nvPr/>
        </p:nvPicPr>
        <p:blipFill>
          <a:blip r:embed="rId4"/>
          <a:stretch>
            <a:fillRect/>
          </a:stretch>
        </p:blipFill>
        <p:spPr>
          <a:xfrm>
            <a:off x="1302261" y="4410692"/>
            <a:ext cx="4286848" cy="1886213"/>
          </a:xfrm>
          <a:prstGeom prst="rect">
            <a:avLst/>
          </a:prstGeom>
        </p:spPr>
      </p:pic>
    </p:spTree>
    <p:extLst>
      <p:ext uri="{BB962C8B-B14F-4D97-AF65-F5344CB8AC3E}">
        <p14:creationId xmlns:p14="http://schemas.microsoft.com/office/powerpoint/2010/main" val="83518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Analyses </a:t>
            </a:r>
            <a:r>
              <a:rPr lang="en-US" dirty="0" err="1"/>
              <a:t>WfiAnalysis</a:t>
            </a:r>
            <a:endParaRPr lang="en-US" dirty="0"/>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The ‘garçon’ </a:t>
            </a:r>
            <a:r>
              <a:rPr lang="en-US" dirty="0" err="1"/>
              <a:t>WfiWordform</a:t>
            </a:r>
            <a:r>
              <a:rPr lang="en-US" dirty="0"/>
              <a:t> now owns a </a:t>
            </a:r>
            <a:r>
              <a:rPr lang="en-US" dirty="0" err="1"/>
              <a:t>WfiAnalysis</a:t>
            </a:r>
            <a:r>
              <a:rPr lang="en-US" dirty="0"/>
              <a:t> object.</a:t>
            </a:r>
          </a:p>
          <a:p>
            <a:r>
              <a:rPr lang="en-US" dirty="0"/>
              <a:t>A </a:t>
            </a:r>
            <a:r>
              <a:rPr lang="en-US" dirty="0" err="1"/>
              <a:t>WfiAnalysis</a:t>
            </a:r>
            <a:r>
              <a:rPr lang="en-US" dirty="0"/>
              <a:t> objects has</a:t>
            </a:r>
          </a:p>
          <a:p>
            <a:pPr lvl="1"/>
            <a:r>
              <a:rPr lang="en-US" dirty="0"/>
              <a:t>Category – atomic reference to a </a:t>
            </a:r>
            <a:r>
              <a:rPr lang="en-US" dirty="0" err="1"/>
              <a:t>PartOfSpeech</a:t>
            </a:r>
            <a:r>
              <a:rPr lang="en-US" dirty="0"/>
              <a:t> in the Category list in the Grammar area. This shows up in the Word Category line of the Analyze tab of an interlinear text.</a:t>
            </a:r>
          </a:p>
          <a:p>
            <a:pPr lvl="1"/>
            <a:r>
              <a:rPr lang="en-US" dirty="0"/>
              <a:t>Meanings – owning collection holding </a:t>
            </a:r>
            <a:r>
              <a:rPr lang="en-US" dirty="0" err="1"/>
              <a:t>WfiGloss</a:t>
            </a:r>
            <a:r>
              <a:rPr lang="en-US" dirty="0"/>
              <a:t> objects. One of these </a:t>
            </a:r>
            <a:r>
              <a:rPr lang="en-US" dirty="0" err="1"/>
              <a:t>WfiGloss</a:t>
            </a:r>
            <a:r>
              <a:rPr lang="en-US" dirty="0"/>
              <a:t> objects will show up in the Word Gloss line of the Analyze tab of an interlinear text.</a:t>
            </a:r>
          </a:p>
          <a:p>
            <a:pPr lvl="1"/>
            <a:r>
              <a:rPr lang="en-US" dirty="0" err="1"/>
              <a:t>MorphBundles</a:t>
            </a:r>
            <a:r>
              <a:rPr lang="en-US" dirty="0"/>
              <a:t> – owning sequence of </a:t>
            </a:r>
            <a:r>
              <a:rPr lang="en-US" dirty="0" err="1"/>
              <a:t>WfiMorphBundle</a:t>
            </a:r>
            <a:r>
              <a:rPr lang="en-US" dirty="0"/>
              <a:t>. There is one </a:t>
            </a:r>
            <a:r>
              <a:rPr lang="en-US" dirty="0" err="1"/>
              <a:t>WfiMorphBundle</a:t>
            </a:r>
            <a:r>
              <a:rPr lang="en-US" dirty="0"/>
              <a:t> for each morpheme in the wordform analysis.</a:t>
            </a:r>
          </a:p>
          <a:p>
            <a:pPr lvl="1"/>
            <a:r>
              <a:rPr lang="en-US" dirty="0"/>
              <a:t>Evaluations – reference sequence to </a:t>
            </a:r>
            <a:r>
              <a:rPr lang="en-US" dirty="0" err="1"/>
              <a:t>CmAgentEvaluation</a:t>
            </a:r>
            <a:r>
              <a:rPr lang="en-US" dirty="0"/>
              <a:t> approving or disapproving the analysis for one or more </a:t>
            </a:r>
            <a:r>
              <a:rPr lang="en-US" dirty="0" err="1"/>
              <a:t>CmAgents</a:t>
            </a:r>
            <a:r>
              <a:rPr lang="en-US" dirty="0"/>
              <a:t>.</a:t>
            </a:r>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7" name="Picture 6">
            <a:extLst>
              <a:ext uri="{FF2B5EF4-FFF2-40B4-BE49-F238E27FC236}">
                <a16:creationId xmlns:a16="http://schemas.microsoft.com/office/drawing/2014/main" id="{B6B43883-F163-4FD5-8833-9D1AEC9F5758}"/>
              </a:ext>
            </a:extLst>
          </p:cNvPr>
          <p:cNvPicPr>
            <a:picLocks noChangeAspect="1"/>
          </p:cNvPicPr>
          <p:nvPr/>
        </p:nvPicPr>
        <p:blipFill>
          <a:blip r:embed="rId2"/>
          <a:stretch>
            <a:fillRect/>
          </a:stretch>
        </p:blipFill>
        <p:spPr>
          <a:xfrm>
            <a:off x="9708723" y="2547825"/>
            <a:ext cx="2362530" cy="552527"/>
          </a:xfrm>
          <a:prstGeom prst="rect">
            <a:avLst/>
          </a:prstGeom>
        </p:spPr>
      </p:pic>
      <p:pic>
        <p:nvPicPr>
          <p:cNvPr id="9" name="Picture 8">
            <a:extLst>
              <a:ext uri="{FF2B5EF4-FFF2-40B4-BE49-F238E27FC236}">
                <a16:creationId xmlns:a16="http://schemas.microsoft.com/office/drawing/2014/main" id="{FEE2C02A-2626-42F0-96A0-6E81F3B1F617}"/>
              </a:ext>
            </a:extLst>
          </p:cNvPr>
          <p:cNvPicPr>
            <a:picLocks noChangeAspect="1"/>
          </p:cNvPicPr>
          <p:nvPr/>
        </p:nvPicPr>
        <p:blipFill>
          <a:blip r:embed="rId3"/>
          <a:stretch>
            <a:fillRect/>
          </a:stretch>
        </p:blipFill>
        <p:spPr>
          <a:xfrm>
            <a:off x="6096000" y="5503804"/>
            <a:ext cx="4363059" cy="828791"/>
          </a:xfrm>
          <a:prstGeom prst="rect">
            <a:avLst/>
          </a:prstGeom>
        </p:spPr>
      </p:pic>
    </p:spTree>
    <p:extLst>
      <p:ext uri="{BB962C8B-B14F-4D97-AF65-F5344CB8AC3E}">
        <p14:creationId xmlns:p14="http://schemas.microsoft.com/office/powerpoint/2010/main" val="1619869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Analyses </a:t>
            </a:r>
            <a:r>
              <a:rPr lang="en-US" dirty="0" err="1"/>
              <a:t>CmAgent</a:t>
            </a:r>
            <a:endParaRPr lang="en-US" dirty="0"/>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lnSpcReduction="10000"/>
          </a:bodyPr>
          <a:lstStyle/>
          <a:p>
            <a:r>
              <a:rPr lang="en-US" dirty="0" err="1"/>
              <a:t>LangProject</a:t>
            </a:r>
            <a:r>
              <a:rPr lang="en-US" dirty="0"/>
              <a:t> owns the following </a:t>
            </a:r>
            <a:r>
              <a:rPr lang="en-US" dirty="0" err="1"/>
              <a:t>CmAgent</a:t>
            </a:r>
            <a:r>
              <a:rPr lang="en-US" dirty="0"/>
              <a:t> objects in the </a:t>
            </a:r>
            <a:r>
              <a:rPr lang="en-US" dirty="0" err="1"/>
              <a:t>AnalyzingAgents</a:t>
            </a:r>
            <a:r>
              <a:rPr lang="en-US" dirty="0"/>
              <a:t> owning collection.</a:t>
            </a:r>
          </a:p>
          <a:p>
            <a:endParaRPr lang="en-US" dirty="0"/>
          </a:p>
          <a:p>
            <a:endParaRPr lang="en-US" dirty="0"/>
          </a:p>
          <a:p>
            <a:endParaRPr lang="en-US" dirty="0"/>
          </a:p>
          <a:p>
            <a:endParaRPr lang="en-US" dirty="0"/>
          </a:p>
          <a:p>
            <a:r>
              <a:rPr lang="en-US" dirty="0"/>
              <a:t>Each </a:t>
            </a:r>
            <a:r>
              <a:rPr lang="en-US" dirty="0" err="1"/>
              <a:t>CmAgent</a:t>
            </a:r>
            <a:r>
              <a:rPr lang="en-US" dirty="0"/>
              <a:t> has an Approves, and a Disapproves property owning a </a:t>
            </a:r>
            <a:r>
              <a:rPr lang="en-US" dirty="0" err="1"/>
              <a:t>CmAgentEvaluation</a:t>
            </a:r>
            <a:r>
              <a:rPr lang="en-US" dirty="0"/>
              <a:t>. Analyses can be approved or disapproved by any of these </a:t>
            </a:r>
            <a:r>
              <a:rPr lang="en-US" dirty="0" err="1"/>
              <a:t>CmAgents</a:t>
            </a:r>
            <a:r>
              <a:rPr lang="en-US" dirty="0"/>
              <a:t> by referencing the desired </a:t>
            </a:r>
            <a:r>
              <a:rPr lang="en-US" dirty="0" err="1"/>
              <a:t>CmAgentEvaluation</a:t>
            </a:r>
            <a:r>
              <a:rPr lang="en-US" dirty="0"/>
              <a:t> through the Evaluations reference collection property on </a:t>
            </a:r>
            <a:r>
              <a:rPr lang="en-US" dirty="0" err="1"/>
              <a:t>WfiAnalysis</a:t>
            </a:r>
            <a:r>
              <a:rPr lang="en-US" dirty="0"/>
              <a:t>. The current suggestions are generated and approved by the Computer parser. At this point it’s up to the user whether they want to approved the</a:t>
            </a:r>
            <a:br>
              <a:rPr lang="en-US" dirty="0"/>
            </a:br>
            <a:r>
              <a:rPr lang="en-US" dirty="0"/>
              <a:t>analyses or not.</a:t>
            </a:r>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F9B446DC-A857-4211-81CC-7B9EF3A42CC4}"/>
              </a:ext>
            </a:extLst>
          </p:cNvPr>
          <p:cNvPicPr>
            <a:picLocks noChangeAspect="1"/>
          </p:cNvPicPr>
          <p:nvPr/>
        </p:nvPicPr>
        <p:blipFill>
          <a:blip r:embed="rId2"/>
          <a:stretch>
            <a:fillRect/>
          </a:stretch>
        </p:blipFill>
        <p:spPr>
          <a:xfrm>
            <a:off x="1107330" y="1743074"/>
            <a:ext cx="9055832" cy="1685926"/>
          </a:xfrm>
          <a:prstGeom prst="rect">
            <a:avLst/>
          </a:prstGeom>
        </p:spPr>
      </p:pic>
      <p:pic>
        <p:nvPicPr>
          <p:cNvPr id="2" name="Picture 1">
            <a:extLst>
              <a:ext uri="{FF2B5EF4-FFF2-40B4-BE49-F238E27FC236}">
                <a16:creationId xmlns:a16="http://schemas.microsoft.com/office/drawing/2014/main" id="{38AC1593-6643-47B3-9F15-2C9DE75CAD47}"/>
              </a:ext>
            </a:extLst>
          </p:cNvPr>
          <p:cNvPicPr>
            <a:picLocks noChangeAspect="1"/>
          </p:cNvPicPr>
          <p:nvPr/>
        </p:nvPicPr>
        <p:blipFill>
          <a:blip r:embed="rId3"/>
          <a:stretch>
            <a:fillRect/>
          </a:stretch>
        </p:blipFill>
        <p:spPr>
          <a:xfrm>
            <a:off x="7053909" y="5792142"/>
            <a:ext cx="4363059" cy="828791"/>
          </a:xfrm>
          <a:prstGeom prst="rect">
            <a:avLst/>
          </a:prstGeom>
        </p:spPr>
      </p:pic>
    </p:spTree>
    <p:extLst>
      <p:ext uri="{BB962C8B-B14F-4D97-AF65-F5344CB8AC3E}">
        <p14:creationId xmlns:p14="http://schemas.microsoft.com/office/powerpoint/2010/main" val="4026037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Analyses </a:t>
            </a:r>
            <a:r>
              <a:rPr lang="en-US" dirty="0" err="1"/>
              <a:t>WfiMorphBundle</a:t>
            </a:r>
            <a:endParaRPr lang="en-US" dirty="0"/>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err="1"/>
              <a:t>WfiMorphBundle</a:t>
            </a:r>
            <a:r>
              <a:rPr lang="en-US" dirty="0"/>
              <a:t> has</a:t>
            </a:r>
          </a:p>
          <a:p>
            <a:pPr lvl="1"/>
            <a:r>
              <a:rPr lang="en-US" dirty="0"/>
              <a:t>Form – MultiString form for the morpheme. This form will be displayed in the Morphemes line in the Analyze tab of an interlinear text if the Morph property is empty. Once the Morph property is set, the Morphemes line displays the Form from the referenced </a:t>
            </a:r>
            <a:r>
              <a:rPr lang="en-US" dirty="0" err="1"/>
              <a:t>MoForm</a:t>
            </a:r>
            <a:r>
              <a:rPr lang="en-US" dirty="0"/>
              <a:t>,</a:t>
            </a:r>
          </a:p>
          <a:p>
            <a:pPr lvl="1"/>
            <a:r>
              <a:rPr lang="en-US" dirty="0"/>
              <a:t>Morph – atomic reference to a </a:t>
            </a:r>
            <a:r>
              <a:rPr lang="en-US" dirty="0" err="1"/>
              <a:t>MoForm</a:t>
            </a:r>
            <a:r>
              <a:rPr lang="en-US" dirty="0"/>
              <a:t>, either in the </a:t>
            </a:r>
            <a:r>
              <a:rPr lang="en-US" dirty="0" err="1"/>
              <a:t>LexemeForm</a:t>
            </a:r>
            <a:r>
              <a:rPr lang="en-US" dirty="0"/>
              <a:t> or </a:t>
            </a:r>
            <a:r>
              <a:rPr lang="en-US" dirty="0" err="1"/>
              <a:t>AlternateForms</a:t>
            </a:r>
            <a:r>
              <a:rPr lang="en-US" dirty="0"/>
              <a:t> property of a </a:t>
            </a:r>
            <a:r>
              <a:rPr lang="en-US" dirty="0" err="1"/>
              <a:t>LexEntry</a:t>
            </a:r>
            <a:r>
              <a:rPr lang="en-US" dirty="0"/>
              <a:t>. This Form is displayed in the Lex Entries line in the Analyze tab of an interlinear text.</a:t>
            </a:r>
          </a:p>
          <a:p>
            <a:pPr lvl="1"/>
            <a:r>
              <a:rPr lang="en-US" dirty="0" err="1"/>
              <a:t>Msa</a:t>
            </a:r>
            <a:r>
              <a:rPr lang="en-US" dirty="0"/>
              <a:t> – atomic reference to a </a:t>
            </a:r>
            <a:r>
              <a:rPr lang="en-US" dirty="0" err="1"/>
              <a:t>MoMorphSynAnalysis</a:t>
            </a:r>
            <a:r>
              <a:rPr lang="en-US" dirty="0"/>
              <a:t> in the Morph entry. This </a:t>
            </a:r>
            <a:r>
              <a:rPr lang="en-US" dirty="0" err="1"/>
              <a:t>PartOfSpeech</a:t>
            </a:r>
            <a:r>
              <a:rPr lang="en-US" dirty="0"/>
              <a:t> in this analysis is displayed in the Lex Gram Info line in the Analyze tab of an interlinear text.</a:t>
            </a:r>
          </a:p>
          <a:p>
            <a:pPr lvl="1"/>
            <a:r>
              <a:rPr lang="en-US" dirty="0"/>
              <a:t>Sense – atomic reference to a </a:t>
            </a:r>
            <a:r>
              <a:rPr lang="en-US" dirty="0" err="1"/>
              <a:t>LexSense</a:t>
            </a:r>
            <a:r>
              <a:rPr lang="en-US" dirty="0"/>
              <a:t> in the Morph entry that shares the </a:t>
            </a:r>
            <a:r>
              <a:rPr lang="en-US" dirty="0" err="1"/>
              <a:t>Msa</a:t>
            </a:r>
            <a:r>
              <a:rPr lang="en-US" dirty="0"/>
              <a:t> referenced by this </a:t>
            </a:r>
            <a:r>
              <a:rPr lang="en-US" dirty="0" err="1"/>
              <a:t>WfiMorphBundle</a:t>
            </a:r>
            <a:r>
              <a:rPr lang="en-US" dirty="0"/>
              <a:t>. The Gloss from this sense is displayed in the Lex Gloss line in the Analyze tab of an interlinear text.</a:t>
            </a:r>
          </a:p>
          <a:p>
            <a:pPr lvl="1"/>
            <a:endParaRPr lang="en-US" dirty="0"/>
          </a:p>
          <a:p>
            <a:endParaRPr lang="en-US" dirty="0"/>
          </a:p>
          <a:p>
            <a:endParaRPr lang="en-US" dirty="0"/>
          </a:p>
          <a:p>
            <a:endParaRPr lang="en-US" dirty="0"/>
          </a:p>
          <a:p>
            <a:endParaRPr lang="en-US" dirty="0"/>
          </a:p>
          <a:p>
            <a:endParaRPr lang="en-US" dirty="0"/>
          </a:p>
          <a:p>
            <a:endParaRPr lang="en-US" dirty="0"/>
          </a:p>
        </p:txBody>
      </p:sp>
      <p:pic>
        <p:nvPicPr>
          <p:cNvPr id="2" name="Picture 1">
            <a:extLst>
              <a:ext uri="{FF2B5EF4-FFF2-40B4-BE49-F238E27FC236}">
                <a16:creationId xmlns:a16="http://schemas.microsoft.com/office/drawing/2014/main" id="{91EA7390-3C0C-4DC9-9267-197BEFBE417A}"/>
              </a:ext>
            </a:extLst>
          </p:cNvPr>
          <p:cNvPicPr>
            <a:picLocks noChangeAspect="1"/>
          </p:cNvPicPr>
          <p:nvPr/>
        </p:nvPicPr>
        <p:blipFill>
          <a:blip r:embed="rId2"/>
          <a:stretch>
            <a:fillRect/>
          </a:stretch>
        </p:blipFill>
        <p:spPr>
          <a:xfrm>
            <a:off x="9491655" y="5918200"/>
            <a:ext cx="2676899" cy="914528"/>
          </a:xfrm>
          <a:prstGeom prst="rect">
            <a:avLst/>
          </a:prstGeom>
        </p:spPr>
      </p:pic>
    </p:spTree>
    <p:extLst>
      <p:ext uri="{BB962C8B-B14F-4D97-AF65-F5344CB8AC3E}">
        <p14:creationId xmlns:p14="http://schemas.microsoft.com/office/powerpoint/2010/main" val="2936320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Approving analyses</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If the user clicks the green Approve button in ‘garçon’ in the word focus box, the Analyze tab shows (left)</a:t>
            </a:r>
          </a:p>
          <a:p>
            <a:r>
              <a:rPr lang="en-US" dirty="0"/>
              <a:t>and the Word Analyses tool shows (right)</a:t>
            </a:r>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2157E336-C648-4BB2-AF9B-069C276F69F6}"/>
              </a:ext>
            </a:extLst>
          </p:cNvPr>
          <p:cNvPicPr/>
          <p:nvPr/>
        </p:nvPicPr>
        <p:blipFill>
          <a:blip r:embed="rId2"/>
          <a:stretch>
            <a:fillRect/>
          </a:stretch>
        </p:blipFill>
        <p:spPr>
          <a:xfrm>
            <a:off x="838200" y="2766643"/>
            <a:ext cx="3192558" cy="2353997"/>
          </a:xfrm>
          <a:prstGeom prst="rect">
            <a:avLst/>
          </a:prstGeom>
        </p:spPr>
      </p:pic>
      <p:pic>
        <p:nvPicPr>
          <p:cNvPr id="7" name="Picture 6">
            <a:extLst>
              <a:ext uri="{FF2B5EF4-FFF2-40B4-BE49-F238E27FC236}">
                <a16:creationId xmlns:a16="http://schemas.microsoft.com/office/drawing/2014/main" id="{9429ECA2-2DBF-4F4F-842F-C83547C37BB7}"/>
              </a:ext>
            </a:extLst>
          </p:cNvPr>
          <p:cNvPicPr/>
          <p:nvPr/>
        </p:nvPicPr>
        <p:blipFill>
          <a:blip r:embed="rId3"/>
          <a:stretch>
            <a:fillRect/>
          </a:stretch>
        </p:blipFill>
        <p:spPr>
          <a:xfrm>
            <a:off x="4819432" y="2616101"/>
            <a:ext cx="6497412" cy="3067247"/>
          </a:xfrm>
          <a:prstGeom prst="rect">
            <a:avLst/>
          </a:prstGeom>
        </p:spPr>
      </p:pic>
    </p:spTree>
    <p:extLst>
      <p:ext uri="{BB962C8B-B14F-4D97-AF65-F5344CB8AC3E}">
        <p14:creationId xmlns:p14="http://schemas.microsoft.com/office/powerpoint/2010/main" val="3790949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Approving analyses</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486508" y="951132"/>
            <a:ext cx="10867292" cy="5681133"/>
          </a:xfrm>
        </p:spPr>
        <p:txBody>
          <a:bodyPr>
            <a:normAutofit fontScale="70000" lnSpcReduction="20000"/>
          </a:bodyPr>
          <a:lstStyle/>
          <a:p>
            <a:r>
              <a:rPr lang="en-US" dirty="0"/>
              <a:t>Two changes occurred in the FLEx data.</a:t>
            </a:r>
          </a:p>
          <a:p>
            <a:pPr lvl="0"/>
            <a:r>
              <a:rPr lang="en-US" dirty="0"/>
              <a:t>In the Segment Analyses list of references for wordforms, the second one that used to reference the ‘garçon’ </a:t>
            </a:r>
            <a:r>
              <a:rPr lang="en-US" dirty="0" err="1"/>
              <a:t>WfiWordform</a:t>
            </a:r>
            <a:r>
              <a:rPr lang="en-US" dirty="0"/>
              <a:t> now references the ‘boy’ </a:t>
            </a:r>
            <a:r>
              <a:rPr lang="en-US" dirty="0" err="1"/>
              <a:t>WfiGloss</a:t>
            </a:r>
            <a:r>
              <a:rPr lang="en-US" dirty="0"/>
              <a:t> object owned in the </a:t>
            </a:r>
            <a:r>
              <a:rPr lang="en-US" dirty="0" err="1"/>
              <a:t>WfiAnalysis</a:t>
            </a:r>
            <a:r>
              <a:rPr lang="en-US" dirty="0"/>
              <a:t> owned by the ‘garçon’ </a:t>
            </a:r>
            <a:r>
              <a:rPr lang="en-US" dirty="0" err="1"/>
              <a:t>WfiWordform</a:t>
            </a:r>
            <a:r>
              <a:rPr lang="en-US" dirty="0"/>
              <a:t>.</a:t>
            </a:r>
            <a:br>
              <a:rPr lang="en-US" dirty="0"/>
            </a:br>
            <a:br>
              <a:rPr lang="en-US" dirty="0"/>
            </a:br>
            <a:r>
              <a:rPr lang="en-US" dirty="0"/>
              <a:t>&lt;rt class="Segment" guid="78220579-5e21-47df-82b1-1fd72a02748d" </a:t>
            </a:r>
            <a:r>
              <a:rPr lang="en-US" dirty="0" err="1"/>
              <a:t>ownerguid</a:t>
            </a:r>
            <a:r>
              <a:rPr lang="en-US" dirty="0"/>
              <a:t>="a51ed87e-d6fe-44d6-a317-1b726d218fe3"&gt;</a:t>
            </a:r>
            <a:br>
              <a:rPr lang="en-US" dirty="0"/>
            </a:br>
            <a:r>
              <a:rPr lang="en-US" dirty="0"/>
              <a:t>&lt;Analyses&gt;</a:t>
            </a:r>
            <a:br>
              <a:rPr lang="en-US" dirty="0"/>
            </a:br>
            <a:r>
              <a:rPr lang="en-US" dirty="0"/>
              <a:t>&lt;</a:t>
            </a:r>
            <a:r>
              <a:rPr lang="en-US" dirty="0" err="1"/>
              <a:t>objsur</a:t>
            </a:r>
            <a:r>
              <a:rPr lang="en-US" dirty="0"/>
              <a:t> guid="b0460a42-7e19-460e-9ec8-4779c4a5f3ff" t="r" /&gt;   Le</a:t>
            </a:r>
            <a:br>
              <a:rPr lang="en-US" dirty="0"/>
            </a:br>
            <a:r>
              <a:rPr lang="en-US" dirty="0"/>
              <a:t>&lt;</a:t>
            </a:r>
            <a:r>
              <a:rPr lang="en-US" dirty="0" err="1"/>
              <a:t>objsur</a:t>
            </a:r>
            <a:r>
              <a:rPr lang="en-US" dirty="0"/>
              <a:t> guid="7dec7244-62f4-441f-bfc9-c9564093c2f0" t="r" /&gt; </a:t>
            </a:r>
            <a:r>
              <a:rPr lang="en-US" dirty="0">
                <a:highlight>
                  <a:srgbClr val="FFFF00"/>
                </a:highlight>
              </a:rPr>
              <a:t>&lt;-  garçon </a:t>
            </a:r>
            <a:r>
              <a:rPr lang="en-US" dirty="0" err="1">
                <a:highlight>
                  <a:srgbClr val="FFFF00"/>
                </a:highlight>
              </a:rPr>
              <a:t>WfiGloss</a:t>
            </a:r>
            <a:r>
              <a:rPr lang="en-US" dirty="0">
                <a:highlight>
                  <a:srgbClr val="FFFF00"/>
                </a:highlight>
              </a:rPr>
              <a:t> </a:t>
            </a:r>
            <a:r>
              <a:rPr lang="en-US" dirty="0"/>
              <a:t>'boy’</a:t>
            </a:r>
          </a:p>
          <a:p>
            <a:pPr lvl="0"/>
            <a:r>
              <a:rPr lang="en-US" dirty="0"/>
              <a:t>In addition to the </a:t>
            </a:r>
            <a:r>
              <a:rPr lang="en-US" dirty="0" err="1"/>
              <a:t>WfiAnalysis</a:t>
            </a:r>
            <a:r>
              <a:rPr lang="en-US" dirty="0"/>
              <a:t> Evaluations referencing the Computer Approves </a:t>
            </a:r>
            <a:r>
              <a:rPr lang="en-US" dirty="0" err="1"/>
              <a:t>CmAgentEvaluation</a:t>
            </a:r>
            <a:r>
              <a:rPr lang="en-US" dirty="0"/>
              <a:t>, it now also references the “default user” Approves </a:t>
            </a:r>
            <a:r>
              <a:rPr lang="en-US" dirty="0" err="1"/>
              <a:t>CmAgentEvaluation</a:t>
            </a:r>
            <a:r>
              <a:rPr lang="en-US" dirty="0"/>
              <a:t>.</a:t>
            </a:r>
            <a:br>
              <a:rPr lang="en-US" dirty="0"/>
            </a:br>
            <a:br>
              <a:rPr lang="en-US" dirty="0"/>
            </a:br>
            <a:r>
              <a:rPr lang="en-US" dirty="0"/>
              <a:t>&lt;rt class="</a:t>
            </a:r>
            <a:r>
              <a:rPr lang="en-US" dirty="0" err="1"/>
              <a:t>WfiAnalysis</a:t>
            </a:r>
            <a:r>
              <a:rPr lang="en-US" dirty="0"/>
              <a:t>" guid="be5aec0f-ff8d-4718-a97d-018a1fcd23d6" </a:t>
            </a:r>
            <a:r>
              <a:rPr lang="en-US" dirty="0" err="1"/>
              <a:t>ownerguid</a:t>
            </a:r>
            <a:r>
              <a:rPr lang="en-US" dirty="0"/>
              <a:t>="40b5890e-abc9-4741-9ef7-8dea5fb88c37"&gt;</a:t>
            </a:r>
            <a:br>
              <a:rPr lang="en-US" dirty="0"/>
            </a:br>
            <a:r>
              <a:rPr lang="en-US" dirty="0"/>
              <a:t>&lt;Evaluations&gt;</a:t>
            </a:r>
            <a:br>
              <a:rPr lang="en-US" dirty="0"/>
            </a:br>
            <a:r>
              <a:rPr lang="en-US" dirty="0"/>
              <a:t>&lt;</a:t>
            </a:r>
            <a:r>
              <a:rPr lang="en-US" dirty="0" err="1"/>
              <a:t>objsur</a:t>
            </a:r>
            <a:r>
              <a:rPr lang="en-US" dirty="0"/>
              <a:t> guid="41581e3a-7ed3-41ac-94c7-6e91dbcc108b" t="r" /&gt;  &lt;-  Computer approves</a:t>
            </a:r>
            <a:br>
              <a:rPr lang="en-US" dirty="0"/>
            </a:br>
            <a:r>
              <a:rPr lang="en-US" dirty="0"/>
              <a:t>&lt;</a:t>
            </a:r>
            <a:r>
              <a:rPr lang="en-US" dirty="0" err="1"/>
              <a:t>objsur</a:t>
            </a:r>
            <a:r>
              <a:rPr lang="en-US" dirty="0"/>
              <a:t> guid="8caa11bb-cac4-4836-a081-1666245106b9" t="r" /&gt;  </a:t>
            </a:r>
            <a:r>
              <a:rPr lang="en-US" dirty="0">
                <a:highlight>
                  <a:srgbClr val="FFFF00"/>
                </a:highlight>
              </a:rPr>
              <a:t>&lt;-  Default user approves</a:t>
            </a:r>
            <a:br>
              <a:rPr lang="en-US" dirty="0"/>
            </a:br>
            <a:r>
              <a:rPr lang="en-US" dirty="0"/>
              <a:t>&lt;/Evaluations&gt;</a:t>
            </a:r>
            <a:br>
              <a:rPr lang="en-US" dirty="0"/>
            </a:br>
            <a:br>
              <a:rPr lang="en-US" dirty="0"/>
            </a:br>
            <a:br>
              <a:rPr lang="en-US" dirty="0"/>
            </a:br>
            <a:br>
              <a:rPr lang="en-US" dirty="0"/>
            </a:br>
            <a:endParaRPr lang="en-US" dirty="0"/>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p:txBody>
      </p:sp>
      <p:pic>
        <p:nvPicPr>
          <p:cNvPr id="2" name="Picture 1">
            <a:extLst>
              <a:ext uri="{FF2B5EF4-FFF2-40B4-BE49-F238E27FC236}">
                <a16:creationId xmlns:a16="http://schemas.microsoft.com/office/drawing/2014/main" id="{979D970B-7C41-4BCF-AE86-480A500D5C63}"/>
              </a:ext>
            </a:extLst>
          </p:cNvPr>
          <p:cNvPicPr>
            <a:picLocks noChangeAspect="1"/>
          </p:cNvPicPr>
          <p:nvPr/>
        </p:nvPicPr>
        <p:blipFill>
          <a:blip r:embed="rId2"/>
          <a:stretch>
            <a:fillRect/>
          </a:stretch>
        </p:blipFill>
        <p:spPr>
          <a:xfrm>
            <a:off x="6456297" y="5211445"/>
            <a:ext cx="4080405" cy="1523629"/>
          </a:xfrm>
          <a:prstGeom prst="rect">
            <a:avLst/>
          </a:prstGeom>
        </p:spPr>
      </p:pic>
    </p:spTree>
    <p:extLst>
      <p:ext uri="{BB962C8B-B14F-4D97-AF65-F5344CB8AC3E}">
        <p14:creationId xmlns:p14="http://schemas.microsoft.com/office/powerpoint/2010/main" val="34591471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Summary</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In summary, the Analyses property of Segment can reference 4 types of objects.</a:t>
            </a:r>
          </a:p>
          <a:p>
            <a:pPr lvl="1"/>
            <a:r>
              <a:rPr lang="en-US" dirty="0"/>
              <a:t>A </a:t>
            </a:r>
            <a:r>
              <a:rPr lang="en-US" dirty="0" err="1"/>
              <a:t>WfiWordform</a:t>
            </a:r>
            <a:r>
              <a:rPr lang="en-US" dirty="0"/>
              <a:t> with a Form that matches the wordform in the baseline. This indicates the wordform is unanalyzed.</a:t>
            </a:r>
          </a:p>
          <a:p>
            <a:pPr lvl="1"/>
            <a:r>
              <a:rPr lang="en-US" dirty="0"/>
              <a:t>A </a:t>
            </a:r>
            <a:r>
              <a:rPr lang="en-US" dirty="0" err="1"/>
              <a:t>WfiAnalysis</a:t>
            </a:r>
            <a:r>
              <a:rPr lang="en-US" dirty="0"/>
              <a:t> owned by a </a:t>
            </a:r>
            <a:r>
              <a:rPr lang="en-US" dirty="0" err="1"/>
              <a:t>WfiWordform</a:t>
            </a:r>
            <a:r>
              <a:rPr lang="en-US" dirty="0"/>
              <a:t> with a Form that matches the wordform in the baseline. This indicates the wordform is partially analyzed. The analysis is known, but the word gloss has not been chosen.</a:t>
            </a:r>
          </a:p>
          <a:p>
            <a:pPr lvl="1"/>
            <a:r>
              <a:rPr lang="en-US" dirty="0"/>
              <a:t>A </a:t>
            </a:r>
            <a:r>
              <a:rPr lang="en-US" dirty="0" err="1"/>
              <a:t>WfiGloss</a:t>
            </a:r>
            <a:r>
              <a:rPr lang="en-US" dirty="0"/>
              <a:t> owned in a </a:t>
            </a:r>
            <a:r>
              <a:rPr lang="en-US" dirty="0" err="1"/>
              <a:t>WfiAnalysis</a:t>
            </a:r>
            <a:r>
              <a:rPr lang="en-US" dirty="0"/>
              <a:t> owned by a </a:t>
            </a:r>
            <a:r>
              <a:rPr lang="en-US" dirty="0" err="1"/>
              <a:t>WfiWordform</a:t>
            </a:r>
            <a:r>
              <a:rPr lang="en-US" dirty="0"/>
              <a:t> with a Form that matches the wordform in the baseline. This indicates the wordform is fully analyzed to an exact </a:t>
            </a:r>
            <a:r>
              <a:rPr lang="en-US" dirty="0" err="1"/>
              <a:t>WfiGloss</a:t>
            </a:r>
            <a:r>
              <a:rPr lang="en-US" dirty="0"/>
              <a:t>.</a:t>
            </a:r>
          </a:p>
          <a:p>
            <a:pPr lvl="1"/>
            <a:r>
              <a:rPr lang="en-US" dirty="0"/>
              <a:t>A </a:t>
            </a:r>
            <a:r>
              <a:rPr lang="en-US" dirty="0" err="1"/>
              <a:t>PunctuationForm</a:t>
            </a:r>
            <a:r>
              <a:rPr lang="en-US" dirty="0"/>
              <a:t> contains punctuation in the baseline and any strings that are not in the vernacular writing system of the text. They cannot be analyzed.</a:t>
            </a:r>
          </a:p>
          <a:p>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45971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Summary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Here’s an example of a word with two morphemes:</a:t>
            </a:r>
          </a:p>
          <a:p>
            <a:endParaRPr lang="en-US" dirty="0"/>
          </a:p>
          <a:p>
            <a:endParaRPr lang="en-US" dirty="0"/>
          </a:p>
          <a:p>
            <a:endParaRPr lang="en-US" dirty="0"/>
          </a:p>
          <a:p>
            <a:endParaRPr lang="en-US" dirty="0"/>
          </a:p>
          <a:p>
            <a:endParaRPr lang="en-US" dirty="0"/>
          </a:p>
          <a:p>
            <a:r>
              <a:rPr lang="en-US" dirty="0"/>
              <a:t>The FLEx diagram would be very similar to the previous diagram for ‘garçon’, but the </a:t>
            </a:r>
            <a:r>
              <a:rPr lang="en-US" dirty="0" err="1"/>
              <a:t>WfiAnalysis</a:t>
            </a:r>
            <a:r>
              <a:rPr lang="en-US" dirty="0"/>
              <a:t> </a:t>
            </a:r>
            <a:r>
              <a:rPr lang="en-US" dirty="0" err="1"/>
              <a:t>MorphBundles</a:t>
            </a:r>
            <a:r>
              <a:rPr lang="en-US" dirty="0"/>
              <a:t> property now has two </a:t>
            </a:r>
            <a:r>
              <a:rPr lang="en-US" dirty="0" err="1"/>
              <a:t>WfiMorphBundle</a:t>
            </a:r>
            <a:r>
              <a:rPr lang="en-US" dirty="0"/>
              <a:t> objects; one for ‘lion’ and one for ‘-s’. The first </a:t>
            </a:r>
            <a:r>
              <a:rPr lang="en-US" dirty="0" err="1"/>
              <a:t>MorphBundle</a:t>
            </a:r>
            <a:r>
              <a:rPr lang="en-US" dirty="0"/>
              <a:t> would reference the 3 parts of the ‘lion’ entry, and the second </a:t>
            </a:r>
            <a:r>
              <a:rPr lang="en-US" dirty="0" err="1"/>
              <a:t>MorphBundle</a:t>
            </a:r>
            <a:r>
              <a:rPr lang="en-US" dirty="0"/>
              <a:t> would reference the 3 parts of the ‘-s’ entry.</a:t>
            </a:r>
          </a:p>
          <a:p>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162360EA-5D6E-4B75-B535-E5467505FB02}"/>
              </a:ext>
            </a:extLst>
          </p:cNvPr>
          <p:cNvPicPr/>
          <p:nvPr/>
        </p:nvPicPr>
        <p:blipFill>
          <a:blip r:embed="rId2"/>
          <a:stretch>
            <a:fillRect/>
          </a:stretch>
        </p:blipFill>
        <p:spPr>
          <a:xfrm>
            <a:off x="1551695" y="1443989"/>
            <a:ext cx="3540809" cy="2646665"/>
          </a:xfrm>
          <a:prstGeom prst="rect">
            <a:avLst/>
          </a:prstGeom>
        </p:spPr>
      </p:pic>
    </p:spTree>
    <p:extLst>
      <p:ext uri="{BB962C8B-B14F-4D97-AF65-F5344CB8AC3E}">
        <p14:creationId xmlns:p14="http://schemas.microsoft.com/office/powerpoint/2010/main" val="815965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Text Tagging</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92500" lnSpcReduction="10000"/>
          </a:bodyPr>
          <a:lstStyle/>
          <a:p>
            <a:r>
              <a:rPr lang="en-US" dirty="0"/>
              <a:t>Interlinear text offers a Tagging tab that allows a user to tag sections of the baseline for Grammatical Relations – Functional, Semantics – RRG, Syntax – Descriptive, or Syntax – RRG. You can also create your own tagging structure. The tags are defined in the Text Markup Tags list in the Lists area. The top-level tags define rows in the tagging system, and subitems provide the tag markings within that line.</a:t>
            </a:r>
          </a:p>
          <a:p>
            <a:r>
              <a:rPr lang="en-US" dirty="0"/>
              <a:t>In the Interlinear Text Tagging tab you can highlight a string of wordforms and right-click to choose a tag to assign to these wordforms. You can choose from more than one level. The result might look like this</a:t>
            </a:r>
            <a:br>
              <a:rPr lang="en-US" dirty="0"/>
            </a:br>
            <a:br>
              <a:rPr lang="en-US" dirty="0"/>
            </a:br>
            <a:br>
              <a:rPr lang="en-US" dirty="0"/>
            </a:br>
            <a:br>
              <a:rPr lang="en-US" dirty="0"/>
            </a:br>
            <a:br>
              <a:rPr lang="en-US" dirty="0"/>
            </a:br>
            <a:br>
              <a:rPr lang="en-US" dirty="0"/>
            </a:br>
            <a:br>
              <a:rPr lang="en-US" dirty="0"/>
            </a:br>
            <a:endParaRPr lang="en-US" dirty="0"/>
          </a:p>
          <a:p>
            <a:endParaRPr lang="en-US" dirty="0"/>
          </a:p>
        </p:txBody>
      </p:sp>
      <p:pic>
        <p:nvPicPr>
          <p:cNvPr id="6" name="Picture 5">
            <a:extLst>
              <a:ext uri="{FF2B5EF4-FFF2-40B4-BE49-F238E27FC236}">
                <a16:creationId xmlns:a16="http://schemas.microsoft.com/office/drawing/2014/main" id="{1575F666-1B96-47CC-A732-9DD830F5B725}"/>
              </a:ext>
            </a:extLst>
          </p:cNvPr>
          <p:cNvPicPr/>
          <p:nvPr/>
        </p:nvPicPr>
        <p:blipFill>
          <a:blip r:embed="rId2"/>
          <a:stretch>
            <a:fillRect/>
          </a:stretch>
        </p:blipFill>
        <p:spPr>
          <a:xfrm>
            <a:off x="2696894" y="3967511"/>
            <a:ext cx="4686042" cy="2653421"/>
          </a:xfrm>
          <a:prstGeom prst="rect">
            <a:avLst/>
          </a:prstGeom>
        </p:spPr>
      </p:pic>
    </p:spTree>
    <p:extLst>
      <p:ext uri="{BB962C8B-B14F-4D97-AF65-F5344CB8AC3E}">
        <p14:creationId xmlns:p14="http://schemas.microsoft.com/office/powerpoint/2010/main" val="578731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Text Tagging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The Text Markup Tags list is owned in the </a:t>
            </a:r>
            <a:r>
              <a:rPr lang="en-US" dirty="0" err="1"/>
              <a:t>TextMarkupTags</a:t>
            </a:r>
            <a:r>
              <a:rPr lang="en-US" dirty="0"/>
              <a:t> property of </a:t>
            </a:r>
            <a:r>
              <a:rPr lang="en-US" dirty="0" err="1"/>
              <a:t>LangProject</a:t>
            </a:r>
            <a:r>
              <a:rPr lang="en-US" dirty="0"/>
              <a:t>. When you add a tag, FLEx adds a </a:t>
            </a:r>
            <a:r>
              <a:rPr lang="en-US" dirty="0" err="1"/>
              <a:t>TextTag</a:t>
            </a:r>
            <a:r>
              <a:rPr lang="en-US" dirty="0"/>
              <a:t> object in the Tags owning collection of </a:t>
            </a:r>
            <a:r>
              <a:rPr lang="en-US" dirty="0" err="1"/>
              <a:t>StText</a:t>
            </a:r>
            <a:r>
              <a:rPr lang="en-US" dirty="0"/>
              <a:t>.</a:t>
            </a:r>
          </a:p>
          <a:p>
            <a:r>
              <a:rPr lang="en-US" dirty="0" err="1"/>
              <a:t>TextTag</a:t>
            </a:r>
            <a:r>
              <a:rPr lang="en-US" dirty="0"/>
              <a:t> has</a:t>
            </a:r>
          </a:p>
          <a:p>
            <a:pPr lvl="1"/>
            <a:r>
              <a:rPr lang="en-US" dirty="0" err="1"/>
              <a:t>BeginAnalysisIndex</a:t>
            </a:r>
            <a:r>
              <a:rPr lang="en-US" dirty="0"/>
              <a:t> – Integer indicating the beginning index of </a:t>
            </a:r>
            <a:r>
              <a:rPr lang="en-US" dirty="0" err="1"/>
              <a:t>IAnalysis</a:t>
            </a:r>
            <a:r>
              <a:rPr lang="en-US" dirty="0"/>
              <a:t> references in the Segment Analyses property.</a:t>
            </a:r>
          </a:p>
          <a:p>
            <a:pPr lvl="1"/>
            <a:r>
              <a:rPr lang="en-US" dirty="0" err="1"/>
              <a:t>EndAnalysisIndex</a:t>
            </a:r>
            <a:r>
              <a:rPr lang="en-US" dirty="0"/>
              <a:t> – Integer indicating the ending index of </a:t>
            </a:r>
            <a:r>
              <a:rPr lang="en-US" dirty="0" err="1"/>
              <a:t>IAnalysis</a:t>
            </a:r>
            <a:r>
              <a:rPr lang="en-US" dirty="0"/>
              <a:t> references in the Segment Analyses property</a:t>
            </a:r>
          </a:p>
          <a:p>
            <a:pPr lvl="1"/>
            <a:r>
              <a:rPr lang="en-US" dirty="0" err="1"/>
              <a:t>BeginSegment</a:t>
            </a:r>
            <a:r>
              <a:rPr lang="en-US" dirty="0"/>
              <a:t> – atomic reference to the Segment where the tag begins</a:t>
            </a:r>
          </a:p>
          <a:p>
            <a:pPr lvl="1"/>
            <a:r>
              <a:rPr lang="en-US" dirty="0" err="1"/>
              <a:t>EndSegment</a:t>
            </a:r>
            <a:r>
              <a:rPr lang="en-US" dirty="0"/>
              <a:t> – atomic reference to the Segment where the tag ends</a:t>
            </a:r>
          </a:p>
          <a:p>
            <a:pPr lvl="1"/>
            <a:r>
              <a:rPr lang="en-US" dirty="0"/>
              <a:t>Tag – atomic reference to </a:t>
            </a:r>
            <a:r>
              <a:rPr lang="en-US" dirty="0" err="1"/>
              <a:t>CmPossibility</a:t>
            </a:r>
            <a:r>
              <a:rPr lang="en-US" dirty="0"/>
              <a:t> in the Text Markup Tags list.</a:t>
            </a:r>
          </a:p>
          <a:p>
            <a:endParaRPr lang="en-US" dirty="0"/>
          </a:p>
        </p:txBody>
      </p:sp>
    </p:spTree>
    <p:extLst>
      <p:ext uri="{BB962C8B-B14F-4D97-AF65-F5344CB8AC3E}">
        <p14:creationId xmlns:p14="http://schemas.microsoft.com/office/powerpoint/2010/main" val="3651101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Text Tagging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This is how it looks in FLEx</a:t>
            </a:r>
          </a:p>
          <a:p>
            <a:pPr marL="0" indent="0">
              <a:buNone/>
            </a:pPr>
            <a:br>
              <a:rPr lang="en-US" dirty="0"/>
            </a:br>
            <a:br>
              <a:rPr lang="en-US" dirty="0"/>
            </a:br>
            <a:br>
              <a:rPr lang="en-US" dirty="0"/>
            </a:br>
            <a:br>
              <a:rPr lang="en-US" dirty="0"/>
            </a:br>
            <a:br>
              <a:rPr lang="en-US" dirty="0"/>
            </a:br>
            <a:br>
              <a:rPr lang="en-US" dirty="0"/>
            </a:br>
            <a:br>
              <a:rPr lang="en-US" dirty="0"/>
            </a:br>
            <a:endParaRPr lang="en-US" dirty="0"/>
          </a:p>
          <a:p>
            <a:endParaRPr lang="en-US" dirty="0"/>
          </a:p>
        </p:txBody>
      </p:sp>
      <p:pic>
        <p:nvPicPr>
          <p:cNvPr id="7" name="Picture 6">
            <a:extLst>
              <a:ext uri="{FF2B5EF4-FFF2-40B4-BE49-F238E27FC236}">
                <a16:creationId xmlns:a16="http://schemas.microsoft.com/office/drawing/2014/main" id="{9888847B-8909-42C7-9CDF-A028CA2F7E01}"/>
              </a:ext>
            </a:extLst>
          </p:cNvPr>
          <p:cNvPicPr/>
          <p:nvPr/>
        </p:nvPicPr>
        <p:blipFill>
          <a:blip r:embed="rId2"/>
          <a:stretch>
            <a:fillRect/>
          </a:stretch>
        </p:blipFill>
        <p:spPr>
          <a:xfrm>
            <a:off x="3548720" y="1431217"/>
            <a:ext cx="8309251" cy="4871109"/>
          </a:xfrm>
          <a:prstGeom prst="rect">
            <a:avLst/>
          </a:prstGeom>
        </p:spPr>
      </p:pic>
      <p:pic>
        <p:nvPicPr>
          <p:cNvPr id="6" name="Picture 5">
            <a:extLst>
              <a:ext uri="{FF2B5EF4-FFF2-40B4-BE49-F238E27FC236}">
                <a16:creationId xmlns:a16="http://schemas.microsoft.com/office/drawing/2014/main" id="{DACD0900-F6E1-4E08-9A7C-90B64833DC96}"/>
              </a:ext>
            </a:extLst>
          </p:cNvPr>
          <p:cNvPicPr/>
          <p:nvPr/>
        </p:nvPicPr>
        <p:blipFill>
          <a:blip r:embed="rId3"/>
          <a:stretch>
            <a:fillRect/>
          </a:stretch>
        </p:blipFill>
        <p:spPr>
          <a:xfrm>
            <a:off x="178776" y="2446947"/>
            <a:ext cx="3183402" cy="1802567"/>
          </a:xfrm>
          <a:prstGeom prst="rect">
            <a:avLst/>
          </a:prstGeom>
        </p:spPr>
      </p:pic>
    </p:spTree>
    <p:extLst>
      <p:ext uri="{BB962C8B-B14F-4D97-AF65-F5344CB8AC3E}">
        <p14:creationId xmlns:p14="http://schemas.microsoft.com/office/powerpoint/2010/main" val="30694513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Discourse charting</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Interlinear text offers a Text Chart tab that allows a user to add analyses into a discourse chart. The chart structure and markers are in possibility lists that the user can modify to meet their need. Here’s a simple example.</a:t>
            </a:r>
          </a:p>
          <a:p>
            <a:pPr marL="0" indent="0">
              <a:buNone/>
            </a:pPr>
            <a:br>
              <a:rPr lang="en-US" dirty="0"/>
            </a:br>
            <a:br>
              <a:rPr lang="en-US" dirty="0"/>
            </a:br>
            <a:br>
              <a:rPr lang="en-US" dirty="0"/>
            </a:br>
            <a:br>
              <a:rPr lang="en-US" dirty="0"/>
            </a:br>
            <a:br>
              <a:rPr lang="en-US" dirty="0"/>
            </a:br>
            <a:br>
              <a:rPr lang="en-US" dirty="0"/>
            </a:br>
            <a:br>
              <a:rPr lang="en-US" dirty="0"/>
            </a:br>
            <a:endParaRPr lang="en-US" dirty="0"/>
          </a:p>
          <a:p>
            <a:endParaRPr lang="en-US" dirty="0"/>
          </a:p>
        </p:txBody>
      </p:sp>
      <p:pic>
        <p:nvPicPr>
          <p:cNvPr id="8" name="Picture 7">
            <a:extLst>
              <a:ext uri="{FF2B5EF4-FFF2-40B4-BE49-F238E27FC236}">
                <a16:creationId xmlns:a16="http://schemas.microsoft.com/office/drawing/2014/main" id="{E917201D-B62A-4EF3-80FE-5E47617CFC99}"/>
              </a:ext>
            </a:extLst>
          </p:cNvPr>
          <p:cNvPicPr/>
          <p:nvPr/>
        </p:nvPicPr>
        <p:blipFill>
          <a:blip r:embed="rId2"/>
          <a:stretch>
            <a:fillRect/>
          </a:stretch>
        </p:blipFill>
        <p:spPr>
          <a:xfrm>
            <a:off x="1182644" y="2813270"/>
            <a:ext cx="9826712" cy="2856011"/>
          </a:xfrm>
          <a:prstGeom prst="rect">
            <a:avLst/>
          </a:prstGeom>
        </p:spPr>
      </p:pic>
    </p:spTree>
    <p:extLst>
      <p:ext uri="{BB962C8B-B14F-4D97-AF65-F5344CB8AC3E}">
        <p14:creationId xmlns:p14="http://schemas.microsoft.com/office/powerpoint/2010/main" val="3319236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Discourse charting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Preview…</a:t>
            </a:r>
          </a:p>
        </p:txBody>
      </p:sp>
      <p:pic>
        <p:nvPicPr>
          <p:cNvPr id="6" name="Picture 5">
            <a:extLst>
              <a:ext uri="{FF2B5EF4-FFF2-40B4-BE49-F238E27FC236}">
                <a16:creationId xmlns:a16="http://schemas.microsoft.com/office/drawing/2014/main" id="{B131850C-3F92-4FAD-8690-258D7907500C}"/>
              </a:ext>
            </a:extLst>
          </p:cNvPr>
          <p:cNvPicPr/>
          <p:nvPr/>
        </p:nvPicPr>
        <p:blipFill>
          <a:blip r:embed="rId2"/>
          <a:stretch>
            <a:fillRect/>
          </a:stretch>
        </p:blipFill>
        <p:spPr>
          <a:xfrm>
            <a:off x="4203456" y="939800"/>
            <a:ext cx="7150344" cy="5672269"/>
          </a:xfrm>
          <a:prstGeom prst="rect">
            <a:avLst/>
          </a:prstGeom>
        </p:spPr>
      </p:pic>
      <p:pic>
        <p:nvPicPr>
          <p:cNvPr id="7" name="Picture 6">
            <a:extLst>
              <a:ext uri="{FF2B5EF4-FFF2-40B4-BE49-F238E27FC236}">
                <a16:creationId xmlns:a16="http://schemas.microsoft.com/office/drawing/2014/main" id="{5F08D0ED-4C8E-4CD6-BEBC-C5B756E03B36}"/>
              </a:ext>
            </a:extLst>
          </p:cNvPr>
          <p:cNvPicPr/>
          <p:nvPr/>
        </p:nvPicPr>
        <p:blipFill>
          <a:blip r:embed="rId3"/>
          <a:stretch>
            <a:fillRect/>
          </a:stretch>
        </p:blipFill>
        <p:spPr>
          <a:xfrm>
            <a:off x="329858" y="5042984"/>
            <a:ext cx="5398770" cy="1569085"/>
          </a:xfrm>
          <a:prstGeom prst="rect">
            <a:avLst/>
          </a:prstGeom>
        </p:spPr>
      </p:pic>
    </p:spTree>
    <p:extLst>
      <p:ext uri="{BB962C8B-B14F-4D97-AF65-F5344CB8AC3E}">
        <p14:creationId xmlns:p14="http://schemas.microsoft.com/office/powerpoint/2010/main" val="641988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Discourse charting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92500" lnSpcReduction="10000"/>
          </a:bodyPr>
          <a:lstStyle/>
          <a:p>
            <a:r>
              <a:rPr lang="en-US" dirty="0"/>
              <a:t>Text charts are stored in </a:t>
            </a:r>
            <a:r>
              <a:rPr lang="en-US" dirty="0" err="1"/>
              <a:t>DsDiscourseData</a:t>
            </a:r>
            <a:r>
              <a:rPr lang="en-US" dirty="0"/>
              <a:t>, which is owned in the </a:t>
            </a:r>
            <a:r>
              <a:rPr lang="en-US" dirty="0" err="1"/>
              <a:t>DiscourseData</a:t>
            </a:r>
            <a:r>
              <a:rPr lang="en-US" dirty="0"/>
              <a:t> atomic owning property of </a:t>
            </a:r>
            <a:r>
              <a:rPr lang="en-US" dirty="0" err="1"/>
              <a:t>LangProject</a:t>
            </a:r>
            <a:r>
              <a:rPr lang="en-US" dirty="0"/>
              <a:t>. </a:t>
            </a:r>
            <a:r>
              <a:rPr lang="en-US" dirty="0" err="1"/>
              <a:t>DsDiscourseData</a:t>
            </a:r>
            <a:r>
              <a:rPr lang="en-US" dirty="0"/>
              <a:t> owns two </a:t>
            </a:r>
            <a:r>
              <a:rPr lang="en-US" dirty="0" err="1"/>
              <a:t>CmPossibilityList</a:t>
            </a:r>
            <a:r>
              <a:rPr lang="en-US" dirty="0"/>
              <a:t> objects.</a:t>
            </a:r>
          </a:p>
          <a:p>
            <a:pPr lvl="1"/>
            <a:r>
              <a:rPr lang="en-US" dirty="0"/>
              <a:t>The “Text Constituent Chart Templates” list is owned in the </a:t>
            </a:r>
            <a:r>
              <a:rPr lang="en-US" dirty="0" err="1"/>
              <a:t>ConstChartTempl</a:t>
            </a:r>
            <a:r>
              <a:rPr lang="en-US" dirty="0"/>
              <a:t> atomic owning property and defines the chart structure. This list is hierarchical. The top level is the name of a type of chart. The only one by default is “Default Template”. The second level defines the primary level of columns and headers (Pre-nuclear, Nucleus, and Post-nuclear) separated by black lines. The third level defines secondary columns and headers. (e.g., Nucleus has Subject, Verb, and Object/Complement items) separated by gray lines.</a:t>
            </a:r>
          </a:p>
          <a:p>
            <a:pPr lvl="1"/>
            <a:r>
              <a:rPr lang="en-US" dirty="0"/>
              <a:t>The “Text Chart Markers” list is owned in the </a:t>
            </a:r>
            <a:r>
              <a:rPr lang="en-US" dirty="0" err="1"/>
              <a:t>ChartMarkers</a:t>
            </a:r>
            <a:r>
              <a:rPr lang="en-US" dirty="0"/>
              <a:t> atomic owning property and defines submenus for the right-click menu within cells to mark special features. This list is also hierarchical. The top level defines a right-click subitem. The defaults are </a:t>
            </a:r>
            <a:r>
              <a:rPr lang="en-US" dirty="0" err="1"/>
              <a:t>TenseAspectMood</a:t>
            </a:r>
            <a:r>
              <a:rPr lang="en-US" dirty="0"/>
              <a:t>, Pronouns, and Demonstratives. Lower levels provide actual markers.</a:t>
            </a:r>
          </a:p>
          <a:p>
            <a:r>
              <a:rPr lang="en-US" dirty="0" err="1"/>
              <a:t>DsDiscourseData</a:t>
            </a:r>
            <a:r>
              <a:rPr lang="en-US" dirty="0"/>
              <a:t> also has a Charts owning collection that owns </a:t>
            </a:r>
            <a:r>
              <a:rPr lang="en-US" dirty="0" err="1"/>
              <a:t>DsChart</a:t>
            </a:r>
            <a:r>
              <a:rPr lang="en-US" dirty="0"/>
              <a:t> objects. </a:t>
            </a:r>
            <a:r>
              <a:rPr lang="en-US" dirty="0" err="1"/>
              <a:t>DsChart</a:t>
            </a:r>
            <a:r>
              <a:rPr lang="en-US" dirty="0"/>
              <a:t> is a subclass of </a:t>
            </a:r>
            <a:r>
              <a:rPr lang="en-US" dirty="0" err="1"/>
              <a:t>CmMajorObject</a:t>
            </a:r>
            <a:r>
              <a:rPr lang="en-US" dirty="0"/>
              <a:t>, and both of these are abstract. The only actual subclass that is available is </a:t>
            </a:r>
            <a:r>
              <a:rPr lang="en-US" dirty="0" err="1"/>
              <a:t>DsConstChart</a:t>
            </a:r>
            <a:r>
              <a:rPr lang="en-US" dirty="0"/>
              <a:t>.</a:t>
            </a:r>
          </a:p>
          <a:p>
            <a:pPr lvl="1"/>
            <a:endParaRPr lang="en-US" dirty="0"/>
          </a:p>
          <a:p>
            <a:endParaRPr lang="en-US" dirty="0"/>
          </a:p>
        </p:txBody>
      </p:sp>
    </p:spTree>
    <p:extLst>
      <p:ext uri="{BB962C8B-B14F-4D97-AF65-F5344CB8AC3E}">
        <p14:creationId xmlns:p14="http://schemas.microsoft.com/office/powerpoint/2010/main" val="2255882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Discourse charting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185060" y="939800"/>
            <a:ext cx="10069283" cy="5681133"/>
          </a:xfrm>
        </p:spPr>
        <p:txBody>
          <a:bodyPr>
            <a:normAutofit fontScale="92500" lnSpcReduction="10000"/>
          </a:bodyPr>
          <a:lstStyle/>
          <a:p>
            <a:r>
              <a:rPr lang="en-US" dirty="0" err="1"/>
              <a:t>DsConstChart</a:t>
            </a:r>
            <a:r>
              <a:rPr lang="en-US" dirty="0"/>
              <a:t> has</a:t>
            </a:r>
          </a:p>
          <a:p>
            <a:pPr lvl="1"/>
            <a:r>
              <a:rPr lang="en-US" dirty="0"/>
              <a:t>Template – atomic reference to </a:t>
            </a:r>
            <a:r>
              <a:rPr lang="en-US" dirty="0" err="1"/>
              <a:t>CmPossibility</a:t>
            </a:r>
            <a:r>
              <a:rPr lang="en-US" dirty="0"/>
              <a:t>. This is one of the top possibilities in the “Text Constituent Chart Templates” list. In this example, it is the “Default Template” item. This is the item that defines the columns for this chart.</a:t>
            </a:r>
          </a:p>
          <a:p>
            <a:pPr lvl="1"/>
            <a:r>
              <a:rPr lang="en-US" dirty="0" err="1"/>
              <a:t>BasedOn</a:t>
            </a:r>
            <a:r>
              <a:rPr lang="en-US" dirty="0"/>
              <a:t> – atomic reference to </a:t>
            </a:r>
            <a:r>
              <a:rPr lang="en-US" dirty="0" err="1"/>
              <a:t>StText</a:t>
            </a:r>
            <a:r>
              <a:rPr lang="en-US" dirty="0"/>
              <a:t>. This is owned by the Text being charted.</a:t>
            </a:r>
          </a:p>
          <a:p>
            <a:pPr lvl="1"/>
            <a:r>
              <a:rPr lang="en-US" dirty="0"/>
              <a:t>Rows – owning sequence of </a:t>
            </a:r>
            <a:r>
              <a:rPr lang="en-US" dirty="0" err="1"/>
              <a:t>ConstChartRow</a:t>
            </a:r>
            <a:r>
              <a:rPr lang="en-US" dirty="0"/>
              <a:t> objects. There is one </a:t>
            </a:r>
            <a:r>
              <a:rPr lang="en-US" dirty="0" err="1"/>
              <a:t>ConstChartRow</a:t>
            </a:r>
            <a:r>
              <a:rPr lang="en-US" dirty="0"/>
              <a:t> object for each row in the chart. A row corresponds to a </a:t>
            </a:r>
            <a:r>
              <a:rPr lang="en-US" dirty="0" err="1"/>
              <a:t>StTextPara</a:t>
            </a:r>
            <a:r>
              <a:rPr lang="en-US" dirty="0"/>
              <a:t> and is shown in black lines and numbers on the left designating the paragraph number.</a:t>
            </a:r>
          </a:p>
          <a:p>
            <a:r>
              <a:rPr lang="en-US" dirty="0" err="1"/>
              <a:t>ConstChartRow</a:t>
            </a:r>
            <a:r>
              <a:rPr lang="en-US" dirty="0"/>
              <a:t> has</a:t>
            </a:r>
          </a:p>
          <a:p>
            <a:pPr lvl="1"/>
            <a:r>
              <a:rPr lang="en-US" dirty="0"/>
              <a:t>Label – String containing the paragraph number and possible letters when there are sub-rows within the row.</a:t>
            </a:r>
          </a:p>
          <a:p>
            <a:pPr lvl="1"/>
            <a:r>
              <a:rPr lang="en-US" dirty="0"/>
              <a:t>Cells – owning sequence of </a:t>
            </a:r>
            <a:r>
              <a:rPr lang="en-US" dirty="0" err="1"/>
              <a:t>ConstituentChartCellPart</a:t>
            </a:r>
            <a:r>
              <a:rPr lang="en-US" dirty="0"/>
              <a:t> which is abstract. Possibilities include</a:t>
            </a:r>
          </a:p>
          <a:p>
            <a:pPr lvl="2"/>
            <a:r>
              <a:rPr lang="en-US" dirty="0" err="1"/>
              <a:t>ConstChartClauseMarker</a:t>
            </a:r>
            <a:r>
              <a:rPr lang="en-US" dirty="0"/>
              <a:t> – controls dependent clauses.</a:t>
            </a:r>
          </a:p>
          <a:p>
            <a:pPr lvl="2"/>
            <a:r>
              <a:rPr lang="en-US" dirty="0" err="1"/>
              <a:t>ConstChartMovedTextMarker</a:t>
            </a:r>
            <a:r>
              <a:rPr lang="en-US" dirty="0"/>
              <a:t> – allows word groups to be moved to a different location.</a:t>
            </a:r>
          </a:p>
          <a:p>
            <a:pPr lvl="2"/>
            <a:r>
              <a:rPr lang="en-US" dirty="0" err="1"/>
              <a:t>ConstChartTag</a:t>
            </a:r>
            <a:r>
              <a:rPr lang="en-US" dirty="0"/>
              <a:t> – inserts a tag before or after a column</a:t>
            </a:r>
          </a:p>
          <a:p>
            <a:pPr lvl="2"/>
            <a:r>
              <a:rPr lang="en-US" dirty="0" err="1"/>
              <a:t>ConstChartWordGroup</a:t>
            </a:r>
            <a:r>
              <a:rPr lang="en-US" dirty="0"/>
              <a:t> – groups 1 or more Wordforms into a cell.</a:t>
            </a:r>
          </a:p>
          <a:p>
            <a:pPr lvl="1"/>
            <a:r>
              <a:rPr lang="en-US" dirty="0"/>
              <a:t>Notes – String for compiler notes.</a:t>
            </a:r>
          </a:p>
          <a:p>
            <a:endParaRPr lang="en-US" dirty="0"/>
          </a:p>
          <a:p>
            <a:endParaRPr lang="en-US" dirty="0"/>
          </a:p>
        </p:txBody>
      </p:sp>
      <p:pic>
        <p:nvPicPr>
          <p:cNvPr id="2" name="Picture 1">
            <a:extLst>
              <a:ext uri="{FF2B5EF4-FFF2-40B4-BE49-F238E27FC236}">
                <a16:creationId xmlns:a16="http://schemas.microsoft.com/office/drawing/2014/main" id="{16B7F459-4767-49EB-B9BF-68E8965EC9EF}"/>
              </a:ext>
            </a:extLst>
          </p:cNvPr>
          <p:cNvPicPr>
            <a:picLocks noChangeAspect="1"/>
          </p:cNvPicPr>
          <p:nvPr/>
        </p:nvPicPr>
        <p:blipFill>
          <a:blip r:embed="rId2"/>
          <a:stretch>
            <a:fillRect/>
          </a:stretch>
        </p:blipFill>
        <p:spPr>
          <a:xfrm>
            <a:off x="10127001" y="1209600"/>
            <a:ext cx="1648055" cy="1066949"/>
          </a:xfrm>
          <a:prstGeom prst="rect">
            <a:avLst/>
          </a:prstGeom>
        </p:spPr>
      </p:pic>
      <p:pic>
        <p:nvPicPr>
          <p:cNvPr id="3" name="Picture 2">
            <a:extLst>
              <a:ext uri="{FF2B5EF4-FFF2-40B4-BE49-F238E27FC236}">
                <a16:creationId xmlns:a16="http://schemas.microsoft.com/office/drawing/2014/main" id="{B1C3EB66-29B4-4A78-A93D-F3F5BD2673D2}"/>
              </a:ext>
            </a:extLst>
          </p:cNvPr>
          <p:cNvPicPr>
            <a:picLocks noChangeAspect="1"/>
          </p:cNvPicPr>
          <p:nvPr/>
        </p:nvPicPr>
        <p:blipFill>
          <a:blip r:embed="rId3"/>
          <a:stretch>
            <a:fillRect/>
          </a:stretch>
        </p:blipFill>
        <p:spPr>
          <a:xfrm>
            <a:off x="10123988" y="4202496"/>
            <a:ext cx="1781424" cy="1000265"/>
          </a:xfrm>
          <a:prstGeom prst="rect">
            <a:avLst/>
          </a:prstGeom>
        </p:spPr>
      </p:pic>
    </p:spTree>
    <p:extLst>
      <p:ext uri="{BB962C8B-B14F-4D97-AF65-F5344CB8AC3E}">
        <p14:creationId xmlns:p14="http://schemas.microsoft.com/office/powerpoint/2010/main" val="4150536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Discourse charting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472441" y="939800"/>
            <a:ext cx="5958399" cy="5681133"/>
          </a:xfrm>
        </p:spPr>
        <p:txBody>
          <a:bodyPr>
            <a:normAutofit fontScale="92500"/>
          </a:bodyPr>
          <a:lstStyle/>
          <a:p>
            <a:r>
              <a:rPr lang="en-US" dirty="0"/>
              <a:t>A “Fake chart parts” example text that makes no linguistic sense, but demonstrates the remaining </a:t>
            </a:r>
            <a:r>
              <a:rPr lang="en-US" dirty="0" err="1"/>
              <a:t>ConstituentChartCellPart</a:t>
            </a:r>
            <a:r>
              <a:rPr lang="en-US" dirty="0"/>
              <a:t> classes looks like this in the sample project.</a:t>
            </a:r>
          </a:p>
          <a:p>
            <a:r>
              <a:rPr lang="en-US" dirty="0"/>
              <a:t>This chart was created with baseline ‘garçon </a:t>
            </a:r>
            <a:r>
              <a:rPr lang="en-US" dirty="0" err="1"/>
              <a:t>voit</a:t>
            </a:r>
            <a:r>
              <a:rPr lang="en-US" dirty="0"/>
              <a:t> lion.’, and bringing ‘garçon’ into the Subject column, ‘</a:t>
            </a:r>
            <a:r>
              <a:rPr lang="en-US" dirty="0" err="1"/>
              <a:t>voit</a:t>
            </a:r>
            <a:r>
              <a:rPr lang="en-US" dirty="0"/>
              <a:t>’ into the Verb column, and ‘lion’ into the Subject column. Right-click ‘garçon’ and choose Mark as Postposed from &gt; Outer. Right-click ‘garçon’ again and choose Mark </a:t>
            </a:r>
            <a:r>
              <a:rPr lang="en-US" dirty="0" err="1"/>
              <a:t>TenseAspectMood</a:t>
            </a:r>
            <a:r>
              <a:rPr lang="en-US" dirty="0"/>
              <a:t> &gt; Timeless &gt; Timeless. Right-click ‘</a:t>
            </a:r>
            <a:r>
              <a:rPr lang="en-US" dirty="0" err="1"/>
              <a:t>voit</a:t>
            </a:r>
            <a:r>
              <a:rPr lang="en-US" dirty="0"/>
              <a:t>’ and choose Make a Dependent Clause out of &gt; Next Clause.</a:t>
            </a:r>
          </a:p>
          <a:p>
            <a:endParaRPr lang="en-US" dirty="0"/>
          </a:p>
          <a:p>
            <a:endParaRPr lang="en-US" dirty="0"/>
          </a:p>
          <a:p>
            <a:endParaRPr lang="en-US" dirty="0"/>
          </a:p>
        </p:txBody>
      </p:sp>
      <p:pic>
        <p:nvPicPr>
          <p:cNvPr id="6" name="Picture 5">
            <a:extLst>
              <a:ext uri="{FF2B5EF4-FFF2-40B4-BE49-F238E27FC236}">
                <a16:creationId xmlns:a16="http://schemas.microsoft.com/office/drawing/2014/main" id="{E9E9439F-2ABB-4CFC-A9B4-44F6FCEF23FB}"/>
              </a:ext>
            </a:extLst>
          </p:cNvPr>
          <p:cNvPicPr/>
          <p:nvPr/>
        </p:nvPicPr>
        <p:blipFill>
          <a:blip r:embed="rId2"/>
          <a:stretch>
            <a:fillRect/>
          </a:stretch>
        </p:blipFill>
        <p:spPr>
          <a:xfrm>
            <a:off x="6430840" y="1588331"/>
            <a:ext cx="5761160" cy="3925528"/>
          </a:xfrm>
          <a:prstGeom prst="rect">
            <a:avLst/>
          </a:prstGeom>
        </p:spPr>
      </p:pic>
    </p:spTree>
    <p:extLst>
      <p:ext uri="{BB962C8B-B14F-4D97-AF65-F5344CB8AC3E}">
        <p14:creationId xmlns:p14="http://schemas.microsoft.com/office/powerpoint/2010/main" val="2236605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Discourse charting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Preview…</a:t>
            </a:r>
          </a:p>
          <a:p>
            <a:endParaRPr lang="en-US" dirty="0"/>
          </a:p>
        </p:txBody>
      </p:sp>
      <p:pic>
        <p:nvPicPr>
          <p:cNvPr id="7" name="Picture 6">
            <a:extLst>
              <a:ext uri="{FF2B5EF4-FFF2-40B4-BE49-F238E27FC236}">
                <a16:creationId xmlns:a16="http://schemas.microsoft.com/office/drawing/2014/main" id="{5141534C-7819-41FF-9982-987C305FCA20}"/>
              </a:ext>
            </a:extLst>
          </p:cNvPr>
          <p:cNvPicPr/>
          <p:nvPr/>
        </p:nvPicPr>
        <p:blipFill>
          <a:blip r:embed="rId2"/>
          <a:stretch>
            <a:fillRect/>
          </a:stretch>
        </p:blipFill>
        <p:spPr>
          <a:xfrm>
            <a:off x="0" y="2872678"/>
            <a:ext cx="4187407" cy="2853207"/>
          </a:xfrm>
          <a:prstGeom prst="rect">
            <a:avLst/>
          </a:prstGeom>
        </p:spPr>
      </p:pic>
      <p:pic>
        <p:nvPicPr>
          <p:cNvPr id="2" name="Picture 1">
            <a:extLst>
              <a:ext uri="{FF2B5EF4-FFF2-40B4-BE49-F238E27FC236}">
                <a16:creationId xmlns:a16="http://schemas.microsoft.com/office/drawing/2014/main" id="{7E9992A2-7414-4799-B0F3-7685E089CCD5}"/>
              </a:ext>
            </a:extLst>
          </p:cNvPr>
          <p:cNvPicPr>
            <a:picLocks noChangeAspect="1"/>
          </p:cNvPicPr>
          <p:nvPr/>
        </p:nvPicPr>
        <p:blipFill>
          <a:blip r:embed="rId3"/>
          <a:stretch>
            <a:fillRect/>
          </a:stretch>
        </p:blipFill>
        <p:spPr>
          <a:xfrm>
            <a:off x="4522908" y="788654"/>
            <a:ext cx="6942261" cy="6011746"/>
          </a:xfrm>
          <a:prstGeom prst="rect">
            <a:avLst/>
          </a:prstGeom>
        </p:spPr>
      </p:pic>
    </p:spTree>
    <p:extLst>
      <p:ext uri="{BB962C8B-B14F-4D97-AF65-F5344CB8AC3E}">
        <p14:creationId xmlns:p14="http://schemas.microsoft.com/office/powerpoint/2010/main" val="3489296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Interlinear: Discourse charting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315684" y="939800"/>
            <a:ext cx="8327571" cy="5681133"/>
          </a:xfrm>
        </p:spPr>
        <p:txBody>
          <a:bodyPr>
            <a:normAutofit fontScale="70000" lnSpcReduction="20000"/>
          </a:bodyPr>
          <a:lstStyle/>
          <a:p>
            <a:r>
              <a:rPr lang="en-US" dirty="0"/>
              <a:t>(pink) When you right-click a cell and choose “Mark as </a:t>
            </a:r>
            <a:r>
              <a:rPr lang="en-US" dirty="0" err="1"/>
              <a:t>Preposed</a:t>
            </a:r>
            <a:r>
              <a:rPr lang="en-US" dirty="0"/>
              <a:t> from” or “Mark as Postposed from”, and choose a target column, a </a:t>
            </a:r>
            <a:r>
              <a:rPr lang="en-US" dirty="0" err="1"/>
              <a:t>ConstChartMovedTextMarker</a:t>
            </a:r>
            <a:r>
              <a:rPr lang="en-US" dirty="0"/>
              <a:t> object (e.g., 917e) is placed in the target column. It has a Column property that references the target column </a:t>
            </a:r>
            <a:r>
              <a:rPr lang="en-US" dirty="0" err="1"/>
              <a:t>CmPossibility</a:t>
            </a:r>
            <a:r>
              <a:rPr lang="en-US" dirty="0"/>
              <a:t>, and a </a:t>
            </a:r>
            <a:r>
              <a:rPr lang="en-US" dirty="0" err="1"/>
              <a:t>WordGroup</a:t>
            </a:r>
            <a:r>
              <a:rPr lang="en-US" dirty="0"/>
              <a:t> property that references the source word group from which you gave the command. FLEx adds two wedges in red in the target cell, and it shows the source cell in red.</a:t>
            </a:r>
          </a:p>
          <a:p>
            <a:r>
              <a:rPr lang="en-US" dirty="0"/>
              <a:t>(yellow) When you right-click a cell and choose one of the last 3 menu items (Mark </a:t>
            </a:r>
            <a:r>
              <a:rPr lang="en-US" dirty="0" err="1"/>
              <a:t>TenseAspectMood</a:t>
            </a:r>
            <a:r>
              <a:rPr lang="en-US" dirty="0"/>
              <a:t>, Mark Pronouns, or Mark Demonstratives) and pick a subitem, a </a:t>
            </a:r>
            <a:r>
              <a:rPr lang="en-US" dirty="0" err="1"/>
              <a:t>ConstChartTag</a:t>
            </a:r>
            <a:r>
              <a:rPr lang="en-US" dirty="0"/>
              <a:t> object (e.g. f037) is inserted in the current cell. It has a Column property that references the current column </a:t>
            </a:r>
            <a:r>
              <a:rPr lang="en-US" dirty="0" err="1"/>
              <a:t>CmPossibility</a:t>
            </a:r>
            <a:r>
              <a:rPr lang="en-US" dirty="0"/>
              <a:t>, and a Tag property that references the selected </a:t>
            </a:r>
            <a:r>
              <a:rPr lang="en-US" dirty="0" err="1"/>
              <a:t>CmPossibility</a:t>
            </a:r>
            <a:r>
              <a:rPr lang="en-US" dirty="0"/>
              <a:t> from the Text Chart Markers list. FLEx adds the </a:t>
            </a:r>
            <a:r>
              <a:rPr lang="en-US" dirty="0" err="1"/>
              <a:t>CmPossibility</a:t>
            </a:r>
            <a:r>
              <a:rPr lang="en-US" dirty="0"/>
              <a:t> name in parentheses in a different color (e.g., Timeless).</a:t>
            </a:r>
          </a:p>
          <a:p>
            <a:r>
              <a:rPr lang="en-US" dirty="0"/>
              <a:t>(blue) Clauses are in a sub-row by themselves. When you right-click a cell in one sub-row, you can choose one of the ‘Make a &lt;Type&gt; Clause out of’ menu items, you can choose the next or previous clause, a </a:t>
            </a:r>
            <a:r>
              <a:rPr lang="en-US" dirty="0" err="1"/>
              <a:t>ConstChartClauseMarker</a:t>
            </a:r>
            <a:r>
              <a:rPr lang="en-US" dirty="0"/>
              <a:t> object (e.g., 34ea) is inserted in the source cell. It has a Column property referencing a source column </a:t>
            </a:r>
            <a:r>
              <a:rPr lang="en-US" dirty="0" err="1"/>
              <a:t>CmPossibililty</a:t>
            </a:r>
            <a:r>
              <a:rPr lang="en-US" dirty="0"/>
              <a:t>, and a </a:t>
            </a:r>
            <a:r>
              <a:rPr lang="en-US" dirty="0" err="1"/>
              <a:t>DependentClauses</a:t>
            </a:r>
            <a:r>
              <a:rPr lang="en-US" dirty="0"/>
              <a:t> property that references the </a:t>
            </a:r>
            <a:r>
              <a:rPr lang="en-US" dirty="0" err="1"/>
              <a:t>ConstChartRow</a:t>
            </a:r>
            <a:r>
              <a:rPr lang="en-US" dirty="0"/>
              <a:t> that contains the clause. FLEx puts square brackets around the clause, and in the source cell it adds the target row label in square brackets.</a:t>
            </a:r>
          </a:p>
          <a:p>
            <a:endParaRPr lang="en-US" dirty="0"/>
          </a:p>
        </p:txBody>
      </p:sp>
      <p:pic>
        <p:nvPicPr>
          <p:cNvPr id="2" name="Picture 1">
            <a:extLst>
              <a:ext uri="{FF2B5EF4-FFF2-40B4-BE49-F238E27FC236}">
                <a16:creationId xmlns:a16="http://schemas.microsoft.com/office/drawing/2014/main" id="{E6DBE609-F9FA-4DDE-8A98-98EA7C0D617B}"/>
              </a:ext>
            </a:extLst>
          </p:cNvPr>
          <p:cNvPicPr>
            <a:picLocks noChangeAspect="1"/>
          </p:cNvPicPr>
          <p:nvPr/>
        </p:nvPicPr>
        <p:blipFill>
          <a:blip r:embed="rId2"/>
          <a:stretch>
            <a:fillRect/>
          </a:stretch>
        </p:blipFill>
        <p:spPr>
          <a:xfrm>
            <a:off x="8789180" y="939800"/>
            <a:ext cx="2993574" cy="1323919"/>
          </a:xfrm>
          <a:prstGeom prst="rect">
            <a:avLst/>
          </a:prstGeom>
        </p:spPr>
      </p:pic>
      <p:pic>
        <p:nvPicPr>
          <p:cNvPr id="3" name="Picture 2">
            <a:extLst>
              <a:ext uri="{FF2B5EF4-FFF2-40B4-BE49-F238E27FC236}">
                <a16:creationId xmlns:a16="http://schemas.microsoft.com/office/drawing/2014/main" id="{3F381D50-86E5-4D5E-ACAE-991205FBBDF4}"/>
              </a:ext>
            </a:extLst>
          </p:cNvPr>
          <p:cNvPicPr>
            <a:picLocks noChangeAspect="1"/>
          </p:cNvPicPr>
          <p:nvPr/>
        </p:nvPicPr>
        <p:blipFill>
          <a:blip r:embed="rId3"/>
          <a:stretch>
            <a:fillRect/>
          </a:stretch>
        </p:blipFill>
        <p:spPr>
          <a:xfrm>
            <a:off x="8643255" y="2517362"/>
            <a:ext cx="3478269" cy="1099264"/>
          </a:xfrm>
          <a:prstGeom prst="rect">
            <a:avLst/>
          </a:prstGeom>
        </p:spPr>
      </p:pic>
      <p:pic>
        <p:nvPicPr>
          <p:cNvPr id="6" name="Picture 5">
            <a:extLst>
              <a:ext uri="{FF2B5EF4-FFF2-40B4-BE49-F238E27FC236}">
                <a16:creationId xmlns:a16="http://schemas.microsoft.com/office/drawing/2014/main" id="{DB065896-95EE-41D3-B470-EAA7ECDEAFE3}"/>
              </a:ext>
            </a:extLst>
          </p:cNvPr>
          <p:cNvPicPr>
            <a:picLocks noChangeAspect="1"/>
          </p:cNvPicPr>
          <p:nvPr/>
        </p:nvPicPr>
        <p:blipFill>
          <a:blip r:embed="rId4"/>
          <a:stretch>
            <a:fillRect/>
          </a:stretch>
        </p:blipFill>
        <p:spPr>
          <a:xfrm>
            <a:off x="8815888" y="4414773"/>
            <a:ext cx="3305636" cy="924054"/>
          </a:xfrm>
          <a:prstGeom prst="rect">
            <a:avLst/>
          </a:prstGeom>
        </p:spPr>
      </p:pic>
    </p:spTree>
    <p:extLst>
      <p:ext uri="{BB962C8B-B14F-4D97-AF65-F5344CB8AC3E}">
        <p14:creationId xmlns:p14="http://schemas.microsoft.com/office/powerpoint/2010/main" val="1941723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Interlinear: Scripture</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FieldWorks used to have a Translation Editor program for working on Scripture. Development on TE was stopped when we chose to help develop and work with </a:t>
            </a:r>
            <a:r>
              <a:rPr lang="en-US" dirty="0" err="1"/>
              <a:t>Paratext</a:t>
            </a:r>
            <a:r>
              <a:rPr lang="en-US" dirty="0"/>
              <a:t> for Scripture editing.</a:t>
            </a:r>
          </a:p>
          <a:p>
            <a:r>
              <a:rPr lang="en-US" dirty="0"/>
              <a:t>The last version of FieldWorks with TE was FW8.3.12.</a:t>
            </a:r>
          </a:p>
          <a:p>
            <a:r>
              <a:rPr lang="en-US" dirty="0"/>
              <a:t>Although FieldWorks no longer allows editing scripture text, when a </a:t>
            </a:r>
            <a:r>
              <a:rPr lang="en-US" dirty="0" err="1"/>
              <a:t>Paratext</a:t>
            </a:r>
            <a:r>
              <a:rPr lang="en-US" dirty="0"/>
              <a:t> project is associated with a FLEx project, books from </a:t>
            </a:r>
            <a:r>
              <a:rPr lang="en-US" dirty="0" err="1"/>
              <a:t>Paratext</a:t>
            </a:r>
            <a:r>
              <a:rPr lang="en-US" dirty="0"/>
              <a:t> can be imported into FLEx. The data shows up as interlinear texts.</a:t>
            </a:r>
          </a:p>
          <a:p>
            <a:r>
              <a:rPr lang="en-US" dirty="0"/>
              <a:t>Interlinear analysis can be done on imported scripture, but FLEx does not provide any capability for editing or deleting the imported scripture. If you need to remove scripture from a project, you can use LCM Browser to delete the </a:t>
            </a:r>
            <a:r>
              <a:rPr lang="en-US" dirty="0" err="1"/>
              <a:t>ScrBook</a:t>
            </a:r>
            <a:r>
              <a:rPr lang="en-US" dirty="0"/>
              <a:t> objects.</a:t>
            </a:r>
          </a:p>
        </p:txBody>
      </p:sp>
    </p:spTree>
    <p:extLst>
      <p:ext uri="{BB962C8B-B14F-4D97-AF65-F5344CB8AC3E}">
        <p14:creationId xmlns:p14="http://schemas.microsoft.com/office/powerpoint/2010/main" val="958768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53E3CE-9807-479A-B63A-193E5A4BC6AA}"/>
              </a:ext>
            </a:extLst>
          </p:cNvPr>
          <p:cNvPicPr/>
          <p:nvPr/>
        </p:nvPicPr>
        <p:blipFill>
          <a:blip r:embed="rId2"/>
          <a:stretch>
            <a:fillRect/>
          </a:stretch>
        </p:blipFill>
        <p:spPr>
          <a:xfrm>
            <a:off x="3126007" y="1299934"/>
            <a:ext cx="7029091" cy="5421541"/>
          </a:xfrm>
          <a:prstGeom prst="rect">
            <a:avLst/>
          </a:prstGeom>
        </p:spPr>
      </p:pic>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Interlinear: Scripture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This is how a section of Titus from the LS1910 French public domain Bible looks in </a:t>
            </a:r>
            <a:r>
              <a:rPr lang="en-US" dirty="0" err="1"/>
              <a:t>Paratext</a:t>
            </a:r>
            <a:r>
              <a:rPr lang="en-US" dirty="0"/>
              <a:t>.</a:t>
            </a:r>
          </a:p>
        </p:txBody>
      </p:sp>
    </p:spTree>
    <p:extLst>
      <p:ext uri="{BB962C8B-B14F-4D97-AF65-F5344CB8AC3E}">
        <p14:creationId xmlns:p14="http://schemas.microsoft.com/office/powerpoint/2010/main" val="4224573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Interlinear: Scripture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This section shows up in FLEx as 4 Texts</a:t>
            </a:r>
          </a:p>
        </p:txBody>
      </p:sp>
      <p:pic>
        <p:nvPicPr>
          <p:cNvPr id="9" name="Picture 8">
            <a:extLst>
              <a:ext uri="{FF2B5EF4-FFF2-40B4-BE49-F238E27FC236}">
                <a16:creationId xmlns:a16="http://schemas.microsoft.com/office/drawing/2014/main" id="{ABCF1347-2700-4C04-9D87-D2F21FE3EAC7}"/>
              </a:ext>
            </a:extLst>
          </p:cNvPr>
          <p:cNvPicPr/>
          <p:nvPr/>
        </p:nvPicPr>
        <p:blipFill>
          <a:blip r:embed="rId2"/>
          <a:stretch>
            <a:fillRect/>
          </a:stretch>
        </p:blipFill>
        <p:spPr>
          <a:xfrm>
            <a:off x="5655211" y="1377020"/>
            <a:ext cx="5401085" cy="3426313"/>
          </a:xfrm>
          <a:prstGeom prst="rect">
            <a:avLst/>
          </a:prstGeom>
        </p:spPr>
      </p:pic>
      <p:pic>
        <p:nvPicPr>
          <p:cNvPr id="10" name="Picture 9">
            <a:extLst>
              <a:ext uri="{FF2B5EF4-FFF2-40B4-BE49-F238E27FC236}">
                <a16:creationId xmlns:a16="http://schemas.microsoft.com/office/drawing/2014/main" id="{6EE01C1B-598D-4832-99CA-08AF72FBE1D6}"/>
              </a:ext>
            </a:extLst>
          </p:cNvPr>
          <p:cNvPicPr/>
          <p:nvPr/>
        </p:nvPicPr>
        <p:blipFill>
          <a:blip r:embed="rId3"/>
          <a:stretch>
            <a:fillRect/>
          </a:stretch>
        </p:blipFill>
        <p:spPr>
          <a:xfrm>
            <a:off x="853440" y="4371046"/>
            <a:ext cx="3711474" cy="2126079"/>
          </a:xfrm>
          <a:prstGeom prst="rect">
            <a:avLst/>
          </a:prstGeom>
        </p:spPr>
      </p:pic>
      <p:pic>
        <p:nvPicPr>
          <p:cNvPr id="11" name="Picture 10">
            <a:extLst>
              <a:ext uri="{FF2B5EF4-FFF2-40B4-BE49-F238E27FC236}">
                <a16:creationId xmlns:a16="http://schemas.microsoft.com/office/drawing/2014/main" id="{BA70266A-BE73-48B1-97E5-C06E67A7DF97}"/>
              </a:ext>
            </a:extLst>
          </p:cNvPr>
          <p:cNvPicPr/>
          <p:nvPr/>
        </p:nvPicPr>
        <p:blipFill>
          <a:blip r:embed="rId4"/>
          <a:stretch>
            <a:fillRect/>
          </a:stretch>
        </p:blipFill>
        <p:spPr>
          <a:xfrm>
            <a:off x="5589031" y="5050950"/>
            <a:ext cx="4076113" cy="1569983"/>
          </a:xfrm>
          <a:prstGeom prst="rect">
            <a:avLst/>
          </a:prstGeom>
        </p:spPr>
      </p:pic>
      <p:pic>
        <p:nvPicPr>
          <p:cNvPr id="2" name="Picture 1">
            <a:extLst>
              <a:ext uri="{FF2B5EF4-FFF2-40B4-BE49-F238E27FC236}">
                <a16:creationId xmlns:a16="http://schemas.microsoft.com/office/drawing/2014/main" id="{6F2BF55F-32DA-47CD-8411-9469F84ECE97}"/>
              </a:ext>
            </a:extLst>
          </p:cNvPr>
          <p:cNvPicPr>
            <a:picLocks noChangeAspect="1"/>
          </p:cNvPicPr>
          <p:nvPr/>
        </p:nvPicPr>
        <p:blipFill>
          <a:blip r:embed="rId5"/>
          <a:stretch>
            <a:fillRect/>
          </a:stretch>
        </p:blipFill>
        <p:spPr>
          <a:xfrm>
            <a:off x="944909" y="1430207"/>
            <a:ext cx="4183422" cy="2543080"/>
          </a:xfrm>
          <a:prstGeom prst="rect">
            <a:avLst/>
          </a:prstGeom>
        </p:spPr>
      </p:pic>
    </p:spTree>
    <p:extLst>
      <p:ext uri="{BB962C8B-B14F-4D97-AF65-F5344CB8AC3E}">
        <p14:creationId xmlns:p14="http://schemas.microsoft.com/office/powerpoint/2010/main" val="718289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Interlinear: Scripture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fontScale="92500" lnSpcReduction="20000"/>
          </a:bodyPr>
          <a:lstStyle/>
          <a:p>
            <a:r>
              <a:rPr lang="en-US" dirty="0" err="1"/>
              <a:t>LangProject</a:t>
            </a:r>
            <a:r>
              <a:rPr lang="en-US" dirty="0"/>
              <a:t> has a </a:t>
            </a:r>
            <a:r>
              <a:rPr lang="en-US" dirty="0" err="1"/>
              <a:t>TranslatedScriptures</a:t>
            </a:r>
            <a:r>
              <a:rPr lang="en-US" dirty="0"/>
              <a:t> atomic owning attribute that owns a Scripture object. Scripture has various properties that are no longer used, but it has an owning sequence of </a:t>
            </a:r>
            <a:r>
              <a:rPr lang="en-US" dirty="0" err="1"/>
              <a:t>ScrBooks</a:t>
            </a:r>
            <a:r>
              <a:rPr lang="en-US" dirty="0"/>
              <a:t> representing books of Scripture, each book in a </a:t>
            </a:r>
            <a:r>
              <a:rPr lang="en-US" dirty="0" err="1"/>
              <a:t>ScrBook</a:t>
            </a:r>
            <a:r>
              <a:rPr lang="en-US" dirty="0"/>
              <a:t> object.</a:t>
            </a:r>
          </a:p>
          <a:p>
            <a:r>
              <a:rPr lang="en-US" dirty="0"/>
              <a:t>Scripture uses the FLEx structured text classes starting with </a:t>
            </a:r>
            <a:r>
              <a:rPr lang="en-US" dirty="0" err="1"/>
              <a:t>StText</a:t>
            </a:r>
            <a:r>
              <a:rPr lang="en-US" dirty="0"/>
              <a:t>, but instead of </a:t>
            </a:r>
            <a:r>
              <a:rPr lang="en-US" dirty="0" err="1"/>
              <a:t>StText</a:t>
            </a:r>
            <a:r>
              <a:rPr lang="en-US" dirty="0"/>
              <a:t> owning </a:t>
            </a:r>
            <a:r>
              <a:rPr lang="en-US" dirty="0" err="1"/>
              <a:t>StTxtPara</a:t>
            </a:r>
            <a:r>
              <a:rPr lang="en-US" dirty="0"/>
              <a:t> objects, Scripture uses </a:t>
            </a:r>
            <a:r>
              <a:rPr lang="en-US" dirty="0" err="1"/>
              <a:t>ScrTxtPara</a:t>
            </a:r>
            <a:r>
              <a:rPr lang="en-US" dirty="0"/>
              <a:t> objects. In the Interlinear Texts tool, FLEx shows </a:t>
            </a:r>
            <a:r>
              <a:rPr lang="en-US" dirty="0" err="1"/>
              <a:t>StText</a:t>
            </a:r>
            <a:r>
              <a:rPr lang="en-US" dirty="0"/>
              <a:t> objects and </a:t>
            </a:r>
            <a:r>
              <a:rPr lang="en-US" dirty="0" err="1"/>
              <a:t>ScrFootnote</a:t>
            </a:r>
            <a:r>
              <a:rPr lang="en-US" dirty="0"/>
              <a:t> objects as interlinear texts. When showing </a:t>
            </a:r>
            <a:r>
              <a:rPr lang="en-US" dirty="0" err="1"/>
              <a:t>StText</a:t>
            </a:r>
            <a:r>
              <a:rPr lang="en-US" dirty="0"/>
              <a:t>, in the Interlinear Texts it </a:t>
            </a:r>
          </a:p>
          <a:p>
            <a:pPr lvl="1"/>
            <a:r>
              <a:rPr lang="en-US" dirty="0"/>
              <a:t>appends (Title) for the </a:t>
            </a:r>
            <a:r>
              <a:rPr lang="en-US" dirty="0" err="1"/>
              <a:t>StText</a:t>
            </a:r>
            <a:r>
              <a:rPr lang="en-US" dirty="0"/>
              <a:t> owned in the </a:t>
            </a:r>
            <a:r>
              <a:rPr lang="en-US" dirty="0" err="1"/>
              <a:t>ScrBook</a:t>
            </a:r>
            <a:r>
              <a:rPr lang="en-US" dirty="0"/>
              <a:t> Title property</a:t>
            </a:r>
          </a:p>
          <a:p>
            <a:pPr lvl="1"/>
            <a:r>
              <a:rPr lang="en-US" dirty="0"/>
              <a:t>appends (Heading) for the </a:t>
            </a:r>
            <a:r>
              <a:rPr lang="en-US" dirty="0" err="1"/>
              <a:t>StText</a:t>
            </a:r>
            <a:r>
              <a:rPr lang="en-US" dirty="0"/>
              <a:t> owned in the </a:t>
            </a:r>
            <a:r>
              <a:rPr lang="en-US" dirty="0" err="1"/>
              <a:t>ScrSection</a:t>
            </a:r>
            <a:r>
              <a:rPr lang="en-US" dirty="0"/>
              <a:t> Heading property</a:t>
            </a:r>
          </a:p>
          <a:p>
            <a:pPr lvl="1"/>
            <a:r>
              <a:rPr lang="en-US" dirty="0"/>
              <a:t>it doesn’t append anything for the </a:t>
            </a:r>
            <a:r>
              <a:rPr lang="en-US" dirty="0" err="1"/>
              <a:t>StText</a:t>
            </a:r>
            <a:r>
              <a:rPr lang="en-US" dirty="0"/>
              <a:t> owned in the </a:t>
            </a:r>
            <a:r>
              <a:rPr lang="en-US" dirty="0" err="1"/>
              <a:t>ScrSection</a:t>
            </a:r>
            <a:r>
              <a:rPr lang="en-US" dirty="0"/>
              <a:t> Content property</a:t>
            </a:r>
          </a:p>
          <a:p>
            <a:pPr lvl="1"/>
            <a:r>
              <a:rPr lang="en-US" dirty="0"/>
              <a:t>it appends Footnote(</a:t>
            </a:r>
            <a:r>
              <a:rPr lang="en-US" dirty="0" err="1"/>
              <a:t>c:v</a:t>
            </a:r>
            <a:r>
              <a:rPr lang="en-US" dirty="0"/>
              <a:t>) for </a:t>
            </a:r>
            <a:r>
              <a:rPr lang="en-US" dirty="0" err="1"/>
              <a:t>ScrFootnote</a:t>
            </a:r>
            <a:r>
              <a:rPr lang="en-US" dirty="0"/>
              <a:t> with the chapter and verse number in parentheses.</a:t>
            </a:r>
          </a:p>
          <a:p>
            <a:r>
              <a:rPr lang="en-US" dirty="0"/>
              <a:t>The vernacular </a:t>
            </a:r>
            <a:r>
              <a:rPr lang="en-US" dirty="0" err="1"/>
              <a:t>ScrBook</a:t>
            </a:r>
            <a:r>
              <a:rPr lang="en-US" dirty="0"/>
              <a:t> Name (or Abbrev) is used for the book name, and for </a:t>
            </a:r>
            <a:r>
              <a:rPr lang="en-US" dirty="0" err="1"/>
              <a:t>StTexts</a:t>
            </a:r>
            <a:r>
              <a:rPr lang="en-US" dirty="0"/>
              <a:t> owned in </a:t>
            </a:r>
            <a:r>
              <a:rPr lang="en-US" dirty="0" err="1"/>
              <a:t>ScrSection</a:t>
            </a:r>
            <a:r>
              <a:rPr lang="en-US" dirty="0"/>
              <a:t>, it appends the chapter/verse range for the section.</a:t>
            </a:r>
          </a:p>
          <a:p>
            <a:endParaRPr lang="en-US" dirty="0"/>
          </a:p>
        </p:txBody>
      </p:sp>
    </p:spTree>
    <p:extLst>
      <p:ext uri="{BB962C8B-B14F-4D97-AF65-F5344CB8AC3E}">
        <p14:creationId xmlns:p14="http://schemas.microsoft.com/office/powerpoint/2010/main" val="38850494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Interlinear: Scripture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348343" y="939800"/>
            <a:ext cx="8556171" cy="5918200"/>
          </a:xfrm>
        </p:spPr>
        <p:txBody>
          <a:bodyPr>
            <a:normAutofit fontScale="85000" lnSpcReduction="10000"/>
          </a:bodyPr>
          <a:lstStyle/>
          <a:p>
            <a:r>
              <a:rPr lang="en-US" dirty="0" err="1"/>
              <a:t>ScrBook</a:t>
            </a:r>
            <a:r>
              <a:rPr lang="en-US" dirty="0"/>
              <a:t> has</a:t>
            </a:r>
          </a:p>
          <a:p>
            <a:pPr lvl="1"/>
            <a:r>
              <a:rPr lang="en-US" dirty="0" err="1"/>
              <a:t>CanonicalNum</a:t>
            </a:r>
            <a:r>
              <a:rPr lang="en-US" dirty="0"/>
              <a:t> – Integer giving the book number in Scripture starting at 1 for Genesis. The number for Titus, which is used in this example is 56.</a:t>
            </a:r>
          </a:p>
          <a:p>
            <a:pPr lvl="1"/>
            <a:r>
              <a:rPr lang="en-US" dirty="0"/>
              <a:t>Name – </a:t>
            </a:r>
            <a:r>
              <a:rPr lang="en-US" dirty="0" err="1"/>
              <a:t>MultiUnicode</a:t>
            </a:r>
            <a:r>
              <a:rPr lang="en-US" dirty="0"/>
              <a:t> name for the book, used in displaying the Title for FLEx interlinear text.</a:t>
            </a:r>
          </a:p>
          <a:p>
            <a:pPr lvl="1"/>
            <a:r>
              <a:rPr lang="en-US" dirty="0" err="1"/>
              <a:t>IdText</a:t>
            </a:r>
            <a:r>
              <a:rPr lang="en-US" dirty="0"/>
              <a:t> – Unicode string showing identifying information for the book.</a:t>
            </a:r>
          </a:p>
          <a:p>
            <a:pPr lvl="1"/>
            <a:r>
              <a:rPr lang="en-US" dirty="0" err="1"/>
              <a:t>ImportedCheckSum</a:t>
            </a:r>
            <a:r>
              <a:rPr lang="en-US" dirty="0"/>
              <a:t> – A calculated checksum of the </a:t>
            </a:r>
            <a:r>
              <a:rPr lang="en-US" dirty="0" err="1"/>
              <a:t>Paratext</a:t>
            </a:r>
            <a:r>
              <a:rPr lang="en-US" dirty="0"/>
              <a:t> book file that is stored when FLEx imports a book from </a:t>
            </a:r>
            <a:r>
              <a:rPr lang="en-US" dirty="0" err="1"/>
              <a:t>Paratext</a:t>
            </a:r>
            <a:r>
              <a:rPr lang="en-US" dirty="0"/>
              <a:t>. When the user goes to the Choose Texts tool and the FLEx project is associated with </a:t>
            </a:r>
            <a:r>
              <a:rPr lang="en-US" dirty="0" err="1"/>
              <a:t>Paratext</a:t>
            </a:r>
            <a:r>
              <a:rPr lang="en-US" dirty="0"/>
              <a:t>, and a </a:t>
            </a:r>
            <a:r>
              <a:rPr lang="en-US" dirty="0" err="1"/>
              <a:t>ScrBook</a:t>
            </a:r>
            <a:r>
              <a:rPr lang="en-US" dirty="0"/>
              <a:t> for this book is already in the FLEx project, then FLEx calculates a current checksum for the </a:t>
            </a:r>
            <a:r>
              <a:rPr lang="en-US" dirty="0" err="1"/>
              <a:t>Paratext</a:t>
            </a:r>
            <a:r>
              <a:rPr lang="en-US" dirty="0"/>
              <a:t> book file, and if it is different, it means the file has been edited in </a:t>
            </a:r>
            <a:r>
              <a:rPr lang="en-US" dirty="0" err="1"/>
              <a:t>Paratext</a:t>
            </a:r>
            <a:r>
              <a:rPr lang="en-US" dirty="0"/>
              <a:t>, so it reimports the book from </a:t>
            </a:r>
            <a:r>
              <a:rPr lang="en-US" dirty="0" err="1"/>
              <a:t>Paratext</a:t>
            </a:r>
            <a:r>
              <a:rPr lang="en-US" dirty="0"/>
              <a:t> and stores the new checksum. When reimporting, FLEx attempts to maintain any interlinearization a user did in FLEx.</a:t>
            </a:r>
          </a:p>
          <a:p>
            <a:pPr lvl="1"/>
            <a:r>
              <a:rPr lang="en-US" dirty="0"/>
              <a:t>Title – atomic owning property holding a </a:t>
            </a:r>
            <a:r>
              <a:rPr lang="en-US" dirty="0" err="1"/>
              <a:t>StText</a:t>
            </a:r>
            <a:r>
              <a:rPr lang="en-US" dirty="0"/>
              <a:t> with the title for the printed book.</a:t>
            </a:r>
          </a:p>
          <a:p>
            <a:pPr lvl="1"/>
            <a:r>
              <a:rPr lang="en-US" dirty="0"/>
              <a:t>Footnotes – an owning sequence of </a:t>
            </a:r>
            <a:r>
              <a:rPr lang="en-US" dirty="0" err="1"/>
              <a:t>ScrFootnote</a:t>
            </a:r>
            <a:r>
              <a:rPr lang="en-US" dirty="0"/>
              <a:t> holding all of the footnotes for the book.</a:t>
            </a:r>
          </a:p>
          <a:p>
            <a:pPr lvl="1"/>
            <a:r>
              <a:rPr lang="en-US" dirty="0"/>
              <a:t>Sections – an owning sequence of </a:t>
            </a:r>
            <a:r>
              <a:rPr lang="en-US" dirty="0" err="1"/>
              <a:t>ScrSection</a:t>
            </a:r>
            <a:r>
              <a:rPr lang="en-US" dirty="0"/>
              <a:t>, which usually includes a section heading and all of the verses until a new chapter or section head occurs.</a:t>
            </a:r>
          </a:p>
          <a:p>
            <a:endParaRPr lang="en-US" dirty="0"/>
          </a:p>
        </p:txBody>
      </p:sp>
      <p:pic>
        <p:nvPicPr>
          <p:cNvPr id="2" name="Picture 1">
            <a:extLst>
              <a:ext uri="{FF2B5EF4-FFF2-40B4-BE49-F238E27FC236}">
                <a16:creationId xmlns:a16="http://schemas.microsoft.com/office/drawing/2014/main" id="{CC376F3F-50A4-450C-8D61-7156AB625120}"/>
              </a:ext>
            </a:extLst>
          </p:cNvPr>
          <p:cNvPicPr>
            <a:picLocks noChangeAspect="1"/>
          </p:cNvPicPr>
          <p:nvPr/>
        </p:nvPicPr>
        <p:blipFill>
          <a:blip r:embed="rId2"/>
          <a:stretch>
            <a:fillRect/>
          </a:stretch>
        </p:blipFill>
        <p:spPr>
          <a:xfrm>
            <a:off x="9191514" y="1295229"/>
            <a:ext cx="2385953" cy="3679541"/>
          </a:xfrm>
          <a:prstGeom prst="rect">
            <a:avLst/>
          </a:prstGeom>
        </p:spPr>
      </p:pic>
    </p:spTree>
    <p:extLst>
      <p:ext uri="{BB962C8B-B14F-4D97-AF65-F5344CB8AC3E}">
        <p14:creationId xmlns:p14="http://schemas.microsoft.com/office/powerpoint/2010/main" val="2459792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Interlinear: Scripture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err="1"/>
              <a:t>ScrTxtPara</a:t>
            </a:r>
            <a:r>
              <a:rPr lang="en-US" dirty="0"/>
              <a:t> objects use a </a:t>
            </a:r>
            <a:r>
              <a:rPr lang="en-US" dirty="0" err="1"/>
              <a:t>StyleRules</a:t>
            </a:r>
            <a:r>
              <a:rPr lang="en-US" dirty="0"/>
              <a:t> property to store paragraph style information in a </a:t>
            </a:r>
            <a:r>
              <a:rPr lang="en-US" dirty="0" err="1"/>
              <a:t>namedStyle</a:t>
            </a:r>
            <a:r>
              <a:rPr lang="en-US" dirty="0"/>
              <a:t> prop element giving the name of the style for the paragraph. The Contents String property includes </a:t>
            </a:r>
            <a:r>
              <a:rPr lang="en-US" dirty="0" err="1"/>
              <a:t>namedStyle</a:t>
            </a:r>
            <a:r>
              <a:rPr lang="en-US" dirty="0"/>
              <a:t> attributes with the name of special styles designating a “Chapter Number”, “Verse Number”, “Title Secondary”, etc.</a:t>
            </a:r>
          </a:p>
          <a:p>
            <a:endParaRPr lang="en-US" dirty="0"/>
          </a:p>
          <a:p>
            <a:endParaRPr lang="en-US" dirty="0"/>
          </a:p>
        </p:txBody>
      </p:sp>
      <p:pic>
        <p:nvPicPr>
          <p:cNvPr id="2" name="Picture 1">
            <a:extLst>
              <a:ext uri="{FF2B5EF4-FFF2-40B4-BE49-F238E27FC236}">
                <a16:creationId xmlns:a16="http://schemas.microsoft.com/office/drawing/2014/main" id="{3C4943C8-7172-4638-BA13-6708976E4B5C}"/>
              </a:ext>
            </a:extLst>
          </p:cNvPr>
          <p:cNvPicPr>
            <a:picLocks noChangeAspect="1"/>
          </p:cNvPicPr>
          <p:nvPr/>
        </p:nvPicPr>
        <p:blipFill>
          <a:blip r:embed="rId2"/>
          <a:stretch>
            <a:fillRect/>
          </a:stretch>
        </p:blipFill>
        <p:spPr>
          <a:xfrm>
            <a:off x="2850169" y="3169038"/>
            <a:ext cx="5442904" cy="1783961"/>
          </a:xfrm>
          <a:prstGeom prst="rect">
            <a:avLst/>
          </a:prstGeom>
        </p:spPr>
      </p:pic>
    </p:spTree>
    <p:extLst>
      <p:ext uri="{BB962C8B-B14F-4D97-AF65-F5344CB8AC3E}">
        <p14:creationId xmlns:p14="http://schemas.microsoft.com/office/powerpoint/2010/main" val="10917440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Interlinear: Scripture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err="1"/>
              <a:t>ScrSection</a:t>
            </a:r>
            <a:r>
              <a:rPr lang="en-US" dirty="0"/>
              <a:t> has</a:t>
            </a:r>
          </a:p>
          <a:p>
            <a:pPr lvl="1"/>
            <a:r>
              <a:rPr lang="en-US" dirty="0" err="1"/>
              <a:t>VerseRefStart</a:t>
            </a:r>
            <a:r>
              <a:rPr lang="en-US" dirty="0"/>
              <a:t> – an Integer representing the book, chapter, and verse that starts this section in the form BBCCCVVV.</a:t>
            </a:r>
          </a:p>
          <a:p>
            <a:pPr lvl="1"/>
            <a:r>
              <a:rPr lang="en-US" dirty="0" err="1"/>
              <a:t>VerseRefEnd</a:t>
            </a:r>
            <a:r>
              <a:rPr lang="en-US" dirty="0"/>
              <a:t> – an Integer representing the book, chapter, and verse that ends this section in the form BBCCCVVV.</a:t>
            </a:r>
          </a:p>
          <a:p>
            <a:pPr lvl="1"/>
            <a:r>
              <a:rPr lang="en-US" dirty="0"/>
              <a:t>Heading – atomic owning property that holds an </a:t>
            </a:r>
            <a:r>
              <a:rPr lang="en-US" dirty="0" err="1"/>
              <a:t>StText</a:t>
            </a:r>
            <a:r>
              <a:rPr lang="en-US" dirty="0"/>
              <a:t> for the section heading.</a:t>
            </a:r>
          </a:p>
          <a:p>
            <a:pPr lvl="1"/>
            <a:r>
              <a:rPr lang="en-US" dirty="0"/>
              <a:t>Content – atomic owning property that holds an </a:t>
            </a:r>
            <a:r>
              <a:rPr lang="en-US" dirty="0" err="1"/>
              <a:t>StText</a:t>
            </a:r>
            <a:r>
              <a:rPr lang="en-US" dirty="0"/>
              <a:t> for the rest of the paragraphs in a section.</a:t>
            </a:r>
          </a:p>
          <a:p>
            <a:endParaRPr lang="en-US" dirty="0"/>
          </a:p>
        </p:txBody>
      </p:sp>
      <p:pic>
        <p:nvPicPr>
          <p:cNvPr id="3" name="Picture 2">
            <a:extLst>
              <a:ext uri="{FF2B5EF4-FFF2-40B4-BE49-F238E27FC236}">
                <a16:creationId xmlns:a16="http://schemas.microsoft.com/office/drawing/2014/main" id="{FBFCAF81-5FDA-4FB7-BC50-C2CAC44201B3}"/>
              </a:ext>
            </a:extLst>
          </p:cNvPr>
          <p:cNvPicPr>
            <a:picLocks noChangeAspect="1"/>
          </p:cNvPicPr>
          <p:nvPr/>
        </p:nvPicPr>
        <p:blipFill>
          <a:blip r:embed="rId2"/>
          <a:stretch>
            <a:fillRect/>
          </a:stretch>
        </p:blipFill>
        <p:spPr>
          <a:xfrm>
            <a:off x="4841970" y="4075197"/>
            <a:ext cx="2436059" cy="2646278"/>
          </a:xfrm>
          <a:prstGeom prst="rect">
            <a:avLst/>
          </a:prstGeom>
        </p:spPr>
      </p:pic>
    </p:spTree>
    <p:extLst>
      <p:ext uri="{BB962C8B-B14F-4D97-AF65-F5344CB8AC3E}">
        <p14:creationId xmlns:p14="http://schemas.microsoft.com/office/powerpoint/2010/main" val="16110605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Interlinear: Scripture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err="1"/>
              <a:t>ScrFootnote</a:t>
            </a:r>
            <a:r>
              <a:rPr lang="en-US" dirty="0"/>
              <a:t> has</a:t>
            </a:r>
          </a:p>
          <a:p>
            <a:pPr lvl="1"/>
            <a:r>
              <a:rPr lang="en-US" dirty="0" err="1"/>
              <a:t>FootnoteMarker</a:t>
            </a:r>
            <a:r>
              <a:rPr lang="en-US" dirty="0"/>
              <a:t> – a String with the footnote marker in a “Note Marker” style.</a:t>
            </a:r>
          </a:p>
          <a:p>
            <a:pPr lvl="1"/>
            <a:r>
              <a:rPr lang="en-US" dirty="0" err="1"/>
              <a:t>ParaContainingOrc</a:t>
            </a:r>
            <a:r>
              <a:rPr lang="en-US" dirty="0"/>
              <a:t> – an atomic reference to </a:t>
            </a:r>
            <a:r>
              <a:rPr lang="en-US" dirty="0" err="1"/>
              <a:t>ScrTxtPara</a:t>
            </a:r>
            <a:r>
              <a:rPr lang="en-US" dirty="0"/>
              <a:t> that references the paragraph that contains the footnote. In the paragraph, the footnote is represented by an </a:t>
            </a:r>
            <a:r>
              <a:rPr lang="en-US" dirty="0" err="1"/>
              <a:t>ownlink</a:t>
            </a:r>
            <a:r>
              <a:rPr lang="en-US" dirty="0"/>
              <a:t> attribute in the Run with the guid of the </a:t>
            </a:r>
            <a:r>
              <a:rPr lang="en-US" dirty="0" err="1"/>
              <a:t>ScrFootnote</a:t>
            </a:r>
            <a:r>
              <a:rPr lang="en-US" dirty="0"/>
              <a:t>.</a:t>
            </a:r>
          </a:p>
          <a:p>
            <a:pPr lvl="1"/>
            <a:r>
              <a:rPr lang="en-US" dirty="0"/>
              <a:t>Paragraphs – an owning sequence of </a:t>
            </a:r>
            <a:r>
              <a:rPr lang="en-US" dirty="0" err="1"/>
              <a:t>ScrTxtPara</a:t>
            </a:r>
            <a:r>
              <a:rPr lang="en-US" dirty="0"/>
              <a:t> that contains the content of the footnote.</a:t>
            </a:r>
          </a:p>
          <a:p>
            <a:endParaRPr lang="en-US" dirty="0"/>
          </a:p>
        </p:txBody>
      </p:sp>
      <p:pic>
        <p:nvPicPr>
          <p:cNvPr id="3" name="Picture 2">
            <a:extLst>
              <a:ext uri="{FF2B5EF4-FFF2-40B4-BE49-F238E27FC236}">
                <a16:creationId xmlns:a16="http://schemas.microsoft.com/office/drawing/2014/main" id="{3600359A-AA95-4C10-953F-4082AE63ADD2}"/>
              </a:ext>
            </a:extLst>
          </p:cNvPr>
          <p:cNvPicPr>
            <a:picLocks noChangeAspect="1"/>
          </p:cNvPicPr>
          <p:nvPr/>
        </p:nvPicPr>
        <p:blipFill>
          <a:blip r:embed="rId2"/>
          <a:stretch>
            <a:fillRect/>
          </a:stretch>
        </p:blipFill>
        <p:spPr>
          <a:xfrm>
            <a:off x="3550804" y="3860800"/>
            <a:ext cx="6922511" cy="2512690"/>
          </a:xfrm>
          <a:prstGeom prst="rect">
            <a:avLst/>
          </a:prstGeom>
        </p:spPr>
      </p:pic>
    </p:spTree>
    <p:extLst>
      <p:ext uri="{BB962C8B-B14F-4D97-AF65-F5344CB8AC3E}">
        <p14:creationId xmlns:p14="http://schemas.microsoft.com/office/powerpoint/2010/main" val="1429828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fontScale="90000"/>
          </a:bodyPr>
          <a:lstStyle/>
          <a:p>
            <a:r>
              <a:rPr lang="en-US" dirty="0"/>
              <a:t>Interlinear: Scripture</a:t>
            </a:r>
            <a:br>
              <a:rPr lang="en-US" dirty="0"/>
            </a:br>
            <a:r>
              <a:rPr lang="en-US" dirty="0"/>
              <a:t>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1055914"/>
            <a:ext cx="10515600" cy="5565019"/>
          </a:xfrm>
        </p:spPr>
        <p:txBody>
          <a:bodyPr>
            <a:normAutofit/>
          </a:bodyPr>
          <a:lstStyle/>
          <a:p>
            <a:pPr marL="0" indent="0">
              <a:buNone/>
            </a:pPr>
            <a:r>
              <a:rPr lang="en-US" dirty="0"/>
              <a:t> </a:t>
            </a:r>
          </a:p>
        </p:txBody>
      </p:sp>
      <p:pic>
        <p:nvPicPr>
          <p:cNvPr id="2" name="Picture 1">
            <a:extLst>
              <a:ext uri="{FF2B5EF4-FFF2-40B4-BE49-F238E27FC236}">
                <a16:creationId xmlns:a16="http://schemas.microsoft.com/office/drawing/2014/main" id="{A1C6727D-71A5-421F-96B9-7634D4294030}"/>
              </a:ext>
            </a:extLst>
          </p:cNvPr>
          <p:cNvPicPr>
            <a:picLocks noChangeAspect="1"/>
          </p:cNvPicPr>
          <p:nvPr/>
        </p:nvPicPr>
        <p:blipFill>
          <a:blip r:embed="rId2"/>
          <a:stretch>
            <a:fillRect/>
          </a:stretch>
        </p:blipFill>
        <p:spPr>
          <a:xfrm>
            <a:off x="5863800" y="0"/>
            <a:ext cx="4927544" cy="6858000"/>
          </a:xfrm>
          <a:prstGeom prst="rect">
            <a:avLst/>
          </a:prstGeom>
        </p:spPr>
      </p:pic>
    </p:spTree>
    <p:extLst>
      <p:ext uri="{BB962C8B-B14F-4D97-AF65-F5344CB8AC3E}">
        <p14:creationId xmlns:p14="http://schemas.microsoft.com/office/powerpoint/2010/main" val="25565398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Notebook model</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4979648" cy="5681133"/>
          </a:xfrm>
        </p:spPr>
        <p:txBody>
          <a:bodyPr>
            <a:normAutofit/>
          </a:bodyPr>
          <a:lstStyle/>
          <a:p>
            <a:r>
              <a:rPr lang="en-US" dirty="0"/>
              <a:t>FLEx has a Notebook area that allows a user to record information relating to the culture. Most of the fields in the Notebook are Multi-Paragraph fields with styles for paragraphs and text. A notebook record can reference a text that is an actual Text in Interlinear Texts.</a:t>
            </a:r>
          </a:p>
          <a:p>
            <a:r>
              <a:rPr lang="en-US" dirty="0"/>
              <a:t>Here’s a sample record with a few fields filled in, and how it looks from a linked </a:t>
            </a:r>
            <a:r>
              <a:rPr lang="en-US"/>
              <a:t>interlinear text.</a:t>
            </a:r>
            <a:endParaRPr lang="en-US" dirty="0"/>
          </a:p>
          <a:p>
            <a:endParaRPr lang="en-US" dirty="0"/>
          </a:p>
        </p:txBody>
      </p:sp>
      <p:pic>
        <p:nvPicPr>
          <p:cNvPr id="6" name="Picture 5">
            <a:extLst>
              <a:ext uri="{FF2B5EF4-FFF2-40B4-BE49-F238E27FC236}">
                <a16:creationId xmlns:a16="http://schemas.microsoft.com/office/drawing/2014/main" id="{A612A30B-B2D5-4E94-B585-7F1C34576E41}"/>
              </a:ext>
            </a:extLst>
          </p:cNvPr>
          <p:cNvPicPr/>
          <p:nvPr/>
        </p:nvPicPr>
        <p:blipFill>
          <a:blip r:embed="rId2"/>
          <a:stretch>
            <a:fillRect/>
          </a:stretch>
        </p:blipFill>
        <p:spPr>
          <a:xfrm>
            <a:off x="7796223" y="0"/>
            <a:ext cx="3187463" cy="3071346"/>
          </a:xfrm>
          <a:prstGeom prst="rect">
            <a:avLst/>
          </a:prstGeom>
        </p:spPr>
      </p:pic>
      <p:pic>
        <p:nvPicPr>
          <p:cNvPr id="2" name="Picture 1">
            <a:extLst>
              <a:ext uri="{FF2B5EF4-FFF2-40B4-BE49-F238E27FC236}">
                <a16:creationId xmlns:a16="http://schemas.microsoft.com/office/drawing/2014/main" id="{E74DB68B-92D1-4D55-B943-D98DB14BDD5C}"/>
              </a:ext>
            </a:extLst>
          </p:cNvPr>
          <p:cNvPicPr>
            <a:picLocks noChangeAspect="1"/>
          </p:cNvPicPr>
          <p:nvPr/>
        </p:nvPicPr>
        <p:blipFill>
          <a:blip r:embed="rId3"/>
          <a:stretch>
            <a:fillRect/>
          </a:stretch>
        </p:blipFill>
        <p:spPr>
          <a:xfrm>
            <a:off x="6730136" y="3195607"/>
            <a:ext cx="4471265" cy="3662393"/>
          </a:xfrm>
          <a:prstGeom prst="rect">
            <a:avLst/>
          </a:prstGeom>
        </p:spPr>
      </p:pic>
    </p:spTree>
    <p:extLst>
      <p:ext uri="{BB962C8B-B14F-4D97-AF65-F5344CB8AC3E}">
        <p14:creationId xmlns:p14="http://schemas.microsoft.com/office/powerpoint/2010/main" val="331615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48A357-A5C9-4A45-B37C-E94EEF6CC4FB}"/>
              </a:ext>
            </a:extLst>
          </p:cNvPr>
          <p:cNvPicPr>
            <a:picLocks noChangeAspect="1"/>
          </p:cNvPicPr>
          <p:nvPr/>
        </p:nvPicPr>
        <p:blipFill>
          <a:blip r:embed="rId2"/>
          <a:stretch>
            <a:fillRect/>
          </a:stretch>
        </p:blipFill>
        <p:spPr>
          <a:xfrm>
            <a:off x="352842" y="1841344"/>
            <a:ext cx="7360819" cy="3666828"/>
          </a:xfrm>
          <a:prstGeom prst="rect">
            <a:avLst/>
          </a:prstGeom>
        </p:spPr>
      </p:pic>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normAutofit/>
          </a:bodyPr>
          <a:lstStyle/>
          <a:p>
            <a:r>
              <a:rPr lang="en-US" dirty="0"/>
              <a:t>Notebook model continued</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This is represented in FLEx as</a:t>
            </a:r>
          </a:p>
        </p:txBody>
      </p:sp>
      <p:sp>
        <p:nvSpPr>
          <p:cNvPr id="2" name="TextBox 1">
            <a:extLst>
              <a:ext uri="{FF2B5EF4-FFF2-40B4-BE49-F238E27FC236}">
                <a16:creationId xmlns:a16="http://schemas.microsoft.com/office/drawing/2014/main" id="{9B588C41-87A8-40D3-ADB8-688C41FDE38F}"/>
              </a:ext>
            </a:extLst>
          </p:cNvPr>
          <p:cNvSpPr txBox="1"/>
          <p:nvPr/>
        </p:nvSpPr>
        <p:spPr>
          <a:xfrm>
            <a:off x="7475617" y="4248296"/>
            <a:ext cx="4436007" cy="830997"/>
          </a:xfrm>
          <a:prstGeom prst="rect">
            <a:avLst/>
          </a:prstGeom>
          <a:noFill/>
        </p:spPr>
        <p:txBody>
          <a:bodyPr wrap="square" rtlCol="0">
            <a:spAutoFit/>
          </a:bodyPr>
          <a:lstStyle/>
          <a:p>
            <a:r>
              <a:rPr lang="en-US" sz="1600" dirty="0" err="1"/>
              <a:t>AnthroCodes</a:t>
            </a:r>
            <a:r>
              <a:rPr lang="en-US" sz="1600" dirty="0"/>
              <a:t> reference collection to </a:t>
            </a:r>
            <a:r>
              <a:rPr lang="en-US" sz="1600" dirty="0" err="1"/>
              <a:t>CmAnthroItem</a:t>
            </a:r>
            <a:r>
              <a:rPr lang="en-US" sz="1600" dirty="0"/>
              <a:t>. The display typically shows the abbreviation and name of the </a:t>
            </a:r>
            <a:r>
              <a:rPr lang="en-US" sz="1600" dirty="0" err="1"/>
              <a:t>anthro</a:t>
            </a:r>
            <a:r>
              <a:rPr lang="en-US" sz="1600" dirty="0"/>
              <a:t> items.</a:t>
            </a:r>
          </a:p>
        </p:txBody>
      </p:sp>
      <p:sp>
        <p:nvSpPr>
          <p:cNvPr id="3" name="TextBox 2">
            <a:extLst>
              <a:ext uri="{FF2B5EF4-FFF2-40B4-BE49-F238E27FC236}">
                <a16:creationId xmlns:a16="http://schemas.microsoft.com/office/drawing/2014/main" id="{A9D94EC3-F427-4D70-A8F1-3C1B33A20F28}"/>
              </a:ext>
            </a:extLst>
          </p:cNvPr>
          <p:cNvSpPr txBox="1"/>
          <p:nvPr/>
        </p:nvSpPr>
        <p:spPr>
          <a:xfrm>
            <a:off x="5183614" y="4531793"/>
            <a:ext cx="2166743" cy="1077218"/>
          </a:xfrm>
          <a:prstGeom prst="rect">
            <a:avLst/>
          </a:prstGeom>
          <a:noFill/>
        </p:spPr>
        <p:txBody>
          <a:bodyPr wrap="square" rtlCol="0">
            <a:spAutoFit/>
          </a:bodyPr>
          <a:lstStyle/>
          <a:p>
            <a:r>
              <a:rPr lang="en-US" sz="1600" dirty="0"/>
              <a:t>Locations reference collection to </a:t>
            </a:r>
            <a:r>
              <a:rPr lang="en-US" sz="1600" dirty="0" err="1"/>
              <a:t>CmLocation</a:t>
            </a:r>
            <a:r>
              <a:rPr lang="en-US" sz="1600" dirty="0"/>
              <a:t> objects in the Locations list.</a:t>
            </a:r>
          </a:p>
        </p:txBody>
      </p:sp>
      <p:sp>
        <p:nvSpPr>
          <p:cNvPr id="6" name="TextBox 5">
            <a:extLst>
              <a:ext uri="{FF2B5EF4-FFF2-40B4-BE49-F238E27FC236}">
                <a16:creationId xmlns:a16="http://schemas.microsoft.com/office/drawing/2014/main" id="{B378F6E2-FDF0-40AA-BB6E-442F0D886D14}"/>
              </a:ext>
            </a:extLst>
          </p:cNvPr>
          <p:cNvSpPr txBox="1"/>
          <p:nvPr/>
        </p:nvSpPr>
        <p:spPr>
          <a:xfrm>
            <a:off x="2639468" y="5221926"/>
            <a:ext cx="2404997" cy="1077218"/>
          </a:xfrm>
          <a:prstGeom prst="rect">
            <a:avLst/>
          </a:prstGeom>
          <a:noFill/>
        </p:spPr>
        <p:txBody>
          <a:bodyPr wrap="square" rtlCol="0">
            <a:spAutoFit/>
          </a:bodyPr>
          <a:lstStyle/>
          <a:p>
            <a:r>
              <a:rPr lang="en-US" sz="1600" dirty="0"/>
              <a:t>Type property referencing one of the </a:t>
            </a:r>
            <a:r>
              <a:rPr lang="en-US" sz="1600" dirty="0" err="1"/>
              <a:t>CmPossibility</a:t>
            </a:r>
            <a:r>
              <a:rPr lang="en-US" sz="1600" dirty="0"/>
              <a:t> items in the Notebook Record Types list.</a:t>
            </a:r>
          </a:p>
        </p:txBody>
      </p:sp>
      <p:sp>
        <p:nvSpPr>
          <p:cNvPr id="7" name="TextBox 6">
            <a:extLst>
              <a:ext uri="{FF2B5EF4-FFF2-40B4-BE49-F238E27FC236}">
                <a16:creationId xmlns:a16="http://schemas.microsoft.com/office/drawing/2014/main" id="{F1E0FB6C-6B38-4A23-985E-43DD1B6BCCA6}"/>
              </a:ext>
            </a:extLst>
          </p:cNvPr>
          <p:cNvSpPr txBox="1"/>
          <p:nvPr/>
        </p:nvSpPr>
        <p:spPr>
          <a:xfrm>
            <a:off x="6939419" y="3354927"/>
            <a:ext cx="5135671" cy="830997"/>
          </a:xfrm>
          <a:prstGeom prst="rect">
            <a:avLst/>
          </a:prstGeom>
          <a:noFill/>
        </p:spPr>
        <p:txBody>
          <a:bodyPr wrap="square" rtlCol="0">
            <a:spAutoFit/>
          </a:bodyPr>
          <a:lstStyle/>
          <a:p>
            <a:r>
              <a:rPr lang="en-US" sz="1600" dirty="0"/>
              <a:t>Participants property references </a:t>
            </a:r>
            <a:r>
              <a:rPr lang="en-US" sz="1600" dirty="0" err="1"/>
              <a:t>CmPerson</a:t>
            </a:r>
            <a:r>
              <a:rPr lang="en-US" sz="1600" dirty="0"/>
              <a:t> objects from the People list. It also has a Role atomic reference to </a:t>
            </a:r>
            <a:r>
              <a:rPr lang="en-US" sz="1600" dirty="0" err="1"/>
              <a:t>CmPossibility</a:t>
            </a:r>
            <a:r>
              <a:rPr lang="en-US" sz="1600" dirty="0"/>
              <a:t> from the Roles list.</a:t>
            </a:r>
          </a:p>
        </p:txBody>
      </p:sp>
      <p:sp>
        <p:nvSpPr>
          <p:cNvPr id="9" name="TextBox 8">
            <a:extLst>
              <a:ext uri="{FF2B5EF4-FFF2-40B4-BE49-F238E27FC236}">
                <a16:creationId xmlns:a16="http://schemas.microsoft.com/office/drawing/2014/main" id="{26182A93-5D9D-48BA-AFBC-D62BBFE13258}"/>
              </a:ext>
            </a:extLst>
          </p:cNvPr>
          <p:cNvSpPr txBox="1"/>
          <p:nvPr/>
        </p:nvSpPr>
        <p:spPr>
          <a:xfrm>
            <a:off x="6576165" y="2560391"/>
            <a:ext cx="5381772" cy="830997"/>
          </a:xfrm>
          <a:prstGeom prst="rect">
            <a:avLst/>
          </a:prstGeom>
          <a:noFill/>
        </p:spPr>
        <p:txBody>
          <a:bodyPr wrap="square" rtlCol="0">
            <a:spAutoFit/>
          </a:bodyPr>
          <a:lstStyle/>
          <a:p>
            <a:r>
              <a:rPr lang="en-US" sz="1600" dirty="0"/>
              <a:t>Description, and several other fields, are atomic owning properties holding a </a:t>
            </a:r>
            <a:r>
              <a:rPr lang="en-US" sz="1600" dirty="0" err="1"/>
              <a:t>StText</a:t>
            </a:r>
            <a:r>
              <a:rPr lang="en-US" sz="1600" dirty="0"/>
              <a:t>, which owns any number of </a:t>
            </a:r>
            <a:r>
              <a:rPr lang="en-US" sz="1600" dirty="0" err="1"/>
              <a:t>StTxtPara</a:t>
            </a:r>
            <a:r>
              <a:rPr lang="en-US" sz="1600" dirty="0"/>
              <a:t> objects that can have paragraph and character styles.</a:t>
            </a:r>
          </a:p>
        </p:txBody>
      </p:sp>
      <p:sp>
        <p:nvSpPr>
          <p:cNvPr id="10" name="TextBox 9">
            <a:extLst>
              <a:ext uri="{FF2B5EF4-FFF2-40B4-BE49-F238E27FC236}">
                <a16:creationId xmlns:a16="http://schemas.microsoft.com/office/drawing/2014/main" id="{FA35EC14-401D-4595-A15B-3B4E2356A22F}"/>
              </a:ext>
            </a:extLst>
          </p:cNvPr>
          <p:cNvSpPr txBox="1"/>
          <p:nvPr/>
        </p:nvSpPr>
        <p:spPr>
          <a:xfrm>
            <a:off x="7761718" y="988900"/>
            <a:ext cx="4196219" cy="1569660"/>
          </a:xfrm>
          <a:prstGeom prst="rect">
            <a:avLst/>
          </a:prstGeom>
          <a:noFill/>
        </p:spPr>
        <p:txBody>
          <a:bodyPr wrap="square" rtlCol="0">
            <a:spAutoFit/>
          </a:bodyPr>
          <a:lstStyle/>
          <a:p>
            <a:r>
              <a:rPr lang="en-US" sz="1600" dirty="0"/>
              <a:t>Optional Text that shows up in Interlinear Text. It does this through the atomic reference Text property. The view in the Notebook just shows the baseline text. The view in the Interlinear Text Info tab shows some of the information from the Notebook record.</a:t>
            </a:r>
          </a:p>
        </p:txBody>
      </p:sp>
      <p:sp>
        <p:nvSpPr>
          <p:cNvPr id="11" name="TextBox 10">
            <a:extLst>
              <a:ext uri="{FF2B5EF4-FFF2-40B4-BE49-F238E27FC236}">
                <a16:creationId xmlns:a16="http://schemas.microsoft.com/office/drawing/2014/main" id="{11883BBC-9F07-4ABC-9C52-5DD09D684780}"/>
              </a:ext>
            </a:extLst>
          </p:cNvPr>
          <p:cNvSpPr txBox="1"/>
          <p:nvPr/>
        </p:nvSpPr>
        <p:spPr>
          <a:xfrm>
            <a:off x="7340252" y="1"/>
            <a:ext cx="4196219" cy="1077218"/>
          </a:xfrm>
          <a:prstGeom prst="rect">
            <a:avLst/>
          </a:prstGeom>
          <a:noFill/>
        </p:spPr>
        <p:txBody>
          <a:bodyPr wrap="square" rtlCol="0">
            <a:spAutoFit/>
          </a:bodyPr>
          <a:lstStyle/>
          <a:p>
            <a:r>
              <a:rPr lang="en-US" sz="1600" dirty="0" err="1"/>
              <a:t>RnResearchNbk</a:t>
            </a:r>
            <a:r>
              <a:rPr lang="en-US" sz="1600" dirty="0"/>
              <a:t> is owned in </a:t>
            </a:r>
            <a:r>
              <a:rPr lang="en-US" sz="1600" dirty="0" err="1"/>
              <a:t>LangProject</a:t>
            </a:r>
            <a:r>
              <a:rPr lang="en-US" sz="1600" dirty="0"/>
              <a:t> in atomic owning </a:t>
            </a:r>
            <a:r>
              <a:rPr lang="en-US" sz="1600" dirty="0" err="1"/>
              <a:t>ResearchNotebook</a:t>
            </a:r>
            <a:r>
              <a:rPr lang="en-US" sz="1600" dirty="0"/>
              <a:t> property. </a:t>
            </a:r>
            <a:r>
              <a:rPr lang="en-US" sz="1600" dirty="0" err="1"/>
              <a:t>RnReserachNbk</a:t>
            </a:r>
            <a:r>
              <a:rPr lang="en-US" sz="1600" dirty="0"/>
              <a:t> has a Records owning collection of </a:t>
            </a:r>
            <a:r>
              <a:rPr lang="en-US" sz="1600" dirty="0" err="1"/>
              <a:t>RnGenericRec</a:t>
            </a:r>
            <a:r>
              <a:rPr lang="en-US" sz="1600" dirty="0"/>
              <a:t>.</a:t>
            </a:r>
          </a:p>
        </p:txBody>
      </p:sp>
    </p:spTree>
    <p:extLst>
      <p:ext uri="{BB962C8B-B14F-4D97-AF65-F5344CB8AC3E}">
        <p14:creationId xmlns:p14="http://schemas.microsoft.com/office/powerpoint/2010/main" val="26041252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20DABE-C917-4086-9913-77F3DFBC8176}"/>
              </a:ext>
            </a:extLst>
          </p:cNvPr>
          <p:cNvSpPr>
            <a:spLocks noGrp="1"/>
          </p:cNvSpPr>
          <p:nvPr>
            <p:ph type="title"/>
          </p:nvPr>
        </p:nvSpPr>
        <p:spPr>
          <a:xfrm>
            <a:off x="838200" y="136525"/>
            <a:ext cx="10515600" cy="803275"/>
          </a:xfrm>
        </p:spPr>
        <p:txBody>
          <a:bodyPr/>
          <a:lstStyle/>
          <a:p>
            <a:r>
              <a:rPr lang="en-US" dirty="0"/>
              <a:t>Documentation</a:t>
            </a:r>
          </a:p>
        </p:txBody>
      </p:sp>
      <p:sp>
        <p:nvSpPr>
          <p:cNvPr id="5" name="Content Placeholder 2">
            <a:extLst>
              <a:ext uri="{FF2B5EF4-FFF2-40B4-BE49-F238E27FC236}">
                <a16:creationId xmlns:a16="http://schemas.microsoft.com/office/drawing/2014/main" id="{54980C95-9B20-461C-8447-ECB43E44F22E}"/>
              </a:ext>
            </a:extLst>
          </p:cNvPr>
          <p:cNvSpPr>
            <a:spLocks noGrp="1"/>
          </p:cNvSpPr>
          <p:nvPr>
            <p:ph idx="1"/>
          </p:nvPr>
        </p:nvSpPr>
        <p:spPr>
          <a:xfrm>
            <a:off x="838200" y="939800"/>
            <a:ext cx="10515600" cy="5681133"/>
          </a:xfrm>
        </p:spPr>
        <p:txBody>
          <a:bodyPr>
            <a:normAutofit/>
          </a:bodyPr>
          <a:lstStyle/>
          <a:p>
            <a:r>
              <a:rPr lang="en-US" dirty="0"/>
              <a:t>FLEx 9.1 Conceptual Model documentation covered in these webinars is available as “FLEx 9.1 Conceptual model.pdf”</a:t>
            </a:r>
            <a:br>
              <a:rPr lang="en-US" dirty="0"/>
            </a:br>
            <a:r>
              <a:rPr lang="en-US" dirty="0"/>
              <a:t>in software.sil.org/fieldworks/support/technical-documents</a:t>
            </a:r>
            <a:br>
              <a:rPr lang="en-US" dirty="0"/>
            </a:br>
            <a:r>
              <a:rPr lang="en-US" dirty="0">
                <a:hlinkClick r:id="rId2"/>
              </a:rPr>
              <a:t>https://downloads.languagetechnology.org/fieldworks/Documentation/FLEx%209.1%20Conceptual%20Model.pdf</a:t>
            </a:r>
            <a:r>
              <a:rPr lang="en-US" dirty="0"/>
              <a:t> (The file also has a link to a Flex 9.1 sample project used in this document, as well as the three PowerPoint presentations.)</a:t>
            </a:r>
          </a:p>
          <a:p>
            <a:endParaRPr lang="en-US" dirty="0"/>
          </a:p>
        </p:txBody>
      </p:sp>
    </p:spTree>
    <p:extLst>
      <p:ext uri="{BB962C8B-B14F-4D97-AF65-F5344CB8AC3E}">
        <p14:creationId xmlns:p14="http://schemas.microsoft.com/office/powerpoint/2010/main" val="2802410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1148</TotalTime>
  <Words>5340</Words>
  <Application>Microsoft Office PowerPoint</Application>
  <PresentationFormat>Widescreen</PresentationFormat>
  <Paragraphs>292</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Calibri Light</vt:lpstr>
      <vt:lpstr>Office Theme</vt:lpstr>
      <vt:lpstr>FLEx 9.1 Conceptual Model</vt:lpstr>
      <vt:lpstr>Grammar: Introduction</vt:lpstr>
      <vt:lpstr>Grammar: Introduction continued</vt:lpstr>
      <vt:lpstr>Grammar: Inflection features</vt:lpstr>
      <vt:lpstr>Grammar: Verb category</vt:lpstr>
      <vt:lpstr>Grammar: User setup continued</vt:lpstr>
      <vt:lpstr>Grammar: with lexicon</vt:lpstr>
      <vt:lpstr>Interlinear Introduction </vt:lpstr>
      <vt:lpstr>Interlinear: Structured text</vt:lpstr>
      <vt:lpstr>Interlinear: Structured text continued</vt:lpstr>
      <vt:lpstr>Interlinear: Structured text continued</vt:lpstr>
      <vt:lpstr>Interlinear: Segment</vt:lpstr>
      <vt:lpstr>Interlinear: Segment continued</vt:lpstr>
      <vt:lpstr>Interlinear: Segment continued</vt:lpstr>
      <vt:lpstr>Interlinear: Segment continued</vt:lpstr>
      <vt:lpstr>Interlinear: Segment continued</vt:lpstr>
      <vt:lpstr>Interlinear: Wordforms</vt:lpstr>
      <vt:lpstr>Interlinear: Wordforms continued</vt:lpstr>
      <vt:lpstr>Interlinear: Wordforms continued</vt:lpstr>
      <vt:lpstr>Interlinear: Analyses</vt:lpstr>
      <vt:lpstr>Interlinear: Analyses continued</vt:lpstr>
      <vt:lpstr>Interlinear: Analyses WfiAnalysis</vt:lpstr>
      <vt:lpstr>Interlinear: Analyses CmAgent</vt:lpstr>
      <vt:lpstr>Interlinear: Analyses WfiMorphBundle</vt:lpstr>
      <vt:lpstr>Interlinear: Approving analyses</vt:lpstr>
      <vt:lpstr>Interlinear: Approving analyses</vt:lpstr>
      <vt:lpstr>Interlinear: Summary</vt:lpstr>
      <vt:lpstr>Interlinear: Summary continued</vt:lpstr>
      <vt:lpstr>Interlinear: Text Tagging</vt:lpstr>
      <vt:lpstr>Interlinear: Text Tagging continued</vt:lpstr>
      <vt:lpstr>Interlinear: Text Tagging continued</vt:lpstr>
      <vt:lpstr>Interlinear: Discourse charting</vt:lpstr>
      <vt:lpstr>Interlinear: Discourse charting continued</vt:lpstr>
      <vt:lpstr>Interlinear: Discourse charting continued</vt:lpstr>
      <vt:lpstr>Interlinear: Discourse charting continued</vt:lpstr>
      <vt:lpstr>Interlinear: Discourse charting continued</vt:lpstr>
      <vt:lpstr>Interlinear: Discourse charting continued</vt:lpstr>
      <vt:lpstr>Interlinear: Discourse charting continued</vt:lpstr>
      <vt:lpstr>Interlinear: Scripture</vt:lpstr>
      <vt:lpstr>Interlinear: Scripture continued</vt:lpstr>
      <vt:lpstr>Interlinear: Scripture continued</vt:lpstr>
      <vt:lpstr>Interlinear: Scripture continued</vt:lpstr>
      <vt:lpstr>Interlinear: Scripture continued</vt:lpstr>
      <vt:lpstr>Interlinear: Scripture continued</vt:lpstr>
      <vt:lpstr>Interlinear: Scripture continued</vt:lpstr>
      <vt:lpstr>Interlinear: Scripture continued</vt:lpstr>
      <vt:lpstr>Interlinear: Scripture  continued</vt:lpstr>
      <vt:lpstr>Notebook model</vt:lpstr>
      <vt:lpstr>Notebook model continued</vt:lpstr>
      <vt:lpstr>Documentation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 9.1 Conceptual Model</dc:title>
  <dc:creator>Ken Zook</dc:creator>
  <cp:lastModifiedBy>Ken Zook</cp:lastModifiedBy>
  <cp:revision>74</cp:revision>
  <dcterms:created xsi:type="dcterms:W3CDTF">2024-05-09T15:41:17Z</dcterms:created>
  <dcterms:modified xsi:type="dcterms:W3CDTF">2024-07-09T14:39:04Z</dcterms:modified>
</cp:coreProperties>
</file>