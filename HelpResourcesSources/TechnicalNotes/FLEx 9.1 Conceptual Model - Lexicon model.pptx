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1" r:id="rId3"/>
    <p:sldId id="260" r:id="rId4"/>
    <p:sldId id="263" r:id="rId5"/>
    <p:sldId id="264" r:id="rId6"/>
    <p:sldId id="265" r:id="rId7"/>
    <p:sldId id="267" r:id="rId8"/>
    <p:sldId id="268" r:id="rId9"/>
    <p:sldId id="269" r:id="rId10"/>
    <p:sldId id="270" r:id="rId11"/>
    <p:sldId id="271" r:id="rId12"/>
    <p:sldId id="272" r:id="rId13"/>
    <p:sldId id="273" r:id="rId14"/>
    <p:sldId id="274" r:id="rId15"/>
    <p:sldId id="277" r:id="rId16"/>
    <p:sldId id="308" r:id="rId17"/>
    <p:sldId id="276" r:id="rId18"/>
    <p:sldId id="275" r:id="rId19"/>
    <p:sldId id="262" r:id="rId20"/>
    <p:sldId id="279" r:id="rId21"/>
    <p:sldId id="280" r:id="rId22"/>
    <p:sldId id="281" r:id="rId23"/>
    <p:sldId id="278" r:id="rId24"/>
    <p:sldId id="283" r:id="rId25"/>
    <p:sldId id="284" r:id="rId26"/>
    <p:sldId id="282" r:id="rId27"/>
    <p:sldId id="285"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286" r:id="rId47"/>
    <p:sldId id="305" r:id="rId48"/>
    <p:sldId id="306" r:id="rId49"/>
    <p:sldId id="307"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4660"/>
  </p:normalViewPr>
  <p:slideViewPr>
    <p:cSldViewPr snapToGrid="0">
      <p:cViewPr varScale="1">
        <p:scale>
          <a:sx n="88" d="100"/>
          <a:sy n="88" d="100"/>
        </p:scale>
        <p:origin x="1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D97E0-4065-45D3-96E7-518F482320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273C57-01DA-4338-B8C0-D6BE5455E1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8960A7-628C-4143-A544-29F4CAF5981D}"/>
              </a:ext>
            </a:extLst>
          </p:cNvPr>
          <p:cNvSpPr>
            <a:spLocks noGrp="1"/>
          </p:cNvSpPr>
          <p:nvPr>
            <p:ph type="dt" sz="half" idx="10"/>
          </p:nvPr>
        </p:nvSpPr>
        <p:spPr/>
        <p:txBody>
          <a:bodyPr/>
          <a:lstStyle/>
          <a:p>
            <a:fld id="{C9619C31-9712-4FF2-9651-92B20A921DDE}" type="datetimeFigureOut">
              <a:rPr lang="en-US" smtClean="0"/>
              <a:t>6/20/2024</a:t>
            </a:fld>
            <a:endParaRPr lang="en-US"/>
          </a:p>
        </p:txBody>
      </p:sp>
      <p:sp>
        <p:nvSpPr>
          <p:cNvPr id="5" name="Footer Placeholder 4">
            <a:extLst>
              <a:ext uri="{FF2B5EF4-FFF2-40B4-BE49-F238E27FC236}">
                <a16:creationId xmlns:a16="http://schemas.microsoft.com/office/drawing/2014/main" id="{09351184-5C3B-4E17-809C-E92F31782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56B58C-C333-401E-A659-B26817F6E1A2}"/>
              </a:ext>
            </a:extLst>
          </p:cNvPr>
          <p:cNvSpPr>
            <a:spLocks noGrp="1"/>
          </p:cNvSpPr>
          <p:nvPr>
            <p:ph type="sldNum" sz="quarter" idx="12"/>
          </p:nvPr>
        </p:nvSpPr>
        <p:spPr/>
        <p:txBody>
          <a:bodyPr/>
          <a:lstStyle/>
          <a:p>
            <a:fld id="{0B42CE0D-6379-4430-BD8F-3B255E3FDEE9}" type="slidenum">
              <a:rPr lang="en-US" smtClean="0"/>
              <a:t>‹#›</a:t>
            </a:fld>
            <a:endParaRPr lang="en-US"/>
          </a:p>
        </p:txBody>
      </p:sp>
    </p:spTree>
    <p:extLst>
      <p:ext uri="{BB962C8B-B14F-4D97-AF65-F5344CB8AC3E}">
        <p14:creationId xmlns:p14="http://schemas.microsoft.com/office/powerpoint/2010/main" val="1349522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2D948-18FF-4525-AEC7-D861C90F72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B8EBAF-78EB-46D3-AC36-D897F0FA351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2992A4-04C7-445C-8EA6-3BDF3908D8A7}"/>
              </a:ext>
            </a:extLst>
          </p:cNvPr>
          <p:cNvSpPr>
            <a:spLocks noGrp="1"/>
          </p:cNvSpPr>
          <p:nvPr>
            <p:ph type="dt" sz="half" idx="10"/>
          </p:nvPr>
        </p:nvSpPr>
        <p:spPr/>
        <p:txBody>
          <a:bodyPr/>
          <a:lstStyle/>
          <a:p>
            <a:fld id="{C9619C31-9712-4FF2-9651-92B20A921DDE}" type="datetimeFigureOut">
              <a:rPr lang="en-US" smtClean="0"/>
              <a:t>6/20/2024</a:t>
            </a:fld>
            <a:endParaRPr lang="en-US"/>
          </a:p>
        </p:txBody>
      </p:sp>
      <p:sp>
        <p:nvSpPr>
          <p:cNvPr id="5" name="Footer Placeholder 4">
            <a:extLst>
              <a:ext uri="{FF2B5EF4-FFF2-40B4-BE49-F238E27FC236}">
                <a16:creationId xmlns:a16="http://schemas.microsoft.com/office/drawing/2014/main" id="{96179273-FD5F-4A2E-97DD-9A1809B592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293F62-1A0C-4273-845E-D3D338420B49}"/>
              </a:ext>
            </a:extLst>
          </p:cNvPr>
          <p:cNvSpPr>
            <a:spLocks noGrp="1"/>
          </p:cNvSpPr>
          <p:nvPr>
            <p:ph type="sldNum" sz="quarter" idx="12"/>
          </p:nvPr>
        </p:nvSpPr>
        <p:spPr/>
        <p:txBody>
          <a:bodyPr/>
          <a:lstStyle/>
          <a:p>
            <a:fld id="{0B42CE0D-6379-4430-BD8F-3B255E3FDEE9}" type="slidenum">
              <a:rPr lang="en-US" smtClean="0"/>
              <a:t>‹#›</a:t>
            </a:fld>
            <a:endParaRPr lang="en-US"/>
          </a:p>
        </p:txBody>
      </p:sp>
    </p:spTree>
    <p:extLst>
      <p:ext uri="{BB962C8B-B14F-4D97-AF65-F5344CB8AC3E}">
        <p14:creationId xmlns:p14="http://schemas.microsoft.com/office/powerpoint/2010/main" val="1396230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8F8D5-0BEB-493C-8DA1-E792C6A66C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ECC1E7-08C0-495C-BA34-91BAFB291A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F7C83C9-735B-432A-89AC-ED9CA21D33DF}"/>
              </a:ext>
            </a:extLst>
          </p:cNvPr>
          <p:cNvSpPr>
            <a:spLocks noGrp="1"/>
          </p:cNvSpPr>
          <p:nvPr>
            <p:ph type="dt" sz="half" idx="10"/>
          </p:nvPr>
        </p:nvSpPr>
        <p:spPr/>
        <p:txBody>
          <a:bodyPr/>
          <a:lstStyle/>
          <a:p>
            <a:fld id="{C9619C31-9712-4FF2-9651-92B20A921DDE}" type="datetimeFigureOut">
              <a:rPr lang="en-US" smtClean="0"/>
              <a:t>6/20/2024</a:t>
            </a:fld>
            <a:endParaRPr lang="en-US"/>
          </a:p>
        </p:txBody>
      </p:sp>
      <p:sp>
        <p:nvSpPr>
          <p:cNvPr id="5" name="Footer Placeholder 4">
            <a:extLst>
              <a:ext uri="{FF2B5EF4-FFF2-40B4-BE49-F238E27FC236}">
                <a16:creationId xmlns:a16="http://schemas.microsoft.com/office/drawing/2014/main" id="{EFBA8EDF-0E18-4C8F-B617-E8B88535D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2FAEC1-FD30-41FD-827E-697229DC5FED}"/>
              </a:ext>
            </a:extLst>
          </p:cNvPr>
          <p:cNvSpPr>
            <a:spLocks noGrp="1"/>
          </p:cNvSpPr>
          <p:nvPr>
            <p:ph type="sldNum" sz="quarter" idx="12"/>
          </p:nvPr>
        </p:nvSpPr>
        <p:spPr/>
        <p:txBody>
          <a:bodyPr/>
          <a:lstStyle/>
          <a:p>
            <a:fld id="{0B42CE0D-6379-4430-BD8F-3B255E3FDEE9}" type="slidenum">
              <a:rPr lang="en-US" smtClean="0"/>
              <a:t>‹#›</a:t>
            </a:fld>
            <a:endParaRPr lang="en-US"/>
          </a:p>
        </p:txBody>
      </p:sp>
    </p:spTree>
    <p:extLst>
      <p:ext uri="{BB962C8B-B14F-4D97-AF65-F5344CB8AC3E}">
        <p14:creationId xmlns:p14="http://schemas.microsoft.com/office/powerpoint/2010/main" val="1654800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92E33-891D-48D2-8FAB-4DDD466994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C8BF2E-2F5D-46A0-B51B-B96F1037C7E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94A02E-90FB-4647-8DA7-A037A00D5A8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301F2F-5B9E-455E-9D38-43852A341113}"/>
              </a:ext>
            </a:extLst>
          </p:cNvPr>
          <p:cNvSpPr>
            <a:spLocks noGrp="1"/>
          </p:cNvSpPr>
          <p:nvPr>
            <p:ph type="dt" sz="half" idx="10"/>
          </p:nvPr>
        </p:nvSpPr>
        <p:spPr/>
        <p:txBody>
          <a:bodyPr/>
          <a:lstStyle/>
          <a:p>
            <a:fld id="{C9619C31-9712-4FF2-9651-92B20A921DDE}" type="datetimeFigureOut">
              <a:rPr lang="en-US" smtClean="0"/>
              <a:t>6/20/2024</a:t>
            </a:fld>
            <a:endParaRPr lang="en-US"/>
          </a:p>
        </p:txBody>
      </p:sp>
      <p:sp>
        <p:nvSpPr>
          <p:cNvPr id="6" name="Footer Placeholder 5">
            <a:extLst>
              <a:ext uri="{FF2B5EF4-FFF2-40B4-BE49-F238E27FC236}">
                <a16:creationId xmlns:a16="http://schemas.microsoft.com/office/drawing/2014/main" id="{DDE22702-86D8-4DA3-B195-68A00FB591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79141C-0DCD-437A-8861-139014C55F2C}"/>
              </a:ext>
            </a:extLst>
          </p:cNvPr>
          <p:cNvSpPr>
            <a:spLocks noGrp="1"/>
          </p:cNvSpPr>
          <p:nvPr>
            <p:ph type="sldNum" sz="quarter" idx="12"/>
          </p:nvPr>
        </p:nvSpPr>
        <p:spPr/>
        <p:txBody>
          <a:bodyPr/>
          <a:lstStyle/>
          <a:p>
            <a:fld id="{0B42CE0D-6379-4430-BD8F-3B255E3FDEE9}" type="slidenum">
              <a:rPr lang="en-US" smtClean="0"/>
              <a:t>‹#›</a:t>
            </a:fld>
            <a:endParaRPr lang="en-US"/>
          </a:p>
        </p:txBody>
      </p:sp>
    </p:spTree>
    <p:extLst>
      <p:ext uri="{BB962C8B-B14F-4D97-AF65-F5344CB8AC3E}">
        <p14:creationId xmlns:p14="http://schemas.microsoft.com/office/powerpoint/2010/main" val="1925387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5B925-1FE8-44FF-85B1-2F2D586A5D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AB5391-C9AE-4A71-A5C1-147A496A15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CDA43A5-ABBE-4EC7-AD60-17B3764BAB2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B31991-783E-45FD-9B26-84207A8952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6471AB-6AD4-4302-BE8C-B4FAD996830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6D5527-26D4-4DFD-98F5-F91FC29479BB}"/>
              </a:ext>
            </a:extLst>
          </p:cNvPr>
          <p:cNvSpPr>
            <a:spLocks noGrp="1"/>
          </p:cNvSpPr>
          <p:nvPr>
            <p:ph type="dt" sz="half" idx="10"/>
          </p:nvPr>
        </p:nvSpPr>
        <p:spPr/>
        <p:txBody>
          <a:bodyPr/>
          <a:lstStyle/>
          <a:p>
            <a:fld id="{C9619C31-9712-4FF2-9651-92B20A921DDE}" type="datetimeFigureOut">
              <a:rPr lang="en-US" smtClean="0"/>
              <a:t>6/20/2024</a:t>
            </a:fld>
            <a:endParaRPr lang="en-US"/>
          </a:p>
        </p:txBody>
      </p:sp>
      <p:sp>
        <p:nvSpPr>
          <p:cNvPr id="8" name="Footer Placeholder 7">
            <a:extLst>
              <a:ext uri="{FF2B5EF4-FFF2-40B4-BE49-F238E27FC236}">
                <a16:creationId xmlns:a16="http://schemas.microsoft.com/office/drawing/2014/main" id="{3946ACAB-373E-4F54-A999-E1D0DD1374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69D0CA-FAC3-480B-85C1-4D9FD9E76C82}"/>
              </a:ext>
            </a:extLst>
          </p:cNvPr>
          <p:cNvSpPr>
            <a:spLocks noGrp="1"/>
          </p:cNvSpPr>
          <p:nvPr>
            <p:ph type="sldNum" sz="quarter" idx="12"/>
          </p:nvPr>
        </p:nvSpPr>
        <p:spPr/>
        <p:txBody>
          <a:bodyPr/>
          <a:lstStyle/>
          <a:p>
            <a:fld id="{0B42CE0D-6379-4430-BD8F-3B255E3FDEE9}" type="slidenum">
              <a:rPr lang="en-US" smtClean="0"/>
              <a:t>‹#›</a:t>
            </a:fld>
            <a:endParaRPr lang="en-US"/>
          </a:p>
        </p:txBody>
      </p:sp>
    </p:spTree>
    <p:extLst>
      <p:ext uri="{BB962C8B-B14F-4D97-AF65-F5344CB8AC3E}">
        <p14:creationId xmlns:p14="http://schemas.microsoft.com/office/powerpoint/2010/main" val="2087474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C4BBB-1461-419D-A2ED-8CB37751AD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2501B8-40DF-440A-8FD1-FE2FE6A6212B}"/>
              </a:ext>
            </a:extLst>
          </p:cNvPr>
          <p:cNvSpPr>
            <a:spLocks noGrp="1"/>
          </p:cNvSpPr>
          <p:nvPr>
            <p:ph type="dt" sz="half" idx="10"/>
          </p:nvPr>
        </p:nvSpPr>
        <p:spPr/>
        <p:txBody>
          <a:bodyPr/>
          <a:lstStyle/>
          <a:p>
            <a:fld id="{C9619C31-9712-4FF2-9651-92B20A921DDE}" type="datetimeFigureOut">
              <a:rPr lang="en-US" smtClean="0"/>
              <a:t>6/20/2024</a:t>
            </a:fld>
            <a:endParaRPr lang="en-US"/>
          </a:p>
        </p:txBody>
      </p:sp>
      <p:sp>
        <p:nvSpPr>
          <p:cNvPr id="4" name="Footer Placeholder 3">
            <a:extLst>
              <a:ext uri="{FF2B5EF4-FFF2-40B4-BE49-F238E27FC236}">
                <a16:creationId xmlns:a16="http://schemas.microsoft.com/office/drawing/2014/main" id="{75E6A3B8-C3AE-468B-8D88-9C4A623F20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F98D9C-8A10-4268-9DC5-FA8D1E831C44}"/>
              </a:ext>
            </a:extLst>
          </p:cNvPr>
          <p:cNvSpPr>
            <a:spLocks noGrp="1"/>
          </p:cNvSpPr>
          <p:nvPr>
            <p:ph type="sldNum" sz="quarter" idx="12"/>
          </p:nvPr>
        </p:nvSpPr>
        <p:spPr/>
        <p:txBody>
          <a:bodyPr/>
          <a:lstStyle/>
          <a:p>
            <a:fld id="{0B42CE0D-6379-4430-BD8F-3B255E3FDEE9}" type="slidenum">
              <a:rPr lang="en-US" smtClean="0"/>
              <a:t>‹#›</a:t>
            </a:fld>
            <a:endParaRPr lang="en-US"/>
          </a:p>
        </p:txBody>
      </p:sp>
    </p:spTree>
    <p:extLst>
      <p:ext uri="{BB962C8B-B14F-4D97-AF65-F5344CB8AC3E}">
        <p14:creationId xmlns:p14="http://schemas.microsoft.com/office/powerpoint/2010/main" val="958560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8D0E6B-A5B1-47C5-B93B-74F2376F96B7}"/>
              </a:ext>
            </a:extLst>
          </p:cNvPr>
          <p:cNvSpPr>
            <a:spLocks noGrp="1"/>
          </p:cNvSpPr>
          <p:nvPr>
            <p:ph type="dt" sz="half" idx="10"/>
          </p:nvPr>
        </p:nvSpPr>
        <p:spPr/>
        <p:txBody>
          <a:bodyPr/>
          <a:lstStyle/>
          <a:p>
            <a:fld id="{C9619C31-9712-4FF2-9651-92B20A921DDE}" type="datetimeFigureOut">
              <a:rPr lang="en-US" smtClean="0"/>
              <a:t>6/20/2024</a:t>
            </a:fld>
            <a:endParaRPr lang="en-US"/>
          </a:p>
        </p:txBody>
      </p:sp>
      <p:sp>
        <p:nvSpPr>
          <p:cNvPr id="3" name="Footer Placeholder 2">
            <a:extLst>
              <a:ext uri="{FF2B5EF4-FFF2-40B4-BE49-F238E27FC236}">
                <a16:creationId xmlns:a16="http://schemas.microsoft.com/office/drawing/2014/main" id="{BD088E29-4EA8-40D0-8896-4AAE0F1287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03D9F1-D8B4-45E8-8917-058E8696CDEE}"/>
              </a:ext>
            </a:extLst>
          </p:cNvPr>
          <p:cNvSpPr>
            <a:spLocks noGrp="1"/>
          </p:cNvSpPr>
          <p:nvPr>
            <p:ph type="sldNum" sz="quarter" idx="12"/>
          </p:nvPr>
        </p:nvSpPr>
        <p:spPr/>
        <p:txBody>
          <a:bodyPr/>
          <a:lstStyle/>
          <a:p>
            <a:fld id="{0B42CE0D-6379-4430-BD8F-3B255E3FDEE9}" type="slidenum">
              <a:rPr lang="en-US" smtClean="0"/>
              <a:t>‹#›</a:t>
            </a:fld>
            <a:endParaRPr lang="en-US"/>
          </a:p>
        </p:txBody>
      </p:sp>
    </p:spTree>
    <p:extLst>
      <p:ext uri="{BB962C8B-B14F-4D97-AF65-F5344CB8AC3E}">
        <p14:creationId xmlns:p14="http://schemas.microsoft.com/office/powerpoint/2010/main" val="3578921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0F45B-6EC2-41A0-A5A5-FEB666F803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EF9915-0343-409C-A371-BEBDC2FCEA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233455-187A-484C-ADE5-32BFED2EA3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B4F3F7-E292-40D4-9316-3E82CFABE191}"/>
              </a:ext>
            </a:extLst>
          </p:cNvPr>
          <p:cNvSpPr>
            <a:spLocks noGrp="1"/>
          </p:cNvSpPr>
          <p:nvPr>
            <p:ph type="dt" sz="half" idx="10"/>
          </p:nvPr>
        </p:nvSpPr>
        <p:spPr/>
        <p:txBody>
          <a:bodyPr/>
          <a:lstStyle/>
          <a:p>
            <a:fld id="{C9619C31-9712-4FF2-9651-92B20A921DDE}" type="datetimeFigureOut">
              <a:rPr lang="en-US" smtClean="0"/>
              <a:t>6/20/2024</a:t>
            </a:fld>
            <a:endParaRPr lang="en-US"/>
          </a:p>
        </p:txBody>
      </p:sp>
      <p:sp>
        <p:nvSpPr>
          <p:cNvPr id="6" name="Footer Placeholder 5">
            <a:extLst>
              <a:ext uri="{FF2B5EF4-FFF2-40B4-BE49-F238E27FC236}">
                <a16:creationId xmlns:a16="http://schemas.microsoft.com/office/drawing/2014/main" id="{E8216E61-2888-429D-A2B0-BF338A3D5F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49807A-2807-4261-B3E6-D95185DF97A0}"/>
              </a:ext>
            </a:extLst>
          </p:cNvPr>
          <p:cNvSpPr>
            <a:spLocks noGrp="1"/>
          </p:cNvSpPr>
          <p:nvPr>
            <p:ph type="sldNum" sz="quarter" idx="12"/>
          </p:nvPr>
        </p:nvSpPr>
        <p:spPr/>
        <p:txBody>
          <a:bodyPr/>
          <a:lstStyle/>
          <a:p>
            <a:fld id="{0B42CE0D-6379-4430-BD8F-3B255E3FDEE9}" type="slidenum">
              <a:rPr lang="en-US" smtClean="0"/>
              <a:t>‹#›</a:t>
            </a:fld>
            <a:endParaRPr lang="en-US"/>
          </a:p>
        </p:txBody>
      </p:sp>
    </p:spTree>
    <p:extLst>
      <p:ext uri="{BB962C8B-B14F-4D97-AF65-F5344CB8AC3E}">
        <p14:creationId xmlns:p14="http://schemas.microsoft.com/office/powerpoint/2010/main" val="445946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EDE1-8436-4D1A-B9E8-402B2972A4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2C6DC6-D15A-4717-8723-0AF4F69743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C5919B-7B3A-49B6-A159-45CABA85BD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5156A72-4B45-4204-8E90-6F02E7B96EC2}"/>
              </a:ext>
            </a:extLst>
          </p:cNvPr>
          <p:cNvSpPr>
            <a:spLocks noGrp="1"/>
          </p:cNvSpPr>
          <p:nvPr>
            <p:ph type="dt" sz="half" idx="10"/>
          </p:nvPr>
        </p:nvSpPr>
        <p:spPr/>
        <p:txBody>
          <a:bodyPr/>
          <a:lstStyle/>
          <a:p>
            <a:fld id="{C9619C31-9712-4FF2-9651-92B20A921DDE}" type="datetimeFigureOut">
              <a:rPr lang="en-US" smtClean="0"/>
              <a:t>6/20/2024</a:t>
            </a:fld>
            <a:endParaRPr lang="en-US"/>
          </a:p>
        </p:txBody>
      </p:sp>
      <p:sp>
        <p:nvSpPr>
          <p:cNvPr id="6" name="Footer Placeholder 5">
            <a:extLst>
              <a:ext uri="{FF2B5EF4-FFF2-40B4-BE49-F238E27FC236}">
                <a16:creationId xmlns:a16="http://schemas.microsoft.com/office/drawing/2014/main" id="{3597F9A9-10CE-403F-A11D-45DB05A455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C9157A-FA91-44A8-BBFB-C2B42E3CD00C}"/>
              </a:ext>
            </a:extLst>
          </p:cNvPr>
          <p:cNvSpPr>
            <a:spLocks noGrp="1"/>
          </p:cNvSpPr>
          <p:nvPr>
            <p:ph type="sldNum" sz="quarter" idx="12"/>
          </p:nvPr>
        </p:nvSpPr>
        <p:spPr/>
        <p:txBody>
          <a:bodyPr/>
          <a:lstStyle/>
          <a:p>
            <a:fld id="{0B42CE0D-6379-4430-BD8F-3B255E3FDEE9}" type="slidenum">
              <a:rPr lang="en-US" smtClean="0"/>
              <a:t>‹#›</a:t>
            </a:fld>
            <a:endParaRPr lang="en-US"/>
          </a:p>
        </p:txBody>
      </p:sp>
    </p:spTree>
    <p:extLst>
      <p:ext uri="{BB962C8B-B14F-4D97-AF65-F5344CB8AC3E}">
        <p14:creationId xmlns:p14="http://schemas.microsoft.com/office/powerpoint/2010/main" val="1930452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477FA-C399-4578-8C60-718B9CFD08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974EC7-70BC-4474-88FC-2FC4592B136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140695-FA2F-47F1-8427-5C256DDF3180}"/>
              </a:ext>
            </a:extLst>
          </p:cNvPr>
          <p:cNvSpPr>
            <a:spLocks noGrp="1"/>
          </p:cNvSpPr>
          <p:nvPr>
            <p:ph type="dt" sz="half" idx="10"/>
          </p:nvPr>
        </p:nvSpPr>
        <p:spPr/>
        <p:txBody>
          <a:bodyPr/>
          <a:lstStyle/>
          <a:p>
            <a:fld id="{C9619C31-9712-4FF2-9651-92B20A921DDE}" type="datetimeFigureOut">
              <a:rPr lang="en-US" smtClean="0"/>
              <a:t>6/20/2024</a:t>
            </a:fld>
            <a:endParaRPr lang="en-US"/>
          </a:p>
        </p:txBody>
      </p:sp>
      <p:sp>
        <p:nvSpPr>
          <p:cNvPr id="5" name="Footer Placeholder 4">
            <a:extLst>
              <a:ext uri="{FF2B5EF4-FFF2-40B4-BE49-F238E27FC236}">
                <a16:creationId xmlns:a16="http://schemas.microsoft.com/office/drawing/2014/main" id="{3A5E24EF-D7DB-477C-8632-8E93090A5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56BA31-4419-459C-9132-1B0E02083983}"/>
              </a:ext>
            </a:extLst>
          </p:cNvPr>
          <p:cNvSpPr>
            <a:spLocks noGrp="1"/>
          </p:cNvSpPr>
          <p:nvPr>
            <p:ph type="sldNum" sz="quarter" idx="12"/>
          </p:nvPr>
        </p:nvSpPr>
        <p:spPr/>
        <p:txBody>
          <a:bodyPr/>
          <a:lstStyle/>
          <a:p>
            <a:fld id="{0B42CE0D-6379-4430-BD8F-3B255E3FDEE9}" type="slidenum">
              <a:rPr lang="en-US" smtClean="0"/>
              <a:t>‹#›</a:t>
            </a:fld>
            <a:endParaRPr lang="en-US"/>
          </a:p>
        </p:txBody>
      </p:sp>
    </p:spTree>
    <p:extLst>
      <p:ext uri="{BB962C8B-B14F-4D97-AF65-F5344CB8AC3E}">
        <p14:creationId xmlns:p14="http://schemas.microsoft.com/office/powerpoint/2010/main" val="3413943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4FAD14-4967-4691-B38B-D08BB9042E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EC343C-DF53-4540-BC8B-631417D3EDF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BCFEBD-ED8E-43CB-B619-BB330EB3338A}"/>
              </a:ext>
            </a:extLst>
          </p:cNvPr>
          <p:cNvSpPr>
            <a:spLocks noGrp="1"/>
          </p:cNvSpPr>
          <p:nvPr>
            <p:ph type="dt" sz="half" idx="10"/>
          </p:nvPr>
        </p:nvSpPr>
        <p:spPr/>
        <p:txBody>
          <a:bodyPr/>
          <a:lstStyle/>
          <a:p>
            <a:fld id="{C9619C31-9712-4FF2-9651-92B20A921DDE}" type="datetimeFigureOut">
              <a:rPr lang="en-US" smtClean="0"/>
              <a:t>6/20/2024</a:t>
            </a:fld>
            <a:endParaRPr lang="en-US"/>
          </a:p>
        </p:txBody>
      </p:sp>
      <p:sp>
        <p:nvSpPr>
          <p:cNvPr id="5" name="Footer Placeholder 4">
            <a:extLst>
              <a:ext uri="{FF2B5EF4-FFF2-40B4-BE49-F238E27FC236}">
                <a16:creationId xmlns:a16="http://schemas.microsoft.com/office/drawing/2014/main" id="{84659F02-BE9F-43CA-BB5E-ED2EFD1B15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F87721-625B-46CC-B504-DCDA8298AFC7}"/>
              </a:ext>
            </a:extLst>
          </p:cNvPr>
          <p:cNvSpPr>
            <a:spLocks noGrp="1"/>
          </p:cNvSpPr>
          <p:nvPr>
            <p:ph type="sldNum" sz="quarter" idx="12"/>
          </p:nvPr>
        </p:nvSpPr>
        <p:spPr/>
        <p:txBody>
          <a:bodyPr/>
          <a:lstStyle/>
          <a:p>
            <a:fld id="{0B42CE0D-6379-4430-BD8F-3B255E3FDEE9}" type="slidenum">
              <a:rPr lang="en-US" smtClean="0"/>
              <a:t>‹#›</a:t>
            </a:fld>
            <a:endParaRPr lang="en-US"/>
          </a:p>
        </p:txBody>
      </p:sp>
    </p:spTree>
    <p:extLst>
      <p:ext uri="{BB962C8B-B14F-4D97-AF65-F5344CB8AC3E}">
        <p14:creationId xmlns:p14="http://schemas.microsoft.com/office/powerpoint/2010/main" val="2938619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717DBB-2AB3-4ACE-95E0-075524ACD4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A7C594-A252-4405-840F-B131C3817A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FC67FC-8C99-40A6-AD83-8C9D894A1C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619C31-9712-4FF2-9651-92B20A921DDE}" type="datetimeFigureOut">
              <a:rPr lang="en-US" smtClean="0"/>
              <a:t>6/20/2024</a:t>
            </a:fld>
            <a:endParaRPr lang="en-US"/>
          </a:p>
        </p:txBody>
      </p:sp>
      <p:sp>
        <p:nvSpPr>
          <p:cNvPr id="5" name="Footer Placeholder 4">
            <a:extLst>
              <a:ext uri="{FF2B5EF4-FFF2-40B4-BE49-F238E27FC236}">
                <a16:creationId xmlns:a16="http://schemas.microsoft.com/office/drawing/2014/main" id="{933B0A56-71D2-4BB9-98C5-6B0F82DAFD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380F00-1141-4FDE-8965-C0B7D0B86B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42CE0D-6379-4430-BD8F-3B255E3FDEE9}" type="slidenum">
              <a:rPr lang="en-US" smtClean="0"/>
              <a:t>‹#›</a:t>
            </a:fld>
            <a:endParaRPr lang="en-US"/>
          </a:p>
        </p:txBody>
      </p:sp>
    </p:spTree>
    <p:extLst>
      <p:ext uri="{BB962C8B-B14F-4D97-AF65-F5344CB8AC3E}">
        <p14:creationId xmlns:p14="http://schemas.microsoft.com/office/powerpoint/2010/main" val="143116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541B830-EE1E-4C9A-B849-543DD9240B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548"/>
            <a:ext cx="12192000" cy="6800903"/>
          </a:xfrm>
          <a:prstGeom prst="rect">
            <a:avLst/>
          </a:prstGeom>
        </p:spPr>
      </p:pic>
      <p:sp>
        <p:nvSpPr>
          <p:cNvPr id="2" name="Title 1">
            <a:extLst>
              <a:ext uri="{FF2B5EF4-FFF2-40B4-BE49-F238E27FC236}">
                <a16:creationId xmlns:a16="http://schemas.microsoft.com/office/drawing/2014/main" id="{06CF19D9-1194-4EE6-866C-DDE4ACF2EF90}"/>
              </a:ext>
            </a:extLst>
          </p:cNvPr>
          <p:cNvSpPr>
            <a:spLocks noGrp="1"/>
          </p:cNvSpPr>
          <p:nvPr>
            <p:ph type="ctrTitle"/>
          </p:nvPr>
        </p:nvSpPr>
        <p:spPr/>
        <p:txBody>
          <a:bodyPr/>
          <a:lstStyle/>
          <a:p>
            <a:r>
              <a:rPr lang="en-US" dirty="0">
                <a:latin typeface="+mn-lt"/>
              </a:rPr>
              <a:t>FLEx 9.1 Conceptual Model</a:t>
            </a:r>
          </a:p>
        </p:txBody>
      </p:sp>
      <p:sp>
        <p:nvSpPr>
          <p:cNvPr id="3" name="Subtitle 2">
            <a:extLst>
              <a:ext uri="{FF2B5EF4-FFF2-40B4-BE49-F238E27FC236}">
                <a16:creationId xmlns:a16="http://schemas.microsoft.com/office/drawing/2014/main" id="{6B28D945-AF19-41CE-9401-97B7CCF34DAE}"/>
              </a:ext>
            </a:extLst>
          </p:cNvPr>
          <p:cNvSpPr>
            <a:spLocks noGrp="1"/>
          </p:cNvSpPr>
          <p:nvPr>
            <p:ph type="subTitle" idx="1"/>
          </p:nvPr>
        </p:nvSpPr>
        <p:spPr/>
        <p:txBody>
          <a:bodyPr/>
          <a:lstStyle/>
          <a:p>
            <a:r>
              <a:rPr lang="en-US" sz="4800" dirty="0"/>
              <a:t>Lexicon model</a:t>
            </a:r>
            <a:br>
              <a:rPr lang="en-US" dirty="0"/>
            </a:br>
            <a:r>
              <a:rPr lang="en-US" dirty="0"/>
              <a:t>Ken Zook</a:t>
            </a:r>
          </a:p>
          <a:p>
            <a:r>
              <a:rPr lang="en-US"/>
              <a:t>June 20, 2024</a:t>
            </a:r>
            <a:endParaRPr lang="en-US" dirty="0"/>
          </a:p>
        </p:txBody>
      </p:sp>
    </p:spTree>
    <p:extLst>
      <p:ext uri="{BB962C8B-B14F-4D97-AF65-F5344CB8AC3E}">
        <p14:creationId xmlns:p14="http://schemas.microsoft.com/office/powerpoint/2010/main" val="1824511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Introduction</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Lexical data is owned in the </a:t>
            </a:r>
            <a:r>
              <a:rPr lang="en-US" dirty="0" err="1"/>
              <a:t>LexDb</a:t>
            </a:r>
            <a:r>
              <a:rPr lang="en-US" dirty="0"/>
              <a:t> property of </a:t>
            </a:r>
            <a:r>
              <a:rPr lang="en-US" dirty="0" err="1"/>
              <a:t>LangProject</a:t>
            </a:r>
            <a:r>
              <a:rPr lang="en-US" dirty="0"/>
              <a:t>. This property holds a single </a:t>
            </a:r>
            <a:r>
              <a:rPr lang="en-US" dirty="0" err="1"/>
              <a:t>LexDb</a:t>
            </a:r>
            <a:r>
              <a:rPr lang="en-US" dirty="0"/>
              <a:t> object that holds information relevant to the lexicon.</a:t>
            </a:r>
          </a:p>
          <a:p>
            <a:r>
              <a:rPr lang="en-US" dirty="0"/>
              <a:t>Entries do not have owners, but can be accessed from </a:t>
            </a:r>
            <a:r>
              <a:rPr lang="en-US" dirty="0" err="1"/>
              <a:t>LexDb</a:t>
            </a:r>
            <a:r>
              <a:rPr lang="en-US" dirty="0"/>
              <a:t> via a virtual Entries method, or through the </a:t>
            </a:r>
            <a:r>
              <a:rPr lang="en-US" dirty="0" err="1"/>
              <a:t>ILexEntry</a:t>
            </a:r>
            <a:r>
              <a:rPr lang="en-US" dirty="0"/>
              <a:t> repository.</a:t>
            </a:r>
          </a:p>
          <a:p>
            <a:r>
              <a:rPr lang="en-US" dirty="0"/>
              <a:t>FLEx uses reference links between different objects, and when information is displayed, it pulls information from each object as it is needed for the display. FLEx also removes any links to objects that get deleted. As a result, the data displayed is always current. If a headword changes, or the homograph numbers change, or sense numbers change, all references to that entry will automatically match the new state of the data.</a:t>
            </a:r>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76119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err="1"/>
              <a:t>LexEntry</a:t>
            </a:r>
            <a:r>
              <a:rPr lang="en-US" dirty="0"/>
              <a:t> is the class for lexical entries. This class is used for main entries that show as headwords in the dictionary, and also for entries that are variants or complex forms (e.g., subentries) of the main entries.</a:t>
            </a:r>
          </a:p>
          <a:p>
            <a:r>
              <a:rPr lang="en-US" dirty="0"/>
              <a:t>Minor entries are also displayed from the data in the </a:t>
            </a:r>
            <a:r>
              <a:rPr lang="en-US" dirty="0" err="1"/>
              <a:t>LexEntry</a:t>
            </a:r>
            <a:r>
              <a:rPr lang="en-US" dirty="0"/>
              <a:t>.</a:t>
            </a:r>
          </a:p>
          <a:p>
            <a:r>
              <a:rPr lang="en-US" dirty="0"/>
              <a:t>Entries keep track of date/time created and modified.</a:t>
            </a:r>
          </a:p>
          <a:p>
            <a:r>
              <a:rPr lang="en-US" dirty="0"/>
              <a:t>The </a:t>
            </a:r>
            <a:r>
              <a:rPr lang="en-US" dirty="0" err="1"/>
              <a:t>LexEntry</a:t>
            </a:r>
            <a:r>
              <a:rPr lang="en-US" dirty="0"/>
              <a:t> class includes the following types of strings.</a:t>
            </a:r>
          </a:p>
          <a:p>
            <a:endParaRPr lang="en-US" dirty="0"/>
          </a:p>
          <a:p>
            <a:endParaRPr lang="en-US" dirty="0"/>
          </a:p>
        </p:txBody>
      </p:sp>
      <p:pic>
        <p:nvPicPr>
          <p:cNvPr id="5" name="Picture 4">
            <a:extLst>
              <a:ext uri="{FF2B5EF4-FFF2-40B4-BE49-F238E27FC236}">
                <a16:creationId xmlns:a16="http://schemas.microsoft.com/office/drawing/2014/main" id="{0BEDCD92-1F2D-42E1-956B-BDE00189358B}"/>
              </a:ext>
            </a:extLst>
          </p:cNvPr>
          <p:cNvPicPr>
            <a:picLocks noChangeAspect="1"/>
          </p:cNvPicPr>
          <p:nvPr/>
        </p:nvPicPr>
        <p:blipFill>
          <a:blip r:embed="rId2"/>
          <a:stretch>
            <a:fillRect/>
          </a:stretch>
        </p:blipFill>
        <p:spPr>
          <a:xfrm>
            <a:off x="2248292" y="4047989"/>
            <a:ext cx="5586146" cy="2657612"/>
          </a:xfrm>
          <a:prstGeom prst="rect">
            <a:avLst/>
          </a:prstGeom>
        </p:spPr>
      </p:pic>
    </p:spTree>
    <p:extLst>
      <p:ext uri="{BB962C8B-B14F-4D97-AF65-F5344CB8AC3E}">
        <p14:creationId xmlns:p14="http://schemas.microsoft.com/office/powerpoint/2010/main" val="2394391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Stem / Affix</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85000" lnSpcReduction="20000"/>
          </a:bodyPr>
          <a:lstStyle/>
          <a:p>
            <a:r>
              <a:rPr lang="en-US" dirty="0"/>
              <a:t>Every </a:t>
            </a:r>
            <a:r>
              <a:rPr lang="en-US" dirty="0" err="1"/>
              <a:t>LexEntry</a:t>
            </a:r>
            <a:r>
              <a:rPr lang="en-US" dirty="0"/>
              <a:t> must have a reference to a </a:t>
            </a:r>
            <a:r>
              <a:rPr lang="en-US" dirty="0" err="1"/>
              <a:t>MoMorphType</a:t>
            </a:r>
            <a:r>
              <a:rPr lang="en-US" dirty="0"/>
              <a:t> item in the Morpheme Types list. There are 19 possibilities in this list. This list is fixed, meaning you can’t add or delete any items because FLEx code depends on having each entry assigned to one of these. There are actually two types; stem and affix types.</a:t>
            </a:r>
          </a:p>
          <a:p>
            <a:endParaRPr lang="en-US" dirty="0"/>
          </a:p>
          <a:p>
            <a:endParaRPr lang="en-US" dirty="0"/>
          </a:p>
          <a:p>
            <a:endParaRPr lang="en-US" dirty="0"/>
          </a:p>
          <a:p>
            <a:endParaRPr lang="en-US" dirty="0"/>
          </a:p>
          <a:p>
            <a:endParaRPr lang="en-US" dirty="0"/>
          </a:p>
          <a:p>
            <a:endParaRPr lang="en-US" dirty="0"/>
          </a:p>
          <a:p>
            <a:r>
              <a:rPr lang="en-US" dirty="0"/>
              <a:t>Every </a:t>
            </a:r>
            <a:r>
              <a:rPr lang="en-US" dirty="0" err="1"/>
              <a:t>LexEntry</a:t>
            </a:r>
            <a:r>
              <a:rPr lang="en-US" dirty="0"/>
              <a:t> must have a </a:t>
            </a:r>
            <a:r>
              <a:rPr lang="en-US" dirty="0" err="1"/>
              <a:t>MoForm</a:t>
            </a:r>
            <a:r>
              <a:rPr lang="en-US" dirty="0"/>
              <a:t> object in the </a:t>
            </a:r>
            <a:r>
              <a:rPr lang="en-US" dirty="0" err="1"/>
              <a:t>LexemeForm</a:t>
            </a:r>
            <a:r>
              <a:rPr lang="en-US" dirty="0"/>
              <a:t> property. This object actually holds the reference to a morph type in the </a:t>
            </a:r>
            <a:r>
              <a:rPr lang="en-US" dirty="0" err="1"/>
              <a:t>MorphType</a:t>
            </a:r>
            <a:r>
              <a:rPr lang="en-US" dirty="0"/>
              <a:t> reference property. But </a:t>
            </a:r>
            <a:r>
              <a:rPr lang="en-US" dirty="0" err="1"/>
              <a:t>MoForm</a:t>
            </a:r>
            <a:r>
              <a:rPr lang="en-US" dirty="0"/>
              <a:t> is actually abstract, so there are only 3 choices to use.</a:t>
            </a:r>
          </a:p>
          <a:p>
            <a:r>
              <a:rPr lang="en-US" dirty="0"/>
              <a:t>For stem type morphemes, </a:t>
            </a:r>
            <a:r>
              <a:rPr lang="en-US" dirty="0" err="1"/>
              <a:t>MoStemAllomorph</a:t>
            </a:r>
            <a:r>
              <a:rPr lang="en-US" dirty="0"/>
              <a:t> is used. </a:t>
            </a:r>
          </a:p>
          <a:p>
            <a:r>
              <a:rPr lang="en-US" dirty="0"/>
              <a:t>For affix types, </a:t>
            </a:r>
            <a:r>
              <a:rPr lang="en-US" dirty="0" err="1"/>
              <a:t>MoAffixAllomorph</a:t>
            </a:r>
            <a:r>
              <a:rPr lang="en-US" dirty="0"/>
              <a:t> is normally used, but </a:t>
            </a:r>
            <a:r>
              <a:rPr lang="en-US" dirty="0" err="1"/>
              <a:t>MoAffixProcess</a:t>
            </a:r>
            <a:r>
              <a:rPr lang="en-US" dirty="0"/>
              <a:t> is another option.</a:t>
            </a:r>
          </a:p>
          <a:p>
            <a:endParaRPr lang="en-US" dirty="0"/>
          </a:p>
          <a:p>
            <a:endParaRPr lang="en-US" dirty="0"/>
          </a:p>
        </p:txBody>
      </p:sp>
      <p:pic>
        <p:nvPicPr>
          <p:cNvPr id="4" name="Picture 3">
            <a:extLst>
              <a:ext uri="{FF2B5EF4-FFF2-40B4-BE49-F238E27FC236}">
                <a16:creationId xmlns:a16="http://schemas.microsoft.com/office/drawing/2014/main" id="{68AF341D-BFE3-42D2-8147-3045EB1117A3}"/>
              </a:ext>
            </a:extLst>
          </p:cNvPr>
          <p:cNvPicPr>
            <a:picLocks noChangeAspect="1"/>
          </p:cNvPicPr>
          <p:nvPr/>
        </p:nvPicPr>
        <p:blipFill>
          <a:blip r:embed="rId2"/>
          <a:stretch>
            <a:fillRect/>
          </a:stretch>
        </p:blipFill>
        <p:spPr>
          <a:xfrm>
            <a:off x="2773408" y="2034307"/>
            <a:ext cx="5031649" cy="2314723"/>
          </a:xfrm>
          <a:prstGeom prst="rect">
            <a:avLst/>
          </a:prstGeom>
        </p:spPr>
      </p:pic>
    </p:spTree>
    <p:extLst>
      <p:ext uri="{BB962C8B-B14F-4D97-AF65-F5344CB8AC3E}">
        <p14:creationId xmlns:p14="http://schemas.microsoft.com/office/powerpoint/2010/main" val="2612433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Stem / Affix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7500" lnSpcReduction="20000"/>
          </a:bodyPr>
          <a:lstStyle/>
          <a:p>
            <a:r>
              <a:rPr lang="en-US" dirty="0"/>
              <a:t>A second required part of every </a:t>
            </a:r>
            <a:r>
              <a:rPr lang="en-US" dirty="0" err="1"/>
              <a:t>LexEntry</a:t>
            </a:r>
            <a:r>
              <a:rPr lang="en-US" dirty="0"/>
              <a:t>, if it owns a sense, is owning at least one </a:t>
            </a:r>
            <a:r>
              <a:rPr lang="en-US" dirty="0" err="1"/>
              <a:t>MoMorphSynAnalysis</a:t>
            </a:r>
            <a:r>
              <a:rPr lang="en-US" dirty="0"/>
              <a:t> object in the </a:t>
            </a:r>
            <a:r>
              <a:rPr lang="en-US" dirty="0" err="1"/>
              <a:t>MorphoSyntaxAnalyses</a:t>
            </a:r>
            <a:r>
              <a:rPr lang="en-US" dirty="0"/>
              <a:t> collection property. </a:t>
            </a:r>
            <a:r>
              <a:rPr lang="en-US" dirty="0" err="1"/>
              <a:t>MoMorphSynAnalysis</a:t>
            </a:r>
            <a:r>
              <a:rPr lang="en-US" dirty="0"/>
              <a:t> is also an abstract class, so one of its subclasses must be used.</a:t>
            </a:r>
          </a:p>
          <a:p>
            <a:r>
              <a:rPr lang="en-US" dirty="0"/>
              <a:t>For stem type morphemes, </a:t>
            </a:r>
            <a:r>
              <a:rPr lang="en-US" dirty="0" err="1"/>
              <a:t>MoStemMsa</a:t>
            </a:r>
            <a:r>
              <a:rPr lang="en-US" dirty="0"/>
              <a:t> is used.</a:t>
            </a:r>
          </a:p>
          <a:p>
            <a:r>
              <a:rPr lang="en-US" dirty="0"/>
              <a:t>For affix types, </a:t>
            </a:r>
            <a:r>
              <a:rPr lang="en-US" dirty="0" err="1"/>
              <a:t>MoDerivAffMsa</a:t>
            </a:r>
            <a:r>
              <a:rPr lang="en-US" dirty="0"/>
              <a:t>, </a:t>
            </a:r>
            <a:r>
              <a:rPr lang="en-US" dirty="0" err="1"/>
              <a:t>MoInfAffMsa</a:t>
            </a:r>
            <a:r>
              <a:rPr lang="en-US" dirty="0"/>
              <a:t>, or </a:t>
            </a:r>
            <a:r>
              <a:rPr lang="en-US" dirty="0" err="1"/>
              <a:t>MoUnclassifiedAffixMsa</a:t>
            </a:r>
            <a:r>
              <a:rPr lang="en-US" dirty="0"/>
              <a:t> are used. </a:t>
            </a:r>
          </a:p>
          <a:p>
            <a:r>
              <a:rPr lang="en-US" dirty="0"/>
              <a:t>These classes deal with grammatical information. Senses need to reference these objects to show grammatical information. If senses for the entry have different grammatical information, then additional </a:t>
            </a:r>
            <a:r>
              <a:rPr lang="en-US" dirty="0" err="1"/>
              <a:t>MoMorphSynAnalysis</a:t>
            </a:r>
            <a:r>
              <a:rPr lang="en-US" dirty="0"/>
              <a:t> objects will be added to the entry so they can be referenced by the senses. These items are removed when senses that use them are deleted.</a:t>
            </a:r>
          </a:p>
          <a:p>
            <a:r>
              <a:rPr lang="en-US" dirty="0"/>
              <a:t>In summary, both the </a:t>
            </a:r>
            <a:r>
              <a:rPr lang="en-US" dirty="0" err="1"/>
              <a:t>MoForm</a:t>
            </a:r>
            <a:r>
              <a:rPr lang="en-US" dirty="0"/>
              <a:t> and the </a:t>
            </a:r>
            <a:r>
              <a:rPr lang="en-US" dirty="0" err="1"/>
              <a:t>MoMorphSynAnalysis</a:t>
            </a:r>
            <a:r>
              <a:rPr lang="en-US" dirty="0"/>
              <a:t> objects depend on whether the entry is a stem type or an affix type.</a:t>
            </a:r>
          </a:p>
          <a:p>
            <a:r>
              <a:rPr lang="en-US" dirty="0"/>
              <a:t>The Choose Morpheme Type dialog that comes up when you click the Morph Type button normally only shows morph types that are in the same group. When that happens, the change is minimal. If they click the “Show all types” checkbox, all morph types are shown, and if they choose one from the other set, the program will replace the </a:t>
            </a:r>
            <a:r>
              <a:rPr lang="en-US" dirty="0" err="1"/>
              <a:t>MoForm</a:t>
            </a:r>
            <a:r>
              <a:rPr lang="en-US" dirty="0"/>
              <a:t> and </a:t>
            </a:r>
            <a:r>
              <a:rPr lang="en-US" dirty="0" err="1"/>
              <a:t>MoMorphSynAnalysis</a:t>
            </a:r>
            <a:r>
              <a:rPr lang="en-US" dirty="0"/>
              <a:t> objects to the opposite type with new </a:t>
            </a:r>
            <a:r>
              <a:rPr lang="en-US" dirty="0" err="1"/>
              <a:t>guids</a:t>
            </a:r>
            <a:r>
              <a:rPr lang="en-US" dirty="0"/>
              <a:t>. If these two ever get out of sync, it causes problems.</a:t>
            </a:r>
          </a:p>
        </p:txBody>
      </p:sp>
    </p:spTree>
    <p:extLst>
      <p:ext uri="{BB962C8B-B14F-4D97-AF65-F5344CB8AC3E}">
        <p14:creationId xmlns:p14="http://schemas.microsoft.com/office/powerpoint/2010/main" val="3680507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Stem / Stem-based sample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Here’s a simple entry to demonstrate a stem-based entry which appears like this in FLEx.</a:t>
            </a:r>
          </a:p>
          <a:p>
            <a:pPr marL="0" indent="0">
              <a:buNone/>
            </a:pPr>
            <a:endParaRPr lang="en-US" dirty="0"/>
          </a:p>
          <a:p>
            <a:endParaRPr lang="en-US" dirty="0"/>
          </a:p>
        </p:txBody>
      </p:sp>
      <p:pic>
        <p:nvPicPr>
          <p:cNvPr id="4" name="Picture 3">
            <a:extLst>
              <a:ext uri="{FF2B5EF4-FFF2-40B4-BE49-F238E27FC236}">
                <a16:creationId xmlns:a16="http://schemas.microsoft.com/office/drawing/2014/main" id="{6F8B30C8-8728-4DCA-922F-976593015005}"/>
              </a:ext>
            </a:extLst>
          </p:cNvPr>
          <p:cNvPicPr>
            <a:picLocks noChangeAspect="1"/>
          </p:cNvPicPr>
          <p:nvPr/>
        </p:nvPicPr>
        <p:blipFill>
          <a:blip r:embed="rId2"/>
          <a:stretch>
            <a:fillRect/>
          </a:stretch>
        </p:blipFill>
        <p:spPr>
          <a:xfrm>
            <a:off x="2032671" y="1877165"/>
            <a:ext cx="7192379" cy="3905795"/>
          </a:xfrm>
          <a:prstGeom prst="rect">
            <a:avLst/>
          </a:prstGeom>
        </p:spPr>
      </p:pic>
    </p:spTree>
    <p:extLst>
      <p:ext uri="{BB962C8B-B14F-4D97-AF65-F5344CB8AC3E}">
        <p14:creationId xmlns:p14="http://schemas.microsoft.com/office/powerpoint/2010/main" val="1994752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Stem / Affix-based sample</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a:t>Here’s a simple entry to demonstrate an affix-based entry which appears like this in FLEx.</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All of the strings in these examples are MultiUnicode, so they can have any number of vernacular or analysis writing systems. Most strings in </a:t>
            </a:r>
            <a:r>
              <a:rPr lang="en-US" dirty="0" err="1"/>
              <a:t>LexEntry</a:t>
            </a:r>
            <a:r>
              <a:rPr lang="en-US" dirty="0"/>
              <a:t> and </a:t>
            </a:r>
            <a:r>
              <a:rPr lang="en-US" dirty="0" err="1"/>
              <a:t>LexSense</a:t>
            </a:r>
            <a:r>
              <a:rPr lang="en-US" dirty="0"/>
              <a:t> are either MultiUnicode or MultiString.</a:t>
            </a:r>
          </a:p>
          <a:p>
            <a:endParaRPr lang="en-US" dirty="0"/>
          </a:p>
          <a:p>
            <a:endParaRPr lang="en-US" dirty="0"/>
          </a:p>
          <a:p>
            <a:pPr marL="0" indent="0">
              <a:buNone/>
            </a:pPr>
            <a:endParaRPr lang="en-US" dirty="0"/>
          </a:p>
          <a:p>
            <a:endParaRPr lang="en-US" dirty="0"/>
          </a:p>
        </p:txBody>
      </p:sp>
      <p:pic>
        <p:nvPicPr>
          <p:cNvPr id="5" name="Picture 4">
            <a:extLst>
              <a:ext uri="{FF2B5EF4-FFF2-40B4-BE49-F238E27FC236}">
                <a16:creationId xmlns:a16="http://schemas.microsoft.com/office/drawing/2014/main" id="{F5E43291-A16E-4048-B63D-057F67ACA9B3}"/>
              </a:ext>
            </a:extLst>
          </p:cNvPr>
          <p:cNvPicPr>
            <a:picLocks noChangeAspect="1"/>
          </p:cNvPicPr>
          <p:nvPr/>
        </p:nvPicPr>
        <p:blipFill>
          <a:blip r:embed="rId2"/>
          <a:stretch>
            <a:fillRect/>
          </a:stretch>
        </p:blipFill>
        <p:spPr>
          <a:xfrm>
            <a:off x="2184838" y="1768770"/>
            <a:ext cx="6941621" cy="3628177"/>
          </a:xfrm>
          <a:prstGeom prst="rect">
            <a:avLst/>
          </a:prstGeom>
        </p:spPr>
      </p:pic>
    </p:spTree>
    <p:extLst>
      <p:ext uri="{BB962C8B-B14F-4D97-AF65-F5344CB8AC3E}">
        <p14:creationId xmlns:p14="http://schemas.microsoft.com/office/powerpoint/2010/main" val="1658320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Headwords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lnSpcReduction="10000"/>
          </a:bodyPr>
          <a:lstStyle/>
          <a:p>
            <a:r>
              <a:rPr lang="en-US" dirty="0"/>
              <a:t>A headword is a word or phrase that is placed at the beginning of the entry to help the user quickly find the word they are looking for. Entries are also sorted by headwords.</a:t>
            </a:r>
          </a:p>
          <a:p>
            <a:r>
              <a:rPr lang="en-US" dirty="0"/>
              <a:t>A headword in FLEx is a virtual property that joins several properties from several classes. Properties that are relevant to a headword are:</a:t>
            </a:r>
          </a:p>
          <a:p>
            <a:pPr lvl="1"/>
            <a:r>
              <a:rPr lang="en-US" dirty="0" err="1"/>
              <a:t>LexemeForm</a:t>
            </a:r>
            <a:r>
              <a:rPr lang="en-US" dirty="0"/>
              <a:t> owning property on </a:t>
            </a:r>
            <a:r>
              <a:rPr lang="en-US" dirty="0" err="1"/>
              <a:t>LexEntry</a:t>
            </a:r>
            <a:endParaRPr lang="en-US" dirty="0"/>
          </a:p>
          <a:p>
            <a:pPr lvl="1"/>
            <a:r>
              <a:rPr lang="en-US" dirty="0" err="1"/>
              <a:t>CitationForm</a:t>
            </a:r>
            <a:r>
              <a:rPr lang="en-US" dirty="0"/>
              <a:t> MultiUnicode on </a:t>
            </a:r>
            <a:r>
              <a:rPr lang="en-US" dirty="0" err="1"/>
              <a:t>LexEntry</a:t>
            </a:r>
            <a:endParaRPr lang="en-US" dirty="0"/>
          </a:p>
          <a:p>
            <a:pPr lvl="1"/>
            <a:r>
              <a:rPr lang="en-US" dirty="0" err="1"/>
              <a:t>HomographNumber</a:t>
            </a:r>
            <a:r>
              <a:rPr lang="en-US" dirty="0"/>
              <a:t> integer on </a:t>
            </a:r>
            <a:r>
              <a:rPr lang="en-US" dirty="0" err="1"/>
              <a:t>LexEntry</a:t>
            </a:r>
            <a:endParaRPr lang="en-US" dirty="0"/>
          </a:p>
          <a:p>
            <a:pPr lvl="1"/>
            <a:r>
              <a:rPr lang="en-US" dirty="0"/>
              <a:t>Form MultiUnicode on </a:t>
            </a:r>
            <a:r>
              <a:rPr lang="en-US" dirty="0" err="1"/>
              <a:t>MoForm</a:t>
            </a:r>
            <a:r>
              <a:rPr lang="en-US" dirty="0"/>
              <a:t> owned in the </a:t>
            </a:r>
            <a:r>
              <a:rPr lang="en-US" dirty="0" err="1"/>
              <a:t>LexemeForm</a:t>
            </a:r>
            <a:r>
              <a:rPr lang="en-US" dirty="0"/>
              <a:t> property of </a:t>
            </a:r>
            <a:r>
              <a:rPr lang="en-US" dirty="0" err="1"/>
              <a:t>LexEntry</a:t>
            </a:r>
            <a:endParaRPr lang="en-US" dirty="0"/>
          </a:p>
          <a:p>
            <a:pPr lvl="1"/>
            <a:r>
              <a:rPr lang="en-US" dirty="0"/>
              <a:t>Prefix Unicode on </a:t>
            </a:r>
            <a:r>
              <a:rPr lang="en-US" dirty="0" err="1"/>
              <a:t>MoMorphType</a:t>
            </a:r>
            <a:r>
              <a:rPr lang="en-US" dirty="0"/>
              <a:t> referenced from </a:t>
            </a:r>
            <a:r>
              <a:rPr lang="en-US" dirty="0" err="1"/>
              <a:t>MoForm</a:t>
            </a:r>
            <a:r>
              <a:rPr lang="en-US" dirty="0"/>
              <a:t> via </a:t>
            </a:r>
            <a:r>
              <a:rPr lang="en-US" dirty="0" err="1"/>
              <a:t>MorphType</a:t>
            </a:r>
            <a:r>
              <a:rPr lang="en-US" dirty="0"/>
              <a:t> (shown as ‘Leading Token’ in the Lists area)</a:t>
            </a:r>
          </a:p>
          <a:p>
            <a:pPr lvl="1"/>
            <a:r>
              <a:rPr lang="en-US" dirty="0"/>
              <a:t>Postfix Unicode on </a:t>
            </a:r>
            <a:r>
              <a:rPr lang="en-US" dirty="0" err="1"/>
              <a:t>MoMorphType</a:t>
            </a:r>
            <a:r>
              <a:rPr lang="en-US" dirty="0"/>
              <a:t> referenced from </a:t>
            </a:r>
            <a:r>
              <a:rPr lang="en-US" dirty="0" err="1"/>
              <a:t>MoForm</a:t>
            </a:r>
            <a:r>
              <a:rPr lang="en-US" dirty="0"/>
              <a:t> via </a:t>
            </a:r>
            <a:r>
              <a:rPr lang="en-US" dirty="0" err="1"/>
              <a:t>MorphType</a:t>
            </a:r>
            <a:r>
              <a:rPr lang="en-US" dirty="0"/>
              <a:t> (shown as ‘Trailing Token’ in the Lists area)</a:t>
            </a:r>
          </a:p>
          <a:p>
            <a:pPr lvl="1"/>
            <a:r>
              <a:rPr lang="en-US" dirty="0" err="1"/>
              <a:t>SecondaryOrder</a:t>
            </a:r>
            <a:r>
              <a:rPr lang="en-US" dirty="0"/>
              <a:t> integer on </a:t>
            </a:r>
            <a:r>
              <a:rPr lang="en-US" dirty="0" err="1"/>
              <a:t>MoMorphType</a:t>
            </a:r>
            <a:r>
              <a:rPr lang="en-US" dirty="0"/>
              <a:t> referenced from </a:t>
            </a:r>
            <a:r>
              <a:rPr lang="en-US" dirty="0" err="1"/>
              <a:t>MoForm</a:t>
            </a:r>
            <a:r>
              <a:rPr lang="en-US" dirty="0"/>
              <a:t> via </a:t>
            </a:r>
            <a:r>
              <a:rPr lang="en-US" dirty="0" err="1"/>
              <a:t>MorphType</a:t>
            </a:r>
            <a:endParaRPr lang="en-US" dirty="0"/>
          </a:p>
          <a:p>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3024866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Headwords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a:t>During interlinearization, the lexeme form is used to identify the morphemes within a word (e.g., ‘cat’ and ‘-s’ for ‘cats’).</a:t>
            </a:r>
          </a:p>
          <a:p>
            <a:r>
              <a:rPr lang="en-US" dirty="0"/>
              <a:t>Some languages prefer to use an inflected form of the stem instead of the raw stem form for the dictionary headword. For example, the French ‘</a:t>
            </a:r>
            <a:r>
              <a:rPr lang="en-US" dirty="0" err="1"/>
              <a:t>mang</a:t>
            </a:r>
            <a:r>
              <a:rPr lang="en-US" dirty="0"/>
              <a:t>’ lexeme form would use the infinitive form, ‘manger’, for the headword.</a:t>
            </a:r>
          </a:p>
          <a:p>
            <a:r>
              <a:rPr lang="en-US" dirty="0"/>
              <a:t>In FLEx, the citation form is used for this, but it should only be used if the headword needs something different from the lexeme form.</a:t>
            </a:r>
          </a:p>
          <a:p>
            <a:r>
              <a:rPr lang="en-US" dirty="0"/>
              <a:t>Some languages prefer to only use citation forms without a lexeme form in their FLEx project.</a:t>
            </a:r>
          </a:p>
          <a:p>
            <a:r>
              <a:rPr lang="en-US" dirty="0"/>
              <a:t>It’s not possible to create an entry in the FLEx UI without a lexeme form. This is because the </a:t>
            </a:r>
            <a:r>
              <a:rPr lang="en-US" dirty="0" err="1"/>
              <a:t>MoForm</a:t>
            </a:r>
            <a:r>
              <a:rPr lang="en-US" dirty="0"/>
              <a:t> in the </a:t>
            </a:r>
            <a:r>
              <a:rPr lang="en-US" dirty="0" err="1"/>
              <a:t>LexemeForm</a:t>
            </a:r>
            <a:r>
              <a:rPr lang="en-US" dirty="0"/>
              <a:t> field is required for other purposes. After the entry is created, you can remove the form in the lexeme form field and it will work OK.</a:t>
            </a:r>
          </a:p>
          <a:p>
            <a:r>
              <a:rPr lang="en-US" dirty="0"/>
              <a:t>For SFM import you can import identical lexeme form and citation form fields, and then clear out all of the lexeme form fields after import.</a:t>
            </a:r>
          </a:p>
          <a:p>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2230384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Headwords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0000" lnSpcReduction="20000"/>
          </a:bodyPr>
          <a:lstStyle/>
          <a:p>
            <a:r>
              <a:rPr lang="en-US" dirty="0"/>
              <a:t>Here is an example showing how infix </a:t>
            </a:r>
            <a:r>
              <a:rPr lang="en-US" b="1" dirty="0"/>
              <a:t>-in-</a:t>
            </a:r>
            <a:r>
              <a:rPr lang="en-US" b="1" baseline="-25000" dirty="0"/>
              <a:t>2</a:t>
            </a:r>
            <a:r>
              <a:rPr lang="en-US" dirty="0"/>
              <a:t> would be stored:</a:t>
            </a:r>
          </a:p>
          <a:p>
            <a:endParaRPr lang="en-US" dirty="0"/>
          </a:p>
          <a:p>
            <a:endParaRPr lang="en-US" dirty="0"/>
          </a:p>
          <a:p>
            <a:endParaRPr lang="en-US" dirty="0"/>
          </a:p>
          <a:p>
            <a:pPr marL="0" indent="0">
              <a:buNone/>
            </a:pPr>
            <a:endParaRPr lang="en-US" dirty="0"/>
          </a:p>
          <a:p>
            <a:r>
              <a:rPr lang="en-US" dirty="0"/>
              <a:t>If there is a </a:t>
            </a:r>
            <a:r>
              <a:rPr lang="en-US" dirty="0" err="1"/>
              <a:t>CitationForm</a:t>
            </a:r>
            <a:r>
              <a:rPr lang="en-US" dirty="0"/>
              <a:t>, the headword will use that form. Otherwise it will use the </a:t>
            </a:r>
            <a:r>
              <a:rPr lang="en-US" dirty="0" err="1"/>
              <a:t>LexemeForm</a:t>
            </a:r>
            <a:r>
              <a:rPr lang="en-US" dirty="0"/>
              <a:t> (actually the Form from the </a:t>
            </a:r>
            <a:r>
              <a:rPr lang="en-US" dirty="0" err="1"/>
              <a:t>MoForm</a:t>
            </a:r>
            <a:r>
              <a:rPr lang="en-US" dirty="0"/>
              <a:t> owned in the </a:t>
            </a:r>
            <a:r>
              <a:rPr lang="en-US" dirty="0" err="1"/>
              <a:t>LexemeForm</a:t>
            </a:r>
            <a:r>
              <a:rPr lang="en-US" dirty="0"/>
              <a:t>). If there is no </a:t>
            </a:r>
            <a:r>
              <a:rPr lang="en-US" dirty="0" err="1"/>
              <a:t>CitationForm</a:t>
            </a:r>
            <a:r>
              <a:rPr lang="en-US" dirty="0"/>
              <a:t>, then the Prefix and Postfix markers are added to the </a:t>
            </a:r>
            <a:r>
              <a:rPr lang="en-US" dirty="0" err="1"/>
              <a:t>LexemeForm</a:t>
            </a:r>
            <a:r>
              <a:rPr lang="en-US" dirty="0"/>
              <a:t>. If there is a </a:t>
            </a:r>
            <a:r>
              <a:rPr lang="en-US" dirty="0" err="1"/>
              <a:t>HomographNumber</a:t>
            </a:r>
            <a:r>
              <a:rPr lang="en-US" dirty="0"/>
              <a:t>, that is appended at the end.</a:t>
            </a:r>
          </a:p>
          <a:p>
            <a:r>
              <a:rPr lang="en-US" dirty="0"/>
              <a:t>When sorting headwords, FLEx sorts by the form of the headword without affix markers followed by the </a:t>
            </a:r>
            <a:r>
              <a:rPr lang="en-US" dirty="0" err="1"/>
              <a:t>SecondaryOrder</a:t>
            </a:r>
            <a:r>
              <a:rPr lang="en-US" dirty="0"/>
              <a:t> from the </a:t>
            </a:r>
            <a:r>
              <a:rPr lang="en-US" dirty="0" err="1"/>
              <a:t>MoMorphType</a:t>
            </a:r>
            <a:r>
              <a:rPr lang="en-US" dirty="0"/>
              <a:t>, followed by the </a:t>
            </a:r>
            <a:r>
              <a:rPr lang="en-US" dirty="0" err="1"/>
              <a:t>HomographNumber</a:t>
            </a:r>
            <a:r>
              <a:rPr lang="en-US" dirty="0"/>
              <a:t>.</a:t>
            </a:r>
          </a:p>
          <a:p>
            <a:r>
              <a:rPr lang="en-US" dirty="0" err="1"/>
              <a:t>HomographNumbers</a:t>
            </a:r>
            <a:r>
              <a:rPr lang="en-US" dirty="0"/>
              <a:t> are maintained automatically by FLEx. Homograph numbers will be applied to headwords that have an identical form and </a:t>
            </a:r>
            <a:r>
              <a:rPr lang="en-US" dirty="0" err="1"/>
              <a:t>SecondaryOrder</a:t>
            </a:r>
            <a:r>
              <a:rPr lang="en-US" dirty="0"/>
              <a:t>.</a:t>
            </a:r>
          </a:p>
          <a:p>
            <a:r>
              <a:rPr lang="en-US" dirty="0" err="1"/>
              <a:t>SecondaryOrder</a:t>
            </a:r>
            <a:r>
              <a:rPr lang="en-US" dirty="0"/>
              <a:t> allows you to order affixes by type, and uses a different homograph number.</a:t>
            </a:r>
          </a:p>
          <a:p>
            <a:r>
              <a:rPr lang="en-US" dirty="0"/>
              <a:t>You can force renumbering homographs in FLEx using Tools &gt; Utilities &gt; Reassign Homographs.</a:t>
            </a:r>
          </a:p>
          <a:p>
            <a:r>
              <a:rPr lang="en-US" dirty="0"/>
              <a:t>Sometimes you have to use Refresh to get homograph numbers to display correctly after a change.</a:t>
            </a:r>
          </a:p>
          <a:p>
            <a:r>
              <a:rPr lang="en-US" dirty="0"/>
              <a:t>Homograph numbers are automatically adjusted during dictionary views where some entries are excluded from the dictionary.</a:t>
            </a:r>
          </a:p>
          <a:p>
            <a:pPr marL="0" indent="0">
              <a:buNone/>
            </a:pPr>
            <a:endParaRPr lang="en-US" dirty="0"/>
          </a:p>
          <a:p>
            <a:pPr marL="0" indent="0">
              <a:buNone/>
            </a:pPr>
            <a:endParaRPr lang="en-US" dirty="0"/>
          </a:p>
          <a:p>
            <a:endParaRPr lang="en-US" dirty="0"/>
          </a:p>
        </p:txBody>
      </p:sp>
      <p:pic>
        <p:nvPicPr>
          <p:cNvPr id="5" name="Picture 4">
            <a:extLst>
              <a:ext uri="{FF2B5EF4-FFF2-40B4-BE49-F238E27FC236}">
                <a16:creationId xmlns:a16="http://schemas.microsoft.com/office/drawing/2014/main" id="{402923B0-D173-436D-A045-309D9551AF0F}"/>
              </a:ext>
            </a:extLst>
          </p:cNvPr>
          <p:cNvPicPr>
            <a:picLocks noChangeAspect="1"/>
          </p:cNvPicPr>
          <p:nvPr/>
        </p:nvPicPr>
        <p:blipFill>
          <a:blip r:embed="rId2"/>
          <a:stretch>
            <a:fillRect/>
          </a:stretch>
        </p:blipFill>
        <p:spPr>
          <a:xfrm>
            <a:off x="1147582" y="1322252"/>
            <a:ext cx="6394664" cy="1073077"/>
          </a:xfrm>
          <a:prstGeom prst="rect">
            <a:avLst/>
          </a:prstGeom>
        </p:spPr>
      </p:pic>
    </p:spTree>
    <p:extLst>
      <p:ext uri="{BB962C8B-B14F-4D97-AF65-F5344CB8AC3E}">
        <p14:creationId xmlns:p14="http://schemas.microsoft.com/office/powerpoint/2010/main" val="2032080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Pronunciation</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lnSpcReduction="10000"/>
          </a:bodyPr>
          <a:lstStyle/>
          <a:p>
            <a:r>
              <a:rPr lang="en-US" dirty="0"/>
              <a:t>There are basically two ways to store pronunciations in FLEx.</a:t>
            </a:r>
          </a:p>
          <a:p>
            <a:pPr lvl="0"/>
            <a:r>
              <a:rPr lang="en-US" dirty="0"/>
              <a:t>If there is only one pronunciation per entry, you can use the lexeme form or citation form property using the ‘audio’ writing system, where the code for the writing system is </a:t>
            </a:r>
            <a:r>
              <a:rPr lang="en-US" dirty="0" err="1"/>
              <a:t>fr</a:t>
            </a:r>
            <a:r>
              <a:rPr lang="en-US" dirty="0"/>
              <a:t>-</a:t>
            </a:r>
            <a:r>
              <a:rPr lang="en-US" dirty="0" err="1"/>
              <a:t>Zxxx</a:t>
            </a:r>
            <a:r>
              <a:rPr lang="en-US" dirty="0"/>
              <a:t>-x-audio for a French recording, and the content is a file name that must be in the project </a:t>
            </a:r>
            <a:r>
              <a:rPr lang="en-US" dirty="0" err="1"/>
              <a:t>LinkedFiles</a:t>
            </a:r>
            <a:r>
              <a:rPr lang="en-US" dirty="0"/>
              <a:t>\</a:t>
            </a:r>
            <a:r>
              <a:rPr lang="en-US" dirty="0" err="1"/>
              <a:t>AudioVisual</a:t>
            </a:r>
            <a:r>
              <a:rPr lang="en-US" dirty="0"/>
              <a:t> directory. FLEx has a button that will record a sound in these fields, or you can attach an existing recording. FLEx can only record .wav files, but can play back .mp3 as well.</a:t>
            </a:r>
          </a:p>
          <a:p>
            <a:pPr lvl="0"/>
            <a:r>
              <a:rPr lang="en-US" dirty="0"/>
              <a:t>If you have multiple recordings per entry, and/or want to include other information along with the pronunciation, then you can add one or more </a:t>
            </a:r>
            <a:r>
              <a:rPr lang="en-US" dirty="0" err="1"/>
              <a:t>LexPronunciation</a:t>
            </a:r>
            <a:r>
              <a:rPr lang="en-US" dirty="0"/>
              <a:t> objects.</a:t>
            </a:r>
          </a:p>
          <a:p>
            <a:pPr lvl="0"/>
            <a:r>
              <a:rPr lang="en-US" dirty="0" err="1"/>
              <a:t>InternalPath</a:t>
            </a:r>
            <a:r>
              <a:rPr lang="en-US" dirty="0"/>
              <a:t> in </a:t>
            </a:r>
            <a:r>
              <a:rPr lang="en-US" dirty="0" err="1"/>
              <a:t>CmFile</a:t>
            </a:r>
            <a:r>
              <a:rPr lang="en-US" dirty="0"/>
              <a:t> starts at the </a:t>
            </a:r>
            <a:r>
              <a:rPr lang="en-US" dirty="0" err="1"/>
              <a:t>LinkedFiles</a:t>
            </a:r>
            <a:r>
              <a:rPr lang="en-US" dirty="0"/>
              <a:t> directory. Relative paths will be in </a:t>
            </a:r>
            <a:r>
              <a:rPr lang="en-US" dirty="0" err="1"/>
              <a:t>LinkedFiles</a:t>
            </a:r>
            <a:r>
              <a:rPr lang="en-US" dirty="0"/>
              <a:t>. Absolute paths are anywhere on your hard drive.</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69852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Pronunciation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lnSpcReduction="10000"/>
          </a:bodyPr>
          <a:lstStyle/>
          <a:p>
            <a:r>
              <a:rPr lang="en-US" dirty="0"/>
              <a:t>Here’s an example of an entry with a pronunciation including a location.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This example shows both possibilities for a pronunciation. Normally you would not have both options.</a:t>
            </a:r>
          </a:p>
          <a:p>
            <a:r>
              <a:rPr lang="en-US" dirty="0"/>
              <a:t>The </a:t>
            </a:r>
            <a:r>
              <a:rPr lang="en-US" dirty="0" err="1"/>
              <a:t>CmFolder</a:t>
            </a:r>
            <a:r>
              <a:rPr lang="en-US" dirty="0"/>
              <a:t> is owned by the Media owning collection property of </a:t>
            </a:r>
            <a:r>
              <a:rPr lang="en-US" dirty="0" err="1"/>
              <a:t>LangProject</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p:txBody>
      </p:sp>
      <p:pic>
        <p:nvPicPr>
          <p:cNvPr id="4" name="Picture 3">
            <a:extLst>
              <a:ext uri="{FF2B5EF4-FFF2-40B4-BE49-F238E27FC236}">
                <a16:creationId xmlns:a16="http://schemas.microsoft.com/office/drawing/2014/main" id="{E973EBF4-10A3-408F-8A9E-CC82851DC41C}"/>
              </a:ext>
            </a:extLst>
          </p:cNvPr>
          <p:cNvPicPr>
            <a:picLocks noChangeAspect="1"/>
          </p:cNvPicPr>
          <p:nvPr/>
        </p:nvPicPr>
        <p:blipFill>
          <a:blip r:embed="rId2"/>
          <a:stretch>
            <a:fillRect/>
          </a:stretch>
        </p:blipFill>
        <p:spPr>
          <a:xfrm>
            <a:off x="2666457" y="1361267"/>
            <a:ext cx="7718515" cy="3651160"/>
          </a:xfrm>
          <a:prstGeom prst="rect">
            <a:avLst/>
          </a:prstGeom>
        </p:spPr>
      </p:pic>
    </p:spTree>
    <p:extLst>
      <p:ext uri="{BB962C8B-B14F-4D97-AF65-F5344CB8AC3E}">
        <p14:creationId xmlns:p14="http://schemas.microsoft.com/office/powerpoint/2010/main" val="3659955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Etymology</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err="1"/>
              <a:t>LexEntry</a:t>
            </a:r>
            <a:r>
              <a:rPr lang="en-US" dirty="0"/>
              <a:t> has an owning sequence Etymology property that can hold multiple </a:t>
            </a:r>
            <a:r>
              <a:rPr lang="en-US" dirty="0" err="1"/>
              <a:t>LexEtymology</a:t>
            </a:r>
            <a:r>
              <a:rPr lang="en-US" dirty="0"/>
              <a:t> objects. These are the fields that are available.</a:t>
            </a:r>
          </a:p>
          <a:p>
            <a:endParaRPr lang="en-US" dirty="0"/>
          </a:p>
          <a:p>
            <a:endParaRPr lang="en-US" dirty="0"/>
          </a:p>
          <a:p>
            <a:endParaRPr lang="en-US" dirty="0"/>
          </a:p>
          <a:p>
            <a:endParaRPr lang="en-US" dirty="0"/>
          </a:p>
          <a:p>
            <a:endParaRPr lang="en-US" dirty="0"/>
          </a:p>
          <a:p>
            <a:endParaRPr lang="en-US" dirty="0"/>
          </a:p>
          <a:p>
            <a:endParaRPr lang="en-US" dirty="0"/>
          </a:p>
          <a:p>
            <a:r>
              <a:rPr lang="en-US" dirty="0"/>
              <a:t>All except Source Language are MultiString fields that default to first analysis writing system, except Source Form defaults to vernacular and analysis.</a:t>
            </a:r>
          </a:p>
          <a:p>
            <a:r>
              <a:rPr lang="en-US" dirty="0"/>
              <a:t>Source Language allows multiple references to the Languages list.</a:t>
            </a:r>
          </a:p>
          <a:p>
            <a:r>
              <a:rPr lang="en-US" dirty="0"/>
              <a:t>When you start typing to open a </a:t>
            </a:r>
            <a:r>
              <a:rPr lang="en-US" dirty="0" err="1"/>
              <a:t>LexEtymology</a:t>
            </a:r>
            <a:r>
              <a:rPr lang="en-US" dirty="0"/>
              <a:t> object, you are typing in the first analysis writing system in the Source Form field.</a:t>
            </a:r>
          </a:p>
          <a:p>
            <a:endParaRPr lang="en-US" dirty="0"/>
          </a:p>
          <a:p>
            <a:pPr marL="0" indent="0">
              <a:buNone/>
            </a:pPr>
            <a:endParaRPr lang="en-US" dirty="0"/>
          </a:p>
          <a:p>
            <a:pPr marL="0" indent="0">
              <a:buNone/>
            </a:pPr>
            <a:endParaRPr lang="en-US" dirty="0"/>
          </a:p>
          <a:p>
            <a:endParaRPr lang="en-US" dirty="0"/>
          </a:p>
        </p:txBody>
      </p:sp>
      <p:pic>
        <p:nvPicPr>
          <p:cNvPr id="7" name="Picture 6">
            <a:extLst>
              <a:ext uri="{FF2B5EF4-FFF2-40B4-BE49-F238E27FC236}">
                <a16:creationId xmlns:a16="http://schemas.microsoft.com/office/drawing/2014/main" id="{AA1F85F9-25A4-4998-9BF9-BB98A9BA14F9}"/>
              </a:ext>
            </a:extLst>
          </p:cNvPr>
          <p:cNvPicPr>
            <a:picLocks noChangeAspect="1"/>
          </p:cNvPicPr>
          <p:nvPr/>
        </p:nvPicPr>
        <p:blipFill>
          <a:blip r:embed="rId2"/>
          <a:stretch>
            <a:fillRect/>
          </a:stretch>
        </p:blipFill>
        <p:spPr>
          <a:xfrm>
            <a:off x="1370065" y="1657348"/>
            <a:ext cx="4866234" cy="2631623"/>
          </a:xfrm>
          <a:prstGeom prst="rect">
            <a:avLst/>
          </a:prstGeom>
        </p:spPr>
      </p:pic>
    </p:spTree>
    <p:extLst>
      <p:ext uri="{BB962C8B-B14F-4D97-AF65-F5344CB8AC3E}">
        <p14:creationId xmlns:p14="http://schemas.microsoft.com/office/powerpoint/2010/main" val="3197984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Allomorphs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199" y="939801"/>
            <a:ext cx="10601739" cy="3725699"/>
          </a:xfrm>
        </p:spPr>
        <p:txBody>
          <a:bodyPr>
            <a:normAutofit/>
          </a:bodyPr>
          <a:lstStyle/>
          <a:p>
            <a:r>
              <a:rPr lang="en-US" dirty="0"/>
              <a:t>Allomorphs are used to enter and constrain alternate forms of a lexeme form, especially for parsing situations. Allomorphs are stored as </a:t>
            </a:r>
            <a:r>
              <a:rPr lang="en-US" dirty="0" err="1"/>
              <a:t>MoForm</a:t>
            </a:r>
            <a:r>
              <a:rPr lang="en-US" dirty="0"/>
              <a:t> (</a:t>
            </a:r>
            <a:r>
              <a:rPr lang="en-US" dirty="0" err="1"/>
              <a:t>MoStemAllormorph</a:t>
            </a:r>
            <a:r>
              <a:rPr lang="en-US" dirty="0"/>
              <a:t> or </a:t>
            </a:r>
            <a:r>
              <a:rPr lang="en-US" dirty="0" err="1"/>
              <a:t>MoAffixAllomorph</a:t>
            </a:r>
            <a:r>
              <a:rPr lang="en-US" dirty="0"/>
              <a:t>) objects in the </a:t>
            </a:r>
            <a:r>
              <a:rPr lang="en-US" dirty="0" err="1"/>
              <a:t>AlternateForms</a:t>
            </a:r>
            <a:r>
              <a:rPr lang="en-US" dirty="0"/>
              <a:t> owning sequence property of </a:t>
            </a:r>
            <a:r>
              <a:rPr lang="en-US" dirty="0" err="1"/>
              <a:t>LexEntry</a:t>
            </a:r>
            <a:r>
              <a:rPr lang="en-US" dirty="0"/>
              <a:t>.</a:t>
            </a:r>
          </a:p>
          <a:p>
            <a:r>
              <a:rPr lang="en-US" dirty="0"/>
              <a:t>For example, consider an allomorph ‘z’ for plural entry with lexeme form -s. In English, when the plural follows a vowel or voiced consonant, the plural is also voiced so could be represented as a -z allomorph in this context.</a:t>
            </a:r>
          </a:p>
          <a:p>
            <a:endParaRPr lang="en-US" dirty="0"/>
          </a:p>
          <a:p>
            <a:pPr marL="0" indent="0">
              <a:buNone/>
            </a:pPr>
            <a:endParaRPr lang="en-US"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423334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Allomorphs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799"/>
            <a:ext cx="10515600" cy="5431183"/>
          </a:xfrm>
        </p:spPr>
        <p:txBody>
          <a:bodyPr>
            <a:normAutofit fontScale="92500" lnSpcReduction="20000"/>
          </a:bodyPr>
          <a:lstStyle/>
          <a:p>
            <a:r>
              <a:rPr lang="en-US" dirty="0"/>
              <a:t>This involves getting into the Grammar area of FLEx. We start with a list of phonemes in the language. In the grammar you can list all of the phonemes in the language in the Phonemes tool.</a:t>
            </a:r>
          </a:p>
          <a:p>
            <a:endParaRPr lang="en-US" dirty="0"/>
          </a:p>
          <a:p>
            <a:endParaRPr lang="en-US" dirty="0"/>
          </a:p>
          <a:p>
            <a:endParaRPr lang="en-US" dirty="0"/>
          </a:p>
          <a:p>
            <a:endParaRPr lang="en-US" dirty="0"/>
          </a:p>
          <a:p>
            <a:endParaRPr lang="en-US" dirty="0"/>
          </a:p>
          <a:p>
            <a:endParaRPr lang="en-US" dirty="0"/>
          </a:p>
          <a:p>
            <a:r>
              <a:rPr lang="en-US" dirty="0"/>
              <a:t>These phonemes are represented by </a:t>
            </a:r>
            <a:r>
              <a:rPr lang="en-US" dirty="0" err="1"/>
              <a:t>PhPhoneme</a:t>
            </a:r>
            <a:r>
              <a:rPr lang="en-US" dirty="0"/>
              <a:t> objects owned in the </a:t>
            </a:r>
            <a:r>
              <a:rPr lang="en-US" dirty="0" err="1"/>
              <a:t>PhonemeSets</a:t>
            </a:r>
            <a:r>
              <a:rPr lang="en-US" dirty="0"/>
              <a:t> property of </a:t>
            </a:r>
            <a:r>
              <a:rPr lang="en-US" dirty="0" err="1"/>
              <a:t>PhPhonData</a:t>
            </a:r>
            <a:r>
              <a:rPr lang="en-US" dirty="0"/>
              <a:t>, which is owned in the </a:t>
            </a:r>
            <a:r>
              <a:rPr lang="en-US" dirty="0" err="1"/>
              <a:t>PhonologicalData</a:t>
            </a:r>
            <a:r>
              <a:rPr lang="en-US" dirty="0"/>
              <a:t> property of </a:t>
            </a:r>
            <a:r>
              <a:rPr lang="en-US" dirty="0" err="1"/>
              <a:t>LangProject</a:t>
            </a:r>
            <a:r>
              <a:rPr lang="en-US" dirty="0"/>
              <a:t>. The </a:t>
            </a:r>
            <a:r>
              <a:rPr lang="en-US" dirty="0" err="1"/>
              <a:t>PhPhoneme</a:t>
            </a:r>
            <a:r>
              <a:rPr lang="en-US" dirty="0"/>
              <a:t> gives the linguistic description of the phoneme. The letter(s) in the orthography that represent this phoneme are stored in </a:t>
            </a:r>
            <a:r>
              <a:rPr lang="en-US" dirty="0" err="1"/>
              <a:t>PhCode</a:t>
            </a:r>
            <a:r>
              <a:rPr lang="en-US" dirty="0"/>
              <a:t> objects with a Name identifying the phoneme.</a:t>
            </a:r>
          </a:p>
          <a:p>
            <a:endParaRPr lang="en-US" dirty="0"/>
          </a:p>
          <a:p>
            <a:pPr marL="0" indent="0">
              <a:buNone/>
            </a:pPr>
            <a:endParaRPr lang="en-US" dirty="0"/>
          </a:p>
          <a:p>
            <a:pPr marL="0" indent="0">
              <a:buNone/>
            </a:pPr>
            <a:endParaRPr lang="en-US" dirty="0"/>
          </a:p>
          <a:p>
            <a:endParaRPr lang="en-US" dirty="0"/>
          </a:p>
        </p:txBody>
      </p:sp>
      <p:pic>
        <p:nvPicPr>
          <p:cNvPr id="5" name="Picture 4">
            <a:extLst>
              <a:ext uri="{FF2B5EF4-FFF2-40B4-BE49-F238E27FC236}">
                <a16:creationId xmlns:a16="http://schemas.microsoft.com/office/drawing/2014/main" id="{2780C3CE-1263-4D01-80A9-7EF41EE9ECAF}"/>
              </a:ext>
            </a:extLst>
          </p:cNvPr>
          <p:cNvPicPr>
            <a:picLocks noChangeAspect="1"/>
          </p:cNvPicPr>
          <p:nvPr/>
        </p:nvPicPr>
        <p:blipFill>
          <a:blip r:embed="rId2"/>
          <a:stretch>
            <a:fillRect/>
          </a:stretch>
        </p:blipFill>
        <p:spPr>
          <a:xfrm>
            <a:off x="723629" y="2091263"/>
            <a:ext cx="6064798" cy="1974218"/>
          </a:xfrm>
          <a:prstGeom prst="rect">
            <a:avLst/>
          </a:prstGeom>
        </p:spPr>
      </p:pic>
      <p:pic>
        <p:nvPicPr>
          <p:cNvPr id="7" name="Picture 6">
            <a:extLst>
              <a:ext uri="{FF2B5EF4-FFF2-40B4-BE49-F238E27FC236}">
                <a16:creationId xmlns:a16="http://schemas.microsoft.com/office/drawing/2014/main" id="{84E7A88A-60D9-40ED-BBCA-4E8041B71D25}"/>
              </a:ext>
            </a:extLst>
          </p:cNvPr>
          <p:cNvPicPr>
            <a:picLocks noChangeAspect="1"/>
          </p:cNvPicPr>
          <p:nvPr/>
        </p:nvPicPr>
        <p:blipFill>
          <a:blip r:embed="rId3"/>
          <a:stretch>
            <a:fillRect/>
          </a:stretch>
        </p:blipFill>
        <p:spPr>
          <a:xfrm>
            <a:off x="6902998" y="2476367"/>
            <a:ext cx="4601217" cy="952633"/>
          </a:xfrm>
          <a:prstGeom prst="rect">
            <a:avLst/>
          </a:prstGeom>
        </p:spPr>
      </p:pic>
    </p:spTree>
    <p:extLst>
      <p:ext uri="{BB962C8B-B14F-4D97-AF65-F5344CB8AC3E}">
        <p14:creationId xmlns:p14="http://schemas.microsoft.com/office/powerpoint/2010/main" val="3807374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Allomorphs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341730"/>
          </a:xfrm>
        </p:spPr>
        <p:txBody>
          <a:bodyPr>
            <a:normAutofit/>
          </a:bodyPr>
          <a:lstStyle/>
          <a:p>
            <a:r>
              <a:rPr lang="en-US" dirty="0"/>
              <a:t>In order to provide a phone environment that applies to this allomorph, we need to define a natural class for voiced phonemes in the Natural Classes tool in the Grammar area.</a:t>
            </a:r>
          </a:p>
          <a:p>
            <a:endParaRPr lang="en-US" dirty="0"/>
          </a:p>
          <a:p>
            <a:endParaRPr lang="en-US" dirty="0"/>
          </a:p>
          <a:p>
            <a:endParaRPr lang="en-US" dirty="0"/>
          </a:p>
          <a:p>
            <a:r>
              <a:rPr lang="en-US" dirty="0"/>
              <a:t>This is stored in a </a:t>
            </a:r>
            <a:r>
              <a:rPr lang="en-US" dirty="0" err="1"/>
              <a:t>PhNCSegments</a:t>
            </a:r>
            <a:r>
              <a:rPr lang="en-US" dirty="0"/>
              <a:t> object with a name (+Voiced) and abbreviation (VD). The Segments property references all of the </a:t>
            </a:r>
            <a:r>
              <a:rPr lang="en-US" dirty="0" err="1"/>
              <a:t>PhPhoneme</a:t>
            </a:r>
            <a:r>
              <a:rPr lang="en-US" dirty="0"/>
              <a:t> objects that are voiced.</a:t>
            </a:r>
          </a:p>
          <a:p>
            <a:endParaRPr lang="en-US" dirty="0"/>
          </a:p>
          <a:p>
            <a:endParaRPr lang="en-US" dirty="0"/>
          </a:p>
          <a:p>
            <a:endParaRPr lang="en-US" dirty="0"/>
          </a:p>
          <a:p>
            <a:endParaRPr lang="en-US" dirty="0"/>
          </a:p>
          <a:p>
            <a:endParaRPr lang="en-US" dirty="0"/>
          </a:p>
          <a:p>
            <a:pPr marL="0" indent="0">
              <a:buNone/>
            </a:pPr>
            <a:endParaRPr lang="en-US" dirty="0"/>
          </a:p>
          <a:p>
            <a:pPr marL="0" indent="0">
              <a:buNone/>
            </a:pPr>
            <a:endParaRPr lang="en-US" dirty="0"/>
          </a:p>
          <a:p>
            <a:endParaRPr lang="en-US" dirty="0"/>
          </a:p>
        </p:txBody>
      </p:sp>
      <p:pic>
        <p:nvPicPr>
          <p:cNvPr id="4" name="Picture 3">
            <a:extLst>
              <a:ext uri="{FF2B5EF4-FFF2-40B4-BE49-F238E27FC236}">
                <a16:creationId xmlns:a16="http://schemas.microsoft.com/office/drawing/2014/main" id="{0E1DDE1A-15C5-46C0-B6AB-5E3294242E8A}"/>
              </a:ext>
            </a:extLst>
          </p:cNvPr>
          <p:cNvPicPr>
            <a:picLocks noChangeAspect="1"/>
          </p:cNvPicPr>
          <p:nvPr/>
        </p:nvPicPr>
        <p:blipFill>
          <a:blip r:embed="rId2"/>
          <a:stretch>
            <a:fillRect/>
          </a:stretch>
        </p:blipFill>
        <p:spPr>
          <a:xfrm>
            <a:off x="1124841" y="2182741"/>
            <a:ext cx="7889271" cy="1427923"/>
          </a:xfrm>
          <a:prstGeom prst="rect">
            <a:avLst/>
          </a:prstGeom>
        </p:spPr>
      </p:pic>
      <p:pic>
        <p:nvPicPr>
          <p:cNvPr id="5" name="Picture 4">
            <a:extLst>
              <a:ext uri="{FF2B5EF4-FFF2-40B4-BE49-F238E27FC236}">
                <a16:creationId xmlns:a16="http://schemas.microsoft.com/office/drawing/2014/main" id="{414EE7FA-892C-4336-81E6-D8DD43A35007}"/>
              </a:ext>
            </a:extLst>
          </p:cNvPr>
          <p:cNvPicPr>
            <a:picLocks noChangeAspect="1"/>
          </p:cNvPicPr>
          <p:nvPr/>
        </p:nvPicPr>
        <p:blipFill>
          <a:blip r:embed="rId3"/>
          <a:stretch>
            <a:fillRect/>
          </a:stretch>
        </p:blipFill>
        <p:spPr>
          <a:xfrm>
            <a:off x="1218519" y="5022725"/>
            <a:ext cx="5557194" cy="1020266"/>
          </a:xfrm>
          <a:prstGeom prst="rect">
            <a:avLst/>
          </a:prstGeom>
        </p:spPr>
      </p:pic>
    </p:spTree>
    <p:extLst>
      <p:ext uri="{BB962C8B-B14F-4D97-AF65-F5344CB8AC3E}">
        <p14:creationId xmlns:p14="http://schemas.microsoft.com/office/powerpoint/2010/main" val="2050556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Allomorphs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Next is defining an environment for the allomorph in the Environments tool in the Grammar area. This rule states that the environment for the allomorph is that it must follow a voiced phoneme.</a:t>
            </a:r>
          </a:p>
          <a:p>
            <a:pPr marL="0" indent="0">
              <a:buNone/>
            </a:pPr>
            <a:endParaRPr lang="en-US" dirty="0"/>
          </a:p>
          <a:p>
            <a:endParaRPr lang="en-US" dirty="0"/>
          </a:p>
          <a:p>
            <a:r>
              <a:rPr lang="en-US" dirty="0"/>
              <a:t>This is stored in a </a:t>
            </a:r>
            <a:r>
              <a:rPr lang="en-US" dirty="0" err="1"/>
              <a:t>PhEnvironment</a:t>
            </a:r>
            <a:r>
              <a:rPr lang="en-US" dirty="0"/>
              <a:t> class with a name (Preceding voiced), and a </a:t>
            </a:r>
            <a:r>
              <a:rPr lang="en-US" dirty="0" err="1"/>
              <a:t>StringRepresentation</a:t>
            </a:r>
            <a:r>
              <a:rPr lang="en-US" dirty="0"/>
              <a:t> that gives a linguistic representation of the environment (/ _ [VD]) This string is parsed by FLEx to make sure it is valid. In this case, the VD matches the abbreviation in the </a:t>
            </a:r>
            <a:r>
              <a:rPr lang="en-US" dirty="0" err="1"/>
              <a:t>PhNCSegments</a:t>
            </a:r>
            <a:r>
              <a:rPr lang="en-US" dirty="0"/>
              <a:t> object. </a:t>
            </a:r>
          </a:p>
          <a:p>
            <a:endParaRPr lang="en-US" dirty="0"/>
          </a:p>
          <a:p>
            <a:endParaRPr lang="en-US" dirty="0"/>
          </a:p>
          <a:p>
            <a:pPr marL="0" indent="0">
              <a:buNone/>
            </a:pPr>
            <a:endParaRPr lang="en-US" dirty="0"/>
          </a:p>
          <a:p>
            <a:pPr marL="0" indent="0">
              <a:buNone/>
            </a:pPr>
            <a:endParaRPr lang="en-US" dirty="0"/>
          </a:p>
          <a:p>
            <a:endParaRPr lang="en-US" dirty="0"/>
          </a:p>
        </p:txBody>
      </p:sp>
      <p:pic>
        <p:nvPicPr>
          <p:cNvPr id="4" name="Picture 3">
            <a:extLst>
              <a:ext uri="{FF2B5EF4-FFF2-40B4-BE49-F238E27FC236}">
                <a16:creationId xmlns:a16="http://schemas.microsoft.com/office/drawing/2014/main" id="{7CBF9EAA-B92B-427D-B55E-A40FBB6655F6}"/>
              </a:ext>
            </a:extLst>
          </p:cNvPr>
          <p:cNvPicPr>
            <a:picLocks noChangeAspect="1"/>
          </p:cNvPicPr>
          <p:nvPr/>
        </p:nvPicPr>
        <p:blipFill>
          <a:blip r:embed="rId2"/>
          <a:stretch>
            <a:fillRect/>
          </a:stretch>
        </p:blipFill>
        <p:spPr>
          <a:xfrm>
            <a:off x="2925416" y="2298450"/>
            <a:ext cx="6847114" cy="1054205"/>
          </a:xfrm>
          <a:prstGeom prst="rect">
            <a:avLst/>
          </a:prstGeom>
        </p:spPr>
      </p:pic>
      <p:pic>
        <p:nvPicPr>
          <p:cNvPr id="6" name="Picture 5">
            <a:extLst>
              <a:ext uri="{FF2B5EF4-FFF2-40B4-BE49-F238E27FC236}">
                <a16:creationId xmlns:a16="http://schemas.microsoft.com/office/drawing/2014/main" id="{B39DF886-807A-4CB6-8028-1F4971A5537C}"/>
              </a:ext>
            </a:extLst>
          </p:cNvPr>
          <p:cNvPicPr>
            <a:picLocks noChangeAspect="1"/>
          </p:cNvPicPr>
          <p:nvPr/>
        </p:nvPicPr>
        <p:blipFill>
          <a:blip r:embed="rId3"/>
          <a:stretch>
            <a:fillRect/>
          </a:stretch>
        </p:blipFill>
        <p:spPr>
          <a:xfrm>
            <a:off x="7435843" y="5208104"/>
            <a:ext cx="4302265" cy="974098"/>
          </a:xfrm>
          <a:prstGeom prst="rect">
            <a:avLst/>
          </a:prstGeom>
        </p:spPr>
      </p:pic>
    </p:spTree>
    <p:extLst>
      <p:ext uri="{BB962C8B-B14F-4D97-AF65-F5344CB8AC3E}">
        <p14:creationId xmlns:p14="http://schemas.microsoft.com/office/powerpoint/2010/main" val="1228661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Allomorphs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554390" y="939801"/>
            <a:ext cx="3388110" cy="2489200"/>
          </a:xfrm>
        </p:spPr>
        <p:txBody>
          <a:bodyPr>
            <a:normAutofit lnSpcReduction="10000"/>
          </a:bodyPr>
          <a:lstStyle/>
          <a:p>
            <a:r>
              <a:rPr lang="en-US" dirty="0"/>
              <a:t>In the Allomorphs section, we then create a suffix allomorph with z in the form and the Environments set to the environment. </a:t>
            </a:r>
          </a:p>
          <a:p>
            <a:endParaRPr lang="en-US" dirty="0"/>
          </a:p>
          <a:p>
            <a:pPr marL="0" indent="0">
              <a:buNone/>
            </a:pPr>
            <a:endParaRPr lang="en-US" dirty="0"/>
          </a:p>
          <a:p>
            <a:pPr marL="0" indent="0">
              <a:buNone/>
            </a:pPr>
            <a:endParaRPr lang="en-US" dirty="0"/>
          </a:p>
          <a:p>
            <a:endParaRPr lang="en-US" dirty="0"/>
          </a:p>
        </p:txBody>
      </p:sp>
      <p:pic>
        <p:nvPicPr>
          <p:cNvPr id="4" name="Picture 3">
            <a:extLst>
              <a:ext uri="{FF2B5EF4-FFF2-40B4-BE49-F238E27FC236}">
                <a16:creationId xmlns:a16="http://schemas.microsoft.com/office/drawing/2014/main" id="{1DC238F5-D35E-4EEC-8014-911B36B296DA}"/>
              </a:ext>
            </a:extLst>
          </p:cNvPr>
          <p:cNvPicPr>
            <a:picLocks noChangeAspect="1"/>
          </p:cNvPicPr>
          <p:nvPr/>
        </p:nvPicPr>
        <p:blipFill>
          <a:blip r:embed="rId2"/>
          <a:stretch>
            <a:fillRect/>
          </a:stretch>
        </p:blipFill>
        <p:spPr>
          <a:xfrm>
            <a:off x="3942500" y="839258"/>
            <a:ext cx="7695110" cy="5781675"/>
          </a:xfrm>
          <a:prstGeom prst="rect">
            <a:avLst/>
          </a:prstGeom>
        </p:spPr>
      </p:pic>
      <p:pic>
        <p:nvPicPr>
          <p:cNvPr id="5" name="Picture 4">
            <a:extLst>
              <a:ext uri="{FF2B5EF4-FFF2-40B4-BE49-F238E27FC236}">
                <a16:creationId xmlns:a16="http://schemas.microsoft.com/office/drawing/2014/main" id="{E7789944-9765-4680-84F0-323941B2B145}"/>
              </a:ext>
            </a:extLst>
          </p:cNvPr>
          <p:cNvPicPr>
            <a:picLocks noChangeAspect="1"/>
          </p:cNvPicPr>
          <p:nvPr/>
        </p:nvPicPr>
        <p:blipFill>
          <a:blip r:embed="rId3"/>
          <a:stretch>
            <a:fillRect/>
          </a:stretch>
        </p:blipFill>
        <p:spPr>
          <a:xfrm>
            <a:off x="838200" y="3429000"/>
            <a:ext cx="2630238" cy="1381539"/>
          </a:xfrm>
          <a:prstGeom prst="rect">
            <a:avLst/>
          </a:prstGeom>
        </p:spPr>
      </p:pic>
    </p:spTree>
    <p:extLst>
      <p:ext uri="{BB962C8B-B14F-4D97-AF65-F5344CB8AC3E}">
        <p14:creationId xmlns:p14="http://schemas.microsoft.com/office/powerpoint/2010/main" val="4206233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Grammatical information</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In its simplest form, Grammatical Information just references a </a:t>
            </a:r>
            <a:r>
              <a:rPr lang="en-US" dirty="0" err="1"/>
              <a:t>PartOfSpeech</a:t>
            </a:r>
            <a:r>
              <a:rPr lang="en-US" dirty="0"/>
              <a:t> object in the Categories list. For parsing situations, it can include other information that restricts where it can be used. This information is entered in the Grammatical Info Details section at the bottom of an entry. This includes inflection classes and features, exception features, etc.</a:t>
            </a:r>
          </a:p>
          <a:p>
            <a:r>
              <a:rPr lang="en-US" dirty="0"/>
              <a:t>The previous example demonstrated some of the phonological features in the Grammar area. In a later presentation we will see some more features in the Grammar area.</a:t>
            </a:r>
          </a:p>
        </p:txBody>
      </p:sp>
    </p:spTree>
    <p:extLst>
      <p:ext uri="{BB962C8B-B14F-4D97-AF65-F5344CB8AC3E}">
        <p14:creationId xmlns:p14="http://schemas.microsoft.com/office/powerpoint/2010/main" val="2009648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Messages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Although not part of the FLEx conceptual model, FLEx does have a messaging capability on </a:t>
            </a:r>
            <a:r>
              <a:rPr lang="en-US" dirty="0" err="1"/>
              <a:t>LexEntry</a:t>
            </a:r>
            <a:r>
              <a:rPr lang="en-US" dirty="0"/>
              <a:t>. It’s primarily designed for users doing Send/Receive to have a place where they can ask questions of their colleagues, get feedback, and then resolve the message when done. It uses the FLEx Bridge Send/Receive capability, but it can be used without actually doing Send/Receive, and it gets saved in a FLEx backup. This is how it looks when there is a message on an entry.</a:t>
            </a:r>
            <a:br>
              <a:rPr lang="en-US" dirty="0"/>
            </a:br>
            <a:endParaRPr lang="en-US" dirty="0"/>
          </a:p>
          <a:p>
            <a:r>
              <a:rPr lang="en-US" dirty="0"/>
              <a:t>When you click the blue button, it</a:t>
            </a:r>
            <a:br>
              <a:rPr lang="en-US" dirty="0"/>
            </a:br>
            <a:r>
              <a:rPr lang="en-US" dirty="0"/>
              <a:t>opens the “Question about” dialog</a:t>
            </a:r>
            <a:br>
              <a:rPr lang="en-US" dirty="0"/>
            </a:br>
            <a:r>
              <a:rPr lang="en-US" dirty="0"/>
              <a:t>showing the status of the message(s).</a:t>
            </a:r>
          </a:p>
          <a:p>
            <a:endParaRPr lang="en-US" dirty="0"/>
          </a:p>
          <a:p>
            <a:endParaRPr lang="en-US" dirty="0"/>
          </a:p>
          <a:p>
            <a:endParaRPr lang="en-US" dirty="0"/>
          </a:p>
        </p:txBody>
      </p:sp>
      <p:pic>
        <p:nvPicPr>
          <p:cNvPr id="4" name="Picture 3">
            <a:extLst>
              <a:ext uri="{FF2B5EF4-FFF2-40B4-BE49-F238E27FC236}">
                <a16:creationId xmlns:a16="http://schemas.microsoft.com/office/drawing/2014/main" id="{A7DEDED2-9CB1-4389-9883-0B701A23D579}"/>
              </a:ext>
            </a:extLst>
          </p:cNvPr>
          <p:cNvPicPr/>
          <p:nvPr/>
        </p:nvPicPr>
        <p:blipFill>
          <a:blip r:embed="rId2"/>
          <a:stretch>
            <a:fillRect/>
          </a:stretch>
        </p:blipFill>
        <p:spPr>
          <a:xfrm>
            <a:off x="1448224" y="3732741"/>
            <a:ext cx="3871489" cy="374196"/>
          </a:xfrm>
          <a:prstGeom prst="rect">
            <a:avLst/>
          </a:prstGeom>
        </p:spPr>
      </p:pic>
      <p:pic>
        <p:nvPicPr>
          <p:cNvPr id="5" name="Picture 4">
            <a:extLst>
              <a:ext uri="{FF2B5EF4-FFF2-40B4-BE49-F238E27FC236}">
                <a16:creationId xmlns:a16="http://schemas.microsoft.com/office/drawing/2014/main" id="{EF822832-07CE-48B7-913E-ABB3930B6C89}"/>
              </a:ext>
            </a:extLst>
          </p:cNvPr>
          <p:cNvPicPr/>
          <p:nvPr/>
        </p:nvPicPr>
        <p:blipFill>
          <a:blip r:embed="rId3"/>
          <a:stretch>
            <a:fillRect/>
          </a:stretch>
        </p:blipFill>
        <p:spPr>
          <a:xfrm>
            <a:off x="6698796" y="3919839"/>
            <a:ext cx="3625261" cy="2480961"/>
          </a:xfrm>
          <a:prstGeom prst="rect">
            <a:avLst/>
          </a:prstGeom>
        </p:spPr>
      </p:pic>
    </p:spTree>
    <p:extLst>
      <p:ext uri="{BB962C8B-B14F-4D97-AF65-F5344CB8AC3E}">
        <p14:creationId xmlns:p14="http://schemas.microsoft.com/office/powerpoint/2010/main" val="2800416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Messages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lnSpcReduction="10000"/>
          </a:bodyPr>
          <a:lstStyle/>
          <a:p>
            <a:r>
              <a:rPr lang="en-US" dirty="0"/>
              <a:t>When resolved, the icon changes to</a:t>
            </a:r>
          </a:p>
          <a:p>
            <a:r>
              <a:rPr lang="en-US" dirty="0"/>
              <a:t>Clicking that button gives history.</a:t>
            </a:r>
          </a:p>
          <a:p>
            <a:endParaRPr lang="en-US" dirty="0"/>
          </a:p>
          <a:p>
            <a:endParaRPr lang="en-US" dirty="0"/>
          </a:p>
          <a:p>
            <a:endParaRPr lang="en-US" dirty="0"/>
          </a:p>
          <a:p>
            <a:endParaRPr lang="en-US" dirty="0"/>
          </a:p>
          <a:p>
            <a:endParaRPr lang="en-US" dirty="0"/>
          </a:p>
          <a:p>
            <a:endParaRPr lang="en-US" dirty="0"/>
          </a:p>
          <a:p>
            <a:endParaRPr lang="en-US" dirty="0"/>
          </a:p>
          <a:p>
            <a:r>
              <a:rPr lang="en-US" dirty="0"/>
              <a:t>The data for questions is stored in </a:t>
            </a:r>
            <a:r>
              <a:rPr lang="en-US" dirty="0" err="1"/>
              <a:t>Lexicon.fwstub.ChorusNotes</a:t>
            </a:r>
            <a:r>
              <a:rPr lang="en-US" dirty="0"/>
              <a:t> in the project folder. The information is stored in annotation elements. Responses and closing information is included as additional message elements.</a:t>
            </a:r>
          </a:p>
          <a:p>
            <a:endParaRPr lang="en-US" dirty="0"/>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AFB715DB-7333-4A7A-A125-2FB0E913A2B4}"/>
              </a:ext>
            </a:extLst>
          </p:cNvPr>
          <p:cNvPicPr/>
          <p:nvPr/>
        </p:nvPicPr>
        <p:blipFill>
          <a:blip r:embed="rId2"/>
          <a:stretch>
            <a:fillRect/>
          </a:stretch>
        </p:blipFill>
        <p:spPr>
          <a:xfrm>
            <a:off x="6755265" y="1045708"/>
            <a:ext cx="3543495" cy="423863"/>
          </a:xfrm>
          <a:prstGeom prst="rect">
            <a:avLst/>
          </a:prstGeom>
        </p:spPr>
      </p:pic>
      <p:pic>
        <p:nvPicPr>
          <p:cNvPr id="7" name="Picture 6">
            <a:extLst>
              <a:ext uri="{FF2B5EF4-FFF2-40B4-BE49-F238E27FC236}">
                <a16:creationId xmlns:a16="http://schemas.microsoft.com/office/drawing/2014/main" id="{C9FDF16A-5CE7-45C0-8B70-46887CD0B4A4}"/>
              </a:ext>
            </a:extLst>
          </p:cNvPr>
          <p:cNvPicPr/>
          <p:nvPr/>
        </p:nvPicPr>
        <p:blipFill>
          <a:blip r:embed="rId3"/>
          <a:stretch>
            <a:fillRect/>
          </a:stretch>
        </p:blipFill>
        <p:spPr>
          <a:xfrm>
            <a:off x="6096000" y="1469571"/>
            <a:ext cx="3035073" cy="3265157"/>
          </a:xfrm>
          <a:prstGeom prst="rect">
            <a:avLst/>
          </a:prstGeom>
        </p:spPr>
      </p:pic>
    </p:spTree>
    <p:extLst>
      <p:ext uri="{BB962C8B-B14F-4D97-AF65-F5344CB8AC3E}">
        <p14:creationId xmlns:p14="http://schemas.microsoft.com/office/powerpoint/2010/main" val="3534196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Entries: Messages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62500" lnSpcReduction="20000"/>
          </a:bodyPr>
          <a:lstStyle/>
          <a:p>
            <a:r>
              <a:rPr lang="en-US" dirty="0"/>
              <a:t>&lt;annotation</a:t>
            </a:r>
            <a:br>
              <a:rPr lang="en-US" dirty="0"/>
            </a:br>
            <a:r>
              <a:rPr lang="en-US" dirty="0"/>
              <a:t>   class="question"</a:t>
            </a:r>
            <a:br>
              <a:rPr lang="en-US" dirty="0"/>
            </a:br>
            <a:r>
              <a:rPr lang="en-US" dirty="0"/>
              <a:t>   ref="</a:t>
            </a:r>
            <a:r>
              <a:rPr lang="en-US" dirty="0" err="1"/>
              <a:t>silfw</a:t>
            </a:r>
            <a:r>
              <a:rPr lang="en-US" dirty="0"/>
              <a:t>://localhost/</a:t>
            </a:r>
            <a:r>
              <a:rPr lang="en-US" dirty="0" err="1"/>
              <a:t>link?app</a:t>
            </a:r>
            <a:r>
              <a:rPr lang="en-US" dirty="0"/>
              <a:t>=</a:t>
            </a:r>
            <a:r>
              <a:rPr lang="en-US" dirty="0" err="1"/>
              <a:t>flex&amp;amp;database</a:t>
            </a:r>
            <a:r>
              <a:rPr lang="en-US" dirty="0"/>
              <a:t>=</a:t>
            </a:r>
            <a:r>
              <a:rPr lang="en-US" dirty="0" err="1"/>
              <a:t>current&amp;amp;server</a:t>
            </a:r>
            <a:r>
              <a:rPr lang="en-US" dirty="0"/>
              <a:t>=&amp;</a:t>
            </a:r>
            <a:r>
              <a:rPr lang="en-US" dirty="0" err="1"/>
              <a:t>amp;tool</a:t>
            </a:r>
            <a:r>
              <a:rPr lang="en-US" dirty="0"/>
              <a:t>=</a:t>
            </a:r>
            <a:r>
              <a:rPr lang="en-US" dirty="0" err="1"/>
              <a:t>default&amp;amp;guid</a:t>
            </a:r>
            <a:r>
              <a:rPr lang="en-US" dirty="0"/>
              <a:t>=873de097-9b80-487e-a866-0b99831b4b7e&amp;amp;tag=&amp;</a:t>
            </a:r>
            <a:r>
              <a:rPr lang="en-US" dirty="0" err="1"/>
              <a:t>amp;id</a:t>
            </a:r>
            <a:r>
              <a:rPr lang="en-US" dirty="0"/>
              <a:t>=</a:t>
            </a:r>
            <a:r>
              <a:rPr lang="en-US" dirty="0">
                <a:highlight>
                  <a:srgbClr val="FFFF00"/>
                </a:highlight>
              </a:rPr>
              <a:t>873de097-9b80-487e-a866-0b99831b4b7e</a:t>
            </a:r>
            <a:r>
              <a:rPr lang="en-US" dirty="0"/>
              <a:t>&amp;amp;label=</a:t>
            </a:r>
            <a:r>
              <a:rPr lang="en-US" dirty="0" err="1"/>
              <a:t>garçon</a:t>
            </a:r>
            <a:r>
              <a:rPr lang="en-US" dirty="0"/>
              <a:t>"</a:t>
            </a:r>
            <a:br>
              <a:rPr lang="en-US" dirty="0"/>
            </a:br>
            <a:r>
              <a:rPr lang="en-US" dirty="0"/>
              <a:t>   guid="73abfec0-5214-4ace-964d-a6eb990af1b1"&gt;</a:t>
            </a:r>
            <a:br>
              <a:rPr lang="en-US" dirty="0"/>
            </a:br>
            <a:r>
              <a:rPr lang="en-US" dirty="0"/>
              <a:t>   &lt;message</a:t>
            </a:r>
            <a:br>
              <a:rPr lang="en-US" dirty="0"/>
            </a:br>
            <a:r>
              <a:rPr lang="en-US" dirty="0"/>
              <a:t>      author="</a:t>
            </a:r>
            <a:r>
              <a:rPr lang="en-US" dirty="0" err="1"/>
              <a:t>zook</a:t>
            </a:r>
            <a:r>
              <a:rPr lang="en-US" dirty="0"/>
              <a:t>"</a:t>
            </a:r>
            <a:br>
              <a:rPr lang="en-US" dirty="0"/>
            </a:br>
            <a:r>
              <a:rPr lang="en-US" dirty="0"/>
              <a:t>      status=""</a:t>
            </a:r>
            <a:br>
              <a:rPr lang="en-US" dirty="0"/>
            </a:br>
            <a:r>
              <a:rPr lang="en-US" dirty="0"/>
              <a:t>      date="2024-04-29T09:33:34-05:00"</a:t>
            </a:r>
            <a:br>
              <a:rPr lang="en-US" dirty="0"/>
            </a:br>
            <a:r>
              <a:rPr lang="en-US" dirty="0"/>
              <a:t>      guid="8303724a-01b4-4f66-ab4a-0275d9020000"&gt;</a:t>
            </a:r>
            <a:r>
              <a:rPr lang="en-US" dirty="0">
                <a:highlight>
                  <a:srgbClr val="FFFF00"/>
                </a:highlight>
              </a:rPr>
              <a:t>I need to do more research on garçon.</a:t>
            </a:r>
            <a:r>
              <a:rPr lang="en-US" dirty="0"/>
              <a:t>&lt;/message&gt;</a:t>
            </a:r>
            <a:br>
              <a:rPr lang="en-US" dirty="0"/>
            </a:br>
            <a:r>
              <a:rPr lang="en-US" dirty="0"/>
              <a:t>   &lt;message</a:t>
            </a:r>
            <a:br>
              <a:rPr lang="en-US" dirty="0"/>
            </a:br>
            <a:r>
              <a:rPr lang="en-US" dirty="0"/>
              <a:t>      author="</a:t>
            </a:r>
            <a:r>
              <a:rPr lang="en-US" dirty="0" err="1"/>
              <a:t>zook</a:t>
            </a:r>
            <a:r>
              <a:rPr lang="en-US" dirty="0"/>
              <a:t>"</a:t>
            </a:r>
            <a:br>
              <a:rPr lang="en-US" dirty="0"/>
            </a:br>
            <a:r>
              <a:rPr lang="en-US" dirty="0"/>
              <a:t>      status=""</a:t>
            </a:r>
            <a:br>
              <a:rPr lang="en-US" dirty="0"/>
            </a:br>
            <a:r>
              <a:rPr lang="en-US" dirty="0"/>
              <a:t>      date="2024-04-29T09:47:13-05:00"</a:t>
            </a:r>
            <a:br>
              <a:rPr lang="en-US" dirty="0"/>
            </a:br>
            <a:r>
              <a:rPr lang="en-US" dirty="0"/>
              <a:t>      guid="261d5ba3-c665-4870-b604-758ae640bf55"&gt;</a:t>
            </a:r>
            <a:r>
              <a:rPr lang="en-US" dirty="0">
                <a:highlight>
                  <a:srgbClr val="FFFF00"/>
                </a:highlight>
              </a:rPr>
              <a:t>Here is an answer.</a:t>
            </a:r>
            <a:r>
              <a:rPr lang="en-US" dirty="0"/>
              <a:t>&lt;/message&gt;</a:t>
            </a:r>
            <a:br>
              <a:rPr lang="en-US" dirty="0"/>
            </a:br>
            <a:r>
              <a:rPr lang="en-US" dirty="0"/>
              <a:t>   &lt;message</a:t>
            </a:r>
            <a:br>
              <a:rPr lang="en-US" dirty="0"/>
            </a:br>
            <a:r>
              <a:rPr lang="en-US" dirty="0"/>
              <a:t>      author="</a:t>
            </a:r>
            <a:r>
              <a:rPr lang="en-US" dirty="0" err="1"/>
              <a:t>zook</a:t>
            </a:r>
            <a:r>
              <a:rPr lang="en-US" dirty="0"/>
              <a:t>"</a:t>
            </a:r>
            <a:br>
              <a:rPr lang="en-US" dirty="0"/>
            </a:br>
            <a:r>
              <a:rPr lang="en-US" dirty="0"/>
              <a:t>      status="closed"</a:t>
            </a:r>
            <a:br>
              <a:rPr lang="en-US" dirty="0"/>
            </a:br>
            <a:r>
              <a:rPr lang="en-US" dirty="0"/>
              <a:t>      date="2024-04-29T09:47:22-05:00"</a:t>
            </a:r>
            <a:br>
              <a:rPr lang="en-US" dirty="0"/>
            </a:br>
            <a:r>
              <a:rPr lang="en-US" dirty="0"/>
              <a:t>      guid="9df8eacc-d0be-46c3-813c-555ab3e06ed6"&gt;&lt;/message&gt;</a:t>
            </a:r>
            <a:br>
              <a:rPr lang="en-US" dirty="0"/>
            </a:br>
            <a:r>
              <a:rPr lang="en-US" dirty="0"/>
              <a:t>&lt;/annotation&gt;</a:t>
            </a:r>
          </a:p>
          <a:p>
            <a:r>
              <a:rPr lang="en-US" dirty="0"/>
              <a:t>The message guid attributes are IDs for the actual message. The ref link at the top allow a user to click a link to jump to the entry. The guid in this reference is the guid of the </a:t>
            </a:r>
            <a:r>
              <a:rPr lang="en-US" dirty="0" err="1"/>
              <a:t>LexEntry</a:t>
            </a:r>
            <a:r>
              <a:rPr lang="en-US" dirty="0"/>
              <a:t>.</a:t>
            </a:r>
          </a:p>
          <a:p>
            <a:r>
              <a:rPr lang="en-US" dirty="0"/>
              <a:t>There is no capability built into FLEx for removing information from this </a:t>
            </a:r>
            <a:r>
              <a:rPr lang="en-US" dirty="0" err="1"/>
              <a:t>ChorusNotes</a:t>
            </a:r>
            <a:r>
              <a:rPr lang="en-US" dirty="0"/>
              <a:t> file. Data can be removed manually in the file, or the file can be deleted at any time to remove all Messages.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59570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Complex forms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10000"/>
          </a:bodyPr>
          <a:lstStyle/>
          <a:p>
            <a:r>
              <a:rPr lang="en-US" dirty="0"/>
              <a:t>Complex forms (typically subentries) and variants are stored as separate entries in FLEx that are linked to one or more main entries or senses. There are numerous options for displaying complex forms and variants.</a:t>
            </a:r>
          </a:p>
          <a:p>
            <a:r>
              <a:rPr lang="en-US" dirty="0"/>
              <a:t>This is the display of a main entry and a complex form as a subentry and a minor entry in Root-based view. Showing minor entries is optional. The minor entry can show more information, but typically it’s just a small entry that tells the user where they can find the full entry.</a:t>
            </a:r>
            <a:br>
              <a:rPr lang="en-US" dirty="0"/>
            </a:br>
            <a:br>
              <a:rPr lang="en-US" dirty="0"/>
            </a:br>
            <a:endParaRPr lang="en-US" dirty="0"/>
          </a:p>
          <a:p>
            <a:r>
              <a:rPr lang="en-US" dirty="0"/>
              <a:t>By switching the display to Lexeme-based view, we get this display, where each entry is displayed as an entry in the lexicon with references to the complex form and the main entry.</a:t>
            </a:r>
            <a:br>
              <a:rPr lang="en-US" dirty="0"/>
            </a:br>
            <a:br>
              <a:rPr lang="en-US" dirty="0"/>
            </a:br>
            <a:endParaRPr lang="en-US" dirty="0"/>
          </a:p>
          <a:p>
            <a:r>
              <a:rPr lang="en-US" dirty="0"/>
              <a:t>The next slide shows how the data is stored in FLEx for a complex form.</a:t>
            </a:r>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EB9C75DA-905F-4143-8740-4299618CE0CA}"/>
              </a:ext>
            </a:extLst>
          </p:cNvPr>
          <p:cNvPicPr/>
          <p:nvPr/>
        </p:nvPicPr>
        <p:blipFill>
          <a:blip r:embed="rId2"/>
          <a:stretch>
            <a:fillRect/>
          </a:stretch>
        </p:blipFill>
        <p:spPr>
          <a:xfrm>
            <a:off x="1709360" y="3291521"/>
            <a:ext cx="4226074" cy="737886"/>
          </a:xfrm>
          <a:prstGeom prst="rect">
            <a:avLst/>
          </a:prstGeom>
        </p:spPr>
      </p:pic>
      <p:pic>
        <p:nvPicPr>
          <p:cNvPr id="5" name="Picture 4">
            <a:extLst>
              <a:ext uri="{FF2B5EF4-FFF2-40B4-BE49-F238E27FC236}">
                <a16:creationId xmlns:a16="http://schemas.microsoft.com/office/drawing/2014/main" id="{54FD1646-8C6D-4A4A-BFD6-AD686CA6DF2A}"/>
              </a:ext>
            </a:extLst>
          </p:cNvPr>
          <p:cNvPicPr/>
          <p:nvPr/>
        </p:nvPicPr>
        <p:blipFill>
          <a:blip r:embed="rId3"/>
          <a:stretch>
            <a:fillRect/>
          </a:stretch>
        </p:blipFill>
        <p:spPr>
          <a:xfrm>
            <a:off x="1742018" y="5136016"/>
            <a:ext cx="5044136" cy="481013"/>
          </a:xfrm>
          <a:prstGeom prst="rect">
            <a:avLst/>
          </a:prstGeom>
        </p:spPr>
      </p:pic>
    </p:spTree>
    <p:extLst>
      <p:ext uri="{BB962C8B-B14F-4D97-AF65-F5344CB8AC3E}">
        <p14:creationId xmlns:p14="http://schemas.microsoft.com/office/powerpoint/2010/main" val="1780478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Complex forms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endParaRPr lang="en-US" dirty="0"/>
          </a:p>
          <a:p>
            <a:endParaRPr lang="en-US" dirty="0"/>
          </a:p>
          <a:p>
            <a:endParaRPr lang="en-US" dirty="0"/>
          </a:p>
          <a:p>
            <a:endParaRPr lang="en-US" dirty="0"/>
          </a:p>
        </p:txBody>
      </p:sp>
      <p:pic>
        <p:nvPicPr>
          <p:cNvPr id="7" name="Picture 6">
            <a:extLst>
              <a:ext uri="{FF2B5EF4-FFF2-40B4-BE49-F238E27FC236}">
                <a16:creationId xmlns:a16="http://schemas.microsoft.com/office/drawing/2014/main" id="{FFC20907-0EAF-4CA3-BA84-32A4E04CF92C}"/>
              </a:ext>
            </a:extLst>
          </p:cNvPr>
          <p:cNvPicPr/>
          <p:nvPr/>
        </p:nvPicPr>
        <p:blipFill>
          <a:blip r:embed="rId2"/>
          <a:stretch>
            <a:fillRect/>
          </a:stretch>
        </p:blipFill>
        <p:spPr>
          <a:xfrm>
            <a:off x="1504949" y="939799"/>
            <a:ext cx="5537491" cy="5681133"/>
          </a:xfrm>
          <a:prstGeom prst="rect">
            <a:avLst/>
          </a:prstGeom>
        </p:spPr>
      </p:pic>
      <p:pic>
        <p:nvPicPr>
          <p:cNvPr id="4" name="Picture 3">
            <a:extLst>
              <a:ext uri="{FF2B5EF4-FFF2-40B4-BE49-F238E27FC236}">
                <a16:creationId xmlns:a16="http://schemas.microsoft.com/office/drawing/2014/main" id="{4A08103D-8E96-4500-92C7-7B03B7E826B3}"/>
              </a:ext>
            </a:extLst>
          </p:cNvPr>
          <p:cNvPicPr>
            <a:picLocks noChangeAspect="1"/>
          </p:cNvPicPr>
          <p:nvPr/>
        </p:nvPicPr>
        <p:blipFill>
          <a:blip r:embed="rId3"/>
          <a:stretch>
            <a:fillRect/>
          </a:stretch>
        </p:blipFill>
        <p:spPr>
          <a:xfrm>
            <a:off x="6606509" y="1048656"/>
            <a:ext cx="4899692" cy="842482"/>
          </a:xfrm>
          <a:prstGeom prst="rect">
            <a:avLst/>
          </a:prstGeom>
        </p:spPr>
      </p:pic>
    </p:spTree>
    <p:extLst>
      <p:ext uri="{BB962C8B-B14F-4D97-AF65-F5344CB8AC3E}">
        <p14:creationId xmlns:p14="http://schemas.microsoft.com/office/powerpoint/2010/main" val="12602446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Complex forms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20000"/>
          </a:bodyPr>
          <a:lstStyle/>
          <a:p>
            <a:r>
              <a:rPr lang="en-US" dirty="0"/>
              <a:t>The main entry and complex form entry contain typical information in entries and senses. The part that makes the bottom entry a complex form, or subentry, is adding a </a:t>
            </a:r>
            <a:r>
              <a:rPr lang="en-US" dirty="0" err="1"/>
              <a:t>LexEntryRef</a:t>
            </a:r>
            <a:r>
              <a:rPr lang="en-US" dirty="0"/>
              <a:t> in the </a:t>
            </a:r>
            <a:r>
              <a:rPr lang="en-US" dirty="0" err="1"/>
              <a:t>EntryRefs</a:t>
            </a:r>
            <a:r>
              <a:rPr lang="en-US" dirty="0"/>
              <a:t> owning property. In the </a:t>
            </a:r>
            <a:r>
              <a:rPr lang="en-US" dirty="0" err="1"/>
              <a:t>LexEntryRef</a:t>
            </a:r>
            <a:r>
              <a:rPr lang="en-US" dirty="0"/>
              <a:t>:</a:t>
            </a:r>
          </a:p>
          <a:p>
            <a:pPr lvl="1"/>
            <a:r>
              <a:rPr lang="en-US" dirty="0" err="1"/>
              <a:t>RefType</a:t>
            </a:r>
            <a:r>
              <a:rPr lang="en-US" dirty="0"/>
              <a:t> is set to 1 to indicate this is a complex form.</a:t>
            </a:r>
          </a:p>
          <a:p>
            <a:pPr lvl="1"/>
            <a:r>
              <a:rPr lang="en-US" dirty="0"/>
              <a:t>Hide Minor Entry is set to 0 so that the minor entry will show. In the UI, this is controlled by the Show Minor Entry field at the bottom of the complex form entry.</a:t>
            </a:r>
          </a:p>
          <a:p>
            <a:pPr lvl="1"/>
            <a:r>
              <a:rPr lang="en-US" dirty="0" err="1"/>
              <a:t>ComplexEntryTypes</a:t>
            </a:r>
            <a:r>
              <a:rPr lang="en-US" dirty="0"/>
              <a:t> references one or more </a:t>
            </a:r>
            <a:r>
              <a:rPr lang="en-US" dirty="0" err="1"/>
              <a:t>LexEntryType</a:t>
            </a:r>
            <a:r>
              <a:rPr lang="en-US" dirty="0"/>
              <a:t> items in the Complex Form Types list. In the UI, this is set in the Complex Forms section in the Complex Form Type field. The Abbreviation in this item is used when displaying the complex form, and the </a:t>
            </a:r>
            <a:r>
              <a:rPr lang="en-US" dirty="0" err="1"/>
              <a:t>ReverseAbbr</a:t>
            </a:r>
            <a:r>
              <a:rPr lang="en-US" dirty="0"/>
              <a:t> is used when displaying a minor entry.</a:t>
            </a:r>
          </a:p>
          <a:p>
            <a:pPr lvl="1"/>
            <a:r>
              <a:rPr lang="en-US" dirty="0" err="1"/>
              <a:t>ComponentLexemes</a:t>
            </a:r>
            <a:r>
              <a:rPr lang="en-US" dirty="0"/>
              <a:t> references one or more main entries for this complex form. In the UI, this occurs in the Components field in the Complex Forms section.</a:t>
            </a:r>
          </a:p>
          <a:p>
            <a:pPr lvl="1"/>
            <a:r>
              <a:rPr lang="en-US" dirty="0" err="1"/>
              <a:t>PrimaryLexemes</a:t>
            </a:r>
            <a:r>
              <a:rPr lang="en-US" dirty="0"/>
              <a:t> references one or more of the entries in </a:t>
            </a:r>
            <a:r>
              <a:rPr lang="en-US" dirty="0" err="1"/>
              <a:t>ComponentLexemes</a:t>
            </a:r>
            <a:r>
              <a:rPr lang="en-US" dirty="0"/>
              <a:t>. For each </a:t>
            </a:r>
            <a:r>
              <a:rPr lang="en-US" dirty="0" err="1"/>
              <a:t>PrimaryLexeme</a:t>
            </a:r>
            <a:r>
              <a:rPr lang="en-US" dirty="0"/>
              <a:t>, a subentry will be generated for this complex form entry in Root-based views. This property is changed in the UI at the bottom of the complex form entry by the Show Subentry Under field.</a:t>
            </a:r>
          </a:p>
          <a:p>
            <a:pPr lvl="1"/>
            <a:r>
              <a:rPr lang="en-US" dirty="0" err="1"/>
              <a:t>ShowComplexFormsIn</a:t>
            </a:r>
            <a:r>
              <a:rPr lang="en-US" dirty="0"/>
              <a:t> references one or more of the entries in </a:t>
            </a:r>
            <a:r>
              <a:rPr lang="en-US" dirty="0" err="1"/>
              <a:t>ComponentLexemes</a:t>
            </a:r>
            <a:r>
              <a:rPr lang="en-US" dirty="0"/>
              <a:t>. For each </a:t>
            </a:r>
            <a:r>
              <a:rPr lang="en-US" dirty="0" err="1"/>
              <a:t>ShowComplexFormsIn</a:t>
            </a:r>
            <a:r>
              <a:rPr lang="en-US" dirty="0"/>
              <a:t>, a complex form will be generated for this complex form entry in Lexeme-based views. This property is changed in the UI at the bottom of the complex form entry by the Referenced Complex Forms field.</a:t>
            </a:r>
          </a:p>
          <a:p>
            <a:pPr marL="457200" lvl="1" indent="0">
              <a:buNone/>
            </a:pPr>
            <a:endParaRPr lang="en-US" dirty="0"/>
          </a:p>
          <a:p>
            <a:pPr lvl="1"/>
            <a:endParaRPr lang="en-US" dirty="0"/>
          </a:p>
          <a:p>
            <a:endParaRPr lang="en-US" dirty="0"/>
          </a:p>
        </p:txBody>
      </p:sp>
    </p:spTree>
    <p:extLst>
      <p:ext uri="{BB962C8B-B14F-4D97-AF65-F5344CB8AC3E}">
        <p14:creationId xmlns:p14="http://schemas.microsoft.com/office/powerpoint/2010/main" val="2878975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Variants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This is the display of a main entry with a variant, and a minor entry.</a:t>
            </a:r>
            <a:br>
              <a:rPr lang="en-US" dirty="0"/>
            </a:br>
            <a:endParaRPr lang="en-US" dirty="0"/>
          </a:p>
          <a:p>
            <a:r>
              <a:rPr lang="en-US" dirty="0"/>
              <a:t>Here is how the data is stored in FLEx for a variant.</a:t>
            </a:r>
          </a:p>
        </p:txBody>
      </p:sp>
      <p:pic>
        <p:nvPicPr>
          <p:cNvPr id="4" name="Picture 3">
            <a:extLst>
              <a:ext uri="{FF2B5EF4-FFF2-40B4-BE49-F238E27FC236}">
                <a16:creationId xmlns:a16="http://schemas.microsoft.com/office/drawing/2014/main" id="{7A6CA348-6D96-4D60-8FA1-ADC74EB319CF}"/>
              </a:ext>
            </a:extLst>
          </p:cNvPr>
          <p:cNvPicPr/>
          <p:nvPr/>
        </p:nvPicPr>
        <p:blipFill>
          <a:blip r:embed="rId2"/>
          <a:stretch>
            <a:fillRect/>
          </a:stretch>
        </p:blipFill>
        <p:spPr>
          <a:xfrm>
            <a:off x="1874383" y="1390650"/>
            <a:ext cx="3476001" cy="481693"/>
          </a:xfrm>
          <a:prstGeom prst="rect">
            <a:avLst/>
          </a:prstGeom>
        </p:spPr>
      </p:pic>
      <p:pic>
        <p:nvPicPr>
          <p:cNvPr id="5" name="Picture 4">
            <a:extLst>
              <a:ext uri="{FF2B5EF4-FFF2-40B4-BE49-F238E27FC236}">
                <a16:creationId xmlns:a16="http://schemas.microsoft.com/office/drawing/2014/main" id="{478C65BD-53B5-4EBF-80B0-F02C17D5042A}"/>
              </a:ext>
            </a:extLst>
          </p:cNvPr>
          <p:cNvPicPr/>
          <p:nvPr/>
        </p:nvPicPr>
        <p:blipFill>
          <a:blip r:embed="rId3"/>
          <a:stretch>
            <a:fillRect/>
          </a:stretch>
        </p:blipFill>
        <p:spPr>
          <a:xfrm>
            <a:off x="1101498" y="2323193"/>
            <a:ext cx="5812946" cy="4297740"/>
          </a:xfrm>
          <a:prstGeom prst="rect">
            <a:avLst/>
          </a:prstGeom>
        </p:spPr>
      </p:pic>
      <p:sp>
        <p:nvSpPr>
          <p:cNvPr id="6" name="TextBox 5">
            <a:extLst>
              <a:ext uri="{FF2B5EF4-FFF2-40B4-BE49-F238E27FC236}">
                <a16:creationId xmlns:a16="http://schemas.microsoft.com/office/drawing/2014/main" id="{8DF6E637-518A-4099-A826-26C076F9F100}"/>
              </a:ext>
            </a:extLst>
          </p:cNvPr>
          <p:cNvSpPr txBox="1"/>
          <p:nvPr/>
        </p:nvSpPr>
        <p:spPr>
          <a:xfrm>
            <a:off x="7696200" y="2192761"/>
            <a:ext cx="4118201" cy="4524315"/>
          </a:xfrm>
          <a:prstGeom prst="rect">
            <a:avLst/>
          </a:prstGeom>
          <a:noFill/>
        </p:spPr>
        <p:txBody>
          <a:bodyPr wrap="square" rtlCol="0">
            <a:spAutoFit/>
          </a:bodyPr>
          <a:lstStyle/>
          <a:p>
            <a:r>
              <a:rPr lang="en-US" dirty="0"/>
              <a:t>The structure for a variant is similar to complex forms, but needs less information. A simple variant entry does not have a sense. In interlinear text it shows the sense information from the main entry. This means </a:t>
            </a:r>
            <a:r>
              <a:rPr lang="en-US" dirty="0" err="1"/>
              <a:t>MorphoSyntaxAnalyses</a:t>
            </a:r>
            <a:r>
              <a:rPr lang="en-US" dirty="0"/>
              <a:t> are not needed on the entry.</a:t>
            </a:r>
          </a:p>
          <a:p>
            <a:endParaRPr lang="en-US" dirty="0"/>
          </a:p>
          <a:p>
            <a:r>
              <a:rPr lang="en-US" dirty="0" err="1"/>
              <a:t>RefType</a:t>
            </a:r>
            <a:r>
              <a:rPr lang="en-US" dirty="0"/>
              <a:t>: 0</a:t>
            </a:r>
          </a:p>
          <a:p>
            <a:r>
              <a:rPr lang="en-US" dirty="0" err="1"/>
              <a:t>VariantEntryTypes</a:t>
            </a:r>
            <a:r>
              <a:rPr lang="en-US" dirty="0"/>
              <a:t>: from Variant Types list.</a:t>
            </a:r>
          </a:p>
          <a:p>
            <a:endParaRPr lang="en-US" dirty="0"/>
          </a:p>
          <a:p>
            <a:r>
              <a:rPr lang="en-US" dirty="0"/>
              <a:t>Dialect labels are available on entries and senses referencing items from the Dialect Labels list.</a:t>
            </a:r>
          </a:p>
          <a:p>
            <a:endParaRPr lang="en-US" dirty="0"/>
          </a:p>
        </p:txBody>
      </p:sp>
    </p:spTree>
    <p:extLst>
      <p:ext uri="{BB962C8B-B14F-4D97-AF65-F5344CB8AC3E}">
        <p14:creationId xmlns:p14="http://schemas.microsoft.com/office/powerpoint/2010/main" val="384337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Sense information is stored in </a:t>
            </a:r>
            <a:r>
              <a:rPr lang="en-US" dirty="0" err="1"/>
              <a:t>LexSense</a:t>
            </a:r>
            <a:r>
              <a:rPr lang="en-US" dirty="0"/>
              <a:t> objects which are owned in the Senses property of </a:t>
            </a:r>
            <a:r>
              <a:rPr lang="en-US" dirty="0" err="1"/>
              <a:t>LexEntry</a:t>
            </a:r>
            <a:r>
              <a:rPr lang="en-US" dirty="0"/>
              <a:t>.</a:t>
            </a:r>
          </a:p>
          <a:p>
            <a:r>
              <a:rPr lang="en-US" dirty="0"/>
              <a:t>Senses can also be nested. So </a:t>
            </a:r>
            <a:r>
              <a:rPr lang="en-US" dirty="0" err="1"/>
              <a:t>LexSense</a:t>
            </a:r>
            <a:r>
              <a:rPr lang="en-US" dirty="0"/>
              <a:t> can also be owned in the Senses property of </a:t>
            </a:r>
            <a:r>
              <a:rPr lang="en-US" dirty="0" err="1"/>
              <a:t>LexSense</a:t>
            </a:r>
            <a:r>
              <a:rPr lang="en-US" dirty="0"/>
              <a:t>.</a:t>
            </a:r>
          </a:p>
          <a:p>
            <a:r>
              <a:rPr lang="en-US" dirty="0"/>
              <a:t>Sense numbers are provided virtually by FLEx, so there is no need to store numbers with senses.</a:t>
            </a:r>
          </a:p>
          <a:p>
            <a:r>
              <a:rPr lang="en-US" dirty="0"/>
              <a:t>Dictionary configuration allows you to alter the numbering system in various ways. Configuration also allows you to start each sense in a new paragraph, if desired, and allows indents, and other paragraph properties when they are separate paragraphs. </a:t>
            </a:r>
          </a:p>
          <a:p>
            <a:endParaRPr lang="en-US" dirty="0"/>
          </a:p>
        </p:txBody>
      </p:sp>
    </p:spTree>
    <p:extLst>
      <p:ext uri="{BB962C8B-B14F-4D97-AF65-F5344CB8AC3E}">
        <p14:creationId xmlns:p14="http://schemas.microsoft.com/office/powerpoint/2010/main" val="1748629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0000" lnSpcReduction="20000"/>
          </a:bodyPr>
          <a:lstStyle/>
          <a:p>
            <a:r>
              <a:rPr lang="en-US" dirty="0"/>
              <a:t>The </a:t>
            </a:r>
            <a:r>
              <a:rPr lang="en-US" dirty="0" err="1"/>
              <a:t>LexSense</a:t>
            </a:r>
            <a:r>
              <a:rPr lang="en-US" dirty="0"/>
              <a:t> class includes the</a:t>
            </a:r>
            <a:br>
              <a:rPr lang="en-US" dirty="0"/>
            </a:br>
            <a:r>
              <a:rPr lang="en-US" dirty="0"/>
              <a:t> following types of strings: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Styles for each field and Before, Between, and After text is controlled via configuration.</a:t>
            </a:r>
          </a:p>
          <a:p>
            <a:r>
              <a:rPr lang="en-US" dirty="0"/>
              <a:t>Each sense has a </a:t>
            </a:r>
            <a:r>
              <a:rPr lang="en-US" dirty="0" err="1"/>
              <a:t>MorphoSyntaxAnalysis</a:t>
            </a:r>
            <a:r>
              <a:rPr lang="en-US" dirty="0"/>
              <a:t> that references one of the </a:t>
            </a:r>
            <a:r>
              <a:rPr lang="en-US" dirty="0" err="1"/>
              <a:t>MorphoSyntaxAnalyses</a:t>
            </a:r>
            <a:r>
              <a:rPr lang="en-US" dirty="0"/>
              <a:t> owned by its </a:t>
            </a:r>
            <a:r>
              <a:rPr lang="en-US" dirty="0" err="1"/>
              <a:t>LexEntry</a:t>
            </a:r>
            <a:r>
              <a:rPr lang="en-US" dirty="0"/>
              <a:t>.</a:t>
            </a:r>
          </a:p>
          <a:p>
            <a:r>
              <a:rPr lang="en-US" dirty="0"/>
              <a:t>Senses can also be configured to show the grammatical category before a group of senses that have the same category.</a:t>
            </a:r>
          </a:p>
        </p:txBody>
      </p:sp>
      <p:pic>
        <p:nvPicPr>
          <p:cNvPr id="5" name="Picture 4">
            <a:extLst>
              <a:ext uri="{FF2B5EF4-FFF2-40B4-BE49-F238E27FC236}">
                <a16:creationId xmlns:a16="http://schemas.microsoft.com/office/drawing/2014/main" id="{CB84722D-E0CD-414E-A460-43F937D7A62B}"/>
              </a:ext>
            </a:extLst>
          </p:cNvPr>
          <p:cNvPicPr>
            <a:picLocks noChangeAspect="1"/>
          </p:cNvPicPr>
          <p:nvPr/>
        </p:nvPicPr>
        <p:blipFill>
          <a:blip r:embed="rId2"/>
          <a:stretch>
            <a:fillRect/>
          </a:stretch>
        </p:blipFill>
        <p:spPr>
          <a:xfrm>
            <a:off x="6425035" y="265244"/>
            <a:ext cx="4667508" cy="4210380"/>
          </a:xfrm>
          <a:prstGeom prst="rect">
            <a:avLst/>
          </a:prstGeom>
        </p:spPr>
      </p:pic>
    </p:spTree>
    <p:extLst>
      <p:ext uri="{BB962C8B-B14F-4D97-AF65-F5344CB8AC3E}">
        <p14:creationId xmlns:p14="http://schemas.microsoft.com/office/powerpoint/2010/main" val="1800846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Here’s an example that shows main and </a:t>
            </a:r>
            <a:r>
              <a:rPr lang="en-US" dirty="0" err="1"/>
              <a:t>subsenses</a:t>
            </a:r>
            <a:r>
              <a:rPr lang="en-US" dirty="0"/>
              <a:t> of senses using the configuration option, “If all senses share the grammatical information, show it first”</a:t>
            </a:r>
          </a:p>
        </p:txBody>
      </p:sp>
      <p:pic>
        <p:nvPicPr>
          <p:cNvPr id="5" name="Picture 4">
            <a:extLst>
              <a:ext uri="{FF2B5EF4-FFF2-40B4-BE49-F238E27FC236}">
                <a16:creationId xmlns:a16="http://schemas.microsoft.com/office/drawing/2014/main" id="{E0ADDDA6-D22E-4986-962C-7CA2FAEE1040}"/>
              </a:ext>
            </a:extLst>
          </p:cNvPr>
          <p:cNvPicPr>
            <a:picLocks noChangeAspect="1"/>
          </p:cNvPicPr>
          <p:nvPr/>
        </p:nvPicPr>
        <p:blipFill>
          <a:blip r:embed="rId2"/>
          <a:stretch>
            <a:fillRect/>
          </a:stretch>
        </p:blipFill>
        <p:spPr>
          <a:xfrm>
            <a:off x="1457533" y="2216351"/>
            <a:ext cx="7911698" cy="4206220"/>
          </a:xfrm>
          <a:prstGeom prst="rect">
            <a:avLst/>
          </a:prstGeom>
        </p:spPr>
      </p:pic>
    </p:spTree>
    <p:extLst>
      <p:ext uri="{BB962C8B-B14F-4D97-AF65-F5344CB8AC3E}">
        <p14:creationId xmlns:p14="http://schemas.microsoft.com/office/powerpoint/2010/main" val="3984841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 Example sentences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Example sentences and translations can have multiple writing systems with embedding as needed. You can also have multiple translations with different types. Default types are Free translation, Literal translation, and Back translation, but you are free to add other types if needed.</a:t>
            </a:r>
          </a:p>
          <a:p>
            <a:r>
              <a:rPr lang="en-US" dirty="0"/>
              <a:t>Here’s a simple example.</a:t>
            </a:r>
          </a:p>
          <a:p>
            <a:pPr marL="0" indent="0">
              <a:buNone/>
            </a:pPr>
            <a:endParaRPr lang="en-US" dirty="0"/>
          </a:p>
          <a:p>
            <a:endParaRPr lang="en-US" dirty="0"/>
          </a:p>
        </p:txBody>
      </p:sp>
      <p:pic>
        <p:nvPicPr>
          <p:cNvPr id="6" name="Picture 5">
            <a:extLst>
              <a:ext uri="{FF2B5EF4-FFF2-40B4-BE49-F238E27FC236}">
                <a16:creationId xmlns:a16="http://schemas.microsoft.com/office/drawing/2014/main" id="{F358B5BA-36AC-4DDE-8AE9-FBE2ACAEC42D}"/>
              </a:ext>
            </a:extLst>
          </p:cNvPr>
          <p:cNvPicPr/>
          <p:nvPr/>
        </p:nvPicPr>
        <p:blipFill>
          <a:blip r:embed="rId2"/>
          <a:stretch>
            <a:fillRect/>
          </a:stretch>
        </p:blipFill>
        <p:spPr>
          <a:xfrm>
            <a:off x="1498116" y="3599920"/>
            <a:ext cx="6470620" cy="267381"/>
          </a:xfrm>
          <a:prstGeom prst="rect">
            <a:avLst/>
          </a:prstGeom>
        </p:spPr>
      </p:pic>
      <p:pic>
        <p:nvPicPr>
          <p:cNvPr id="7" name="Picture 6">
            <a:extLst>
              <a:ext uri="{FF2B5EF4-FFF2-40B4-BE49-F238E27FC236}">
                <a16:creationId xmlns:a16="http://schemas.microsoft.com/office/drawing/2014/main" id="{796FC081-0F19-42C5-8C72-C02D623A0511}"/>
              </a:ext>
            </a:extLst>
          </p:cNvPr>
          <p:cNvPicPr/>
          <p:nvPr/>
        </p:nvPicPr>
        <p:blipFill>
          <a:blip r:embed="rId3"/>
          <a:stretch>
            <a:fillRect/>
          </a:stretch>
        </p:blipFill>
        <p:spPr>
          <a:xfrm>
            <a:off x="1498116" y="4109884"/>
            <a:ext cx="7234511" cy="2137834"/>
          </a:xfrm>
          <a:prstGeom prst="rect">
            <a:avLst/>
          </a:prstGeom>
        </p:spPr>
      </p:pic>
    </p:spTree>
    <p:extLst>
      <p:ext uri="{BB962C8B-B14F-4D97-AF65-F5344CB8AC3E}">
        <p14:creationId xmlns:p14="http://schemas.microsoft.com/office/powerpoint/2010/main" val="11290748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 Extended notes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There are times when note fields need to include one or more example sentences to illustrate the discussion. In order to do this, FLEx offers Extended Notes. This works by including one or more extended note objects.</a:t>
            </a:r>
          </a:p>
          <a:p>
            <a:r>
              <a:rPr lang="en-US" dirty="0"/>
              <a:t>Each extended note has a type that refers to an item in the Extended Note Types list, a MultiString Discussion field, and one or more examples.</a:t>
            </a:r>
          </a:p>
          <a:p>
            <a:r>
              <a:rPr lang="en-US" dirty="0"/>
              <a:t>Consecutive extended notes of the same type will be displayed together as one note with configured Before/After text and style. </a:t>
            </a:r>
          </a:p>
          <a:p>
            <a:r>
              <a:rPr lang="en-US" dirty="0"/>
              <a:t>When more than one type is used, the Extended Note node in Dictionary Configuration needs to be duplicated to provide different formatting, if you want to have different configuration for the additional types.</a:t>
            </a:r>
          </a:p>
          <a:p>
            <a:endParaRPr lang="en-US" dirty="0"/>
          </a:p>
        </p:txBody>
      </p:sp>
    </p:spTree>
    <p:extLst>
      <p:ext uri="{BB962C8B-B14F-4D97-AF65-F5344CB8AC3E}">
        <p14:creationId xmlns:p14="http://schemas.microsoft.com/office/powerpoint/2010/main" val="38627123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 Extended notes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Here’s an example with two example sentences illustrating the first part of the note.</a:t>
            </a:r>
          </a:p>
          <a:p>
            <a:endParaRPr lang="en-US" dirty="0"/>
          </a:p>
        </p:txBody>
      </p:sp>
      <p:pic>
        <p:nvPicPr>
          <p:cNvPr id="4" name="Picture 3">
            <a:extLst>
              <a:ext uri="{FF2B5EF4-FFF2-40B4-BE49-F238E27FC236}">
                <a16:creationId xmlns:a16="http://schemas.microsoft.com/office/drawing/2014/main" id="{B3AE740B-4DBB-4B39-BDB4-CC7EC20BCBF3}"/>
              </a:ext>
            </a:extLst>
          </p:cNvPr>
          <p:cNvPicPr/>
          <p:nvPr/>
        </p:nvPicPr>
        <p:blipFill>
          <a:blip r:embed="rId2"/>
          <a:stretch>
            <a:fillRect/>
          </a:stretch>
        </p:blipFill>
        <p:spPr>
          <a:xfrm>
            <a:off x="3707036" y="1502230"/>
            <a:ext cx="5876474" cy="1090612"/>
          </a:xfrm>
          <a:prstGeom prst="rect">
            <a:avLst/>
          </a:prstGeom>
        </p:spPr>
      </p:pic>
      <p:pic>
        <p:nvPicPr>
          <p:cNvPr id="6" name="Picture 5">
            <a:extLst>
              <a:ext uri="{FF2B5EF4-FFF2-40B4-BE49-F238E27FC236}">
                <a16:creationId xmlns:a16="http://schemas.microsoft.com/office/drawing/2014/main" id="{93D088E4-466B-4864-A60C-52EBDF5DD89E}"/>
              </a:ext>
            </a:extLst>
          </p:cNvPr>
          <p:cNvPicPr>
            <a:picLocks noChangeAspect="1"/>
          </p:cNvPicPr>
          <p:nvPr/>
        </p:nvPicPr>
        <p:blipFill>
          <a:blip r:embed="rId3"/>
          <a:stretch>
            <a:fillRect/>
          </a:stretch>
        </p:blipFill>
        <p:spPr>
          <a:xfrm>
            <a:off x="2513528" y="2755235"/>
            <a:ext cx="7276203" cy="3407025"/>
          </a:xfrm>
          <a:prstGeom prst="rect">
            <a:avLst/>
          </a:prstGeom>
        </p:spPr>
      </p:pic>
    </p:spTree>
    <p:extLst>
      <p:ext uri="{BB962C8B-B14F-4D97-AF65-F5344CB8AC3E}">
        <p14:creationId xmlns:p14="http://schemas.microsoft.com/office/powerpoint/2010/main" val="446574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 Lexical relations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lnSpcReduction="10000"/>
          </a:bodyPr>
          <a:lstStyle/>
          <a:p>
            <a:r>
              <a:rPr lang="en-US" dirty="0"/>
              <a:t>In FLEx, lexical relations (between senses) and cross references (between entries) are implemented using </a:t>
            </a:r>
            <a:r>
              <a:rPr lang="en-US" dirty="0" err="1"/>
              <a:t>LexRelation</a:t>
            </a:r>
            <a:r>
              <a:rPr lang="en-US" dirty="0"/>
              <a:t> objects that represent an instance of a certain kind of relation set, and references entries or senses for this particular relation.</a:t>
            </a:r>
          </a:p>
          <a:p>
            <a:r>
              <a:rPr lang="en-US" dirty="0"/>
              <a:t>FLEx uses virtual properties on entry and sense to find any </a:t>
            </a:r>
            <a:r>
              <a:rPr lang="en-US" dirty="0" err="1"/>
              <a:t>LexRelation</a:t>
            </a:r>
            <a:r>
              <a:rPr lang="en-US" dirty="0"/>
              <a:t> objects that are referencing the entry or sense, and displays appropriate information showing the relevant lexical relations.</a:t>
            </a:r>
          </a:p>
          <a:p>
            <a:r>
              <a:rPr lang="en-US" dirty="0"/>
              <a:t>The specifications for the </a:t>
            </a:r>
            <a:r>
              <a:rPr lang="en-US" dirty="0" err="1"/>
              <a:t>LexRelation</a:t>
            </a:r>
            <a:r>
              <a:rPr lang="en-US" dirty="0"/>
              <a:t> are in </a:t>
            </a:r>
            <a:r>
              <a:rPr lang="en-US" dirty="0" err="1"/>
              <a:t>LexRefType</a:t>
            </a:r>
            <a:r>
              <a:rPr lang="en-US" dirty="0"/>
              <a:t> items in the Lexical Relations list.</a:t>
            </a:r>
          </a:p>
          <a:p>
            <a:r>
              <a:rPr lang="en-US" dirty="0"/>
              <a:t>When one of the Entry </a:t>
            </a:r>
            <a:r>
              <a:rPr lang="en-US" dirty="0" err="1"/>
              <a:t>MappingTypes</a:t>
            </a:r>
            <a:r>
              <a:rPr lang="en-US" dirty="0"/>
              <a:t> are used, everything works the same except the links are to entries instead of senses, and the relations would show up under Cross References instead of Lexical Relations in Lexicon Edit and Dictionary views. An ‘Entry Or Sense’ type would allow either Entries or Senses in the set.</a:t>
            </a:r>
          </a:p>
          <a:p>
            <a:endParaRPr lang="en-US" dirty="0"/>
          </a:p>
          <a:p>
            <a:endParaRPr lang="en-US" dirty="0"/>
          </a:p>
        </p:txBody>
      </p:sp>
    </p:spTree>
    <p:extLst>
      <p:ext uri="{BB962C8B-B14F-4D97-AF65-F5344CB8AC3E}">
        <p14:creationId xmlns:p14="http://schemas.microsoft.com/office/powerpoint/2010/main" val="3450579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 Lexical relations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There are 6 basic relation set types that are available</a:t>
            </a:r>
          </a:p>
          <a:p>
            <a:pPr lvl="1"/>
            <a:r>
              <a:rPr lang="en-US" dirty="0"/>
              <a:t>Collection – links to a set of unordered objects (e.g., synonyms). Every object in the list will show all of the other objects in the list.</a:t>
            </a:r>
          </a:p>
          <a:p>
            <a:pPr lvl="1"/>
            <a:r>
              <a:rPr lang="en-US" dirty="0"/>
              <a:t>Pair – links two objects (e.g., antonyms). Each object will show the other object with the same relation label.</a:t>
            </a:r>
          </a:p>
          <a:p>
            <a:pPr lvl="1"/>
            <a:r>
              <a:rPr lang="en-US" dirty="0"/>
              <a:t>Pair (different names) - links two objects (e.g., classified nouns). Each object will show the other object, but with different labels for each end.</a:t>
            </a:r>
          </a:p>
          <a:p>
            <a:pPr lvl="1"/>
            <a:r>
              <a:rPr lang="en-US" dirty="0"/>
              <a:t>Sequence – links an ordered list of objects (e.g., days of week). Each object will show the entire ordered set.</a:t>
            </a:r>
          </a:p>
          <a:p>
            <a:pPr lvl="1"/>
            <a:r>
              <a:rPr lang="en-US" dirty="0"/>
              <a:t>Tree – links one object to a set of unordered objects (e.g., part/whole). The first object shows all other objects with one label. The other objects show the root object with a different label.</a:t>
            </a:r>
          </a:p>
          <a:p>
            <a:pPr lvl="1"/>
            <a:r>
              <a:rPr lang="en-US" dirty="0"/>
              <a:t>Unidirectional – links one object with a sequence of objects. The root object shows all other objects. The other objects do not show anything.</a:t>
            </a:r>
          </a:p>
          <a:p>
            <a:endParaRPr lang="en-US" dirty="0"/>
          </a:p>
        </p:txBody>
      </p:sp>
    </p:spTree>
    <p:extLst>
      <p:ext uri="{BB962C8B-B14F-4D97-AF65-F5344CB8AC3E}">
        <p14:creationId xmlns:p14="http://schemas.microsoft.com/office/powerpoint/2010/main" val="3277014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 Lexical relations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10000"/>
          </a:bodyPr>
          <a:lstStyle/>
          <a:p>
            <a:r>
              <a:rPr lang="en-US" dirty="0"/>
              <a:t>The Lexical Relations list owns </a:t>
            </a:r>
            <a:r>
              <a:rPr lang="en-US" dirty="0" err="1"/>
              <a:t>LexRefType</a:t>
            </a:r>
            <a:r>
              <a:rPr lang="en-US" dirty="0"/>
              <a:t> objects, which are subitems of </a:t>
            </a:r>
            <a:r>
              <a:rPr lang="en-US" dirty="0" err="1"/>
              <a:t>CmPossibility</a:t>
            </a:r>
            <a:r>
              <a:rPr lang="en-US" dirty="0"/>
              <a:t>. </a:t>
            </a:r>
            <a:r>
              <a:rPr lang="en-US" dirty="0" err="1"/>
              <a:t>LexRefType</a:t>
            </a:r>
            <a:r>
              <a:rPr lang="en-US" dirty="0"/>
              <a:t> has six significant properties.</a:t>
            </a:r>
          </a:p>
          <a:p>
            <a:pPr lvl="1"/>
            <a:r>
              <a:rPr lang="en-US" dirty="0"/>
              <a:t>Name: The name (or forward name) for the relation of the first linked object.</a:t>
            </a:r>
          </a:p>
          <a:p>
            <a:pPr lvl="1"/>
            <a:r>
              <a:rPr lang="en-US" dirty="0"/>
              <a:t>Abbreviation: The abbreviation (or abbreviation) for the relation of the first linked object.</a:t>
            </a:r>
          </a:p>
          <a:p>
            <a:pPr lvl="1"/>
            <a:r>
              <a:rPr lang="en-US" dirty="0" err="1"/>
              <a:t>ReverseName</a:t>
            </a:r>
            <a:r>
              <a:rPr lang="en-US" dirty="0"/>
              <a:t>: The name for the relation when showing non-first linked objects.</a:t>
            </a:r>
          </a:p>
          <a:p>
            <a:pPr lvl="1"/>
            <a:r>
              <a:rPr lang="en-US" dirty="0" err="1"/>
              <a:t>ReverseAbbreviation</a:t>
            </a:r>
            <a:r>
              <a:rPr lang="en-US" dirty="0"/>
              <a:t>: The abbreviation for the relation when showing non-first linked objects.</a:t>
            </a:r>
          </a:p>
          <a:p>
            <a:pPr lvl="1"/>
            <a:r>
              <a:rPr lang="en-US" dirty="0"/>
              <a:t>Members: Owns </a:t>
            </a:r>
            <a:r>
              <a:rPr lang="en-US" dirty="0" err="1"/>
              <a:t>LexReference</a:t>
            </a:r>
            <a:r>
              <a:rPr lang="en-US" dirty="0"/>
              <a:t> instances for lexical relation sets of this type.</a:t>
            </a:r>
          </a:p>
          <a:p>
            <a:pPr lvl="1"/>
            <a:r>
              <a:rPr lang="en-US" dirty="0" err="1"/>
              <a:t>MappingType</a:t>
            </a:r>
            <a:r>
              <a:rPr lang="en-US" dirty="0"/>
              <a:t>: An </a:t>
            </a:r>
            <a:r>
              <a:rPr lang="en-US" dirty="0" err="1"/>
              <a:t>enum</a:t>
            </a:r>
            <a:r>
              <a:rPr lang="en-US" dirty="0"/>
              <a:t> specifying the type of set types and whether they are between senses, between entries, or between entries or senses. The table in the next slide displays the possibilities. The </a:t>
            </a:r>
            <a:r>
              <a:rPr lang="en-US" dirty="0" err="1"/>
              <a:t>enum</a:t>
            </a:r>
            <a:r>
              <a:rPr lang="en-US" dirty="0"/>
              <a:t> represents the integer when used in program code.</a:t>
            </a:r>
          </a:p>
          <a:p>
            <a:r>
              <a:rPr lang="en-US" b="1" dirty="0"/>
              <a:t>Caution</a:t>
            </a:r>
            <a:r>
              <a:rPr lang="en-US" dirty="0"/>
              <a:t>: Items in the Lexical Relations list are not simply objects that are referenced by other objects. Each item in this list also owns a collection of all of the lexical relation sets that are specified for this type of relation. So deleting an item in this list removes every instance of that type of relation.</a:t>
            </a:r>
          </a:p>
          <a:p>
            <a:endParaRPr lang="en-US" dirty="0"/>
          </a:p>
        </p:txBody>
      </p:sp>
    </p:spTree>
    <p:extLst>
      <p:ext uri="{BB962C8B-B14F-4D97-AF65-F5344CB8AC3E}">
        <p14:creationId xmlns:p14="http://schemas.microsoft.com/office/powerpoint/2010/main" val="4141583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 Lexical relations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err="1"/>
              <a:t>MappingType</a:t>
            </a:r>
            <a:r>
              <a:rPr lang="en-US" dirty="0"/>
              <a:t> </a:t>
            </a:r>
            <a:r>
              <a:rPr lang="en-US" dirty="0" err="1"/>
              <a:t>enums</a:t>
            </a:r>
            <a:r>
              <a:rPr lang="en-US" dirty="0"/>
              <a:t> and meanings:</a:t>
            </a:r>
          </a:p>
          <a:p>
            <a:endParaRPr lang="en-US" dirty="0"/>
          </a:p>
        </p:txBody>
      </p:sp>
      <p:pic>
        <p:nvPicPr>
          <p:cNvPr id="7" name="Picture 6">
            <a:extLst>
              <a:ext uri="{FF2B5EF4-FFF2-40B4-BE49-F238E27FC236}">
                <a16:creationId xmlns:a16="http://schemas.microsoft.com/office/drawing/2014/main" id="{68107065-A5F5-412E-A615-89198D98800B}"/>
              </a:ext>
            </a:extLst>
          </p:cNvPr>
          <p:cNvPicPr>
            <a:picLocks noChangeAspect="1"/>
          </p:cNvPicPr>
          <p:nvPr/>
        </p:nvPicPr>
        <p:blipFill>
          <a:blip r:embed="rId2"/>
          <a:stretch>
            <a:fillRect/>
          </a:stretch>
        </p:blipFill>
        <p:spPr>
          <a:xfrm>
            <a:off x="1628910" y="1355087"/>
            <a:ext cx="8831957" cy="5165455"/>
          </a:xfrm>
          <a:prstGeom prst="rect">
            <a:avLst/>
          </a:prstGeom>
        </p:spPr>
      </p:pic>
    </p:spTree>
    <p:extLst>
      <p:ext uri="{BB962C8B-B14F-4D97-AF65-F5344CB8AC3E}">
        <p14:creationId xmlns:p14="http://schemas.microsoft.com/office/powerpoint/2010/main" val="1482014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 Collection relation</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Here is an example of a synonym set: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Although </a:t>
            </a:r>
            <a:r>
              <a:rPr lang="en-US" dirty="0" err="1"/>
              <a:t>LexReference</a:t>
            </a:r>
            <a:r>
              <a:rPr lang="en-US" dirty="0"/>
              <a:t> Targets is a sequence, the order is ignored in collection types and the results are sorted alphabetically.</a:t>
            </a:r>
          </a:p>
          <a:p>
            <a:endParaRPr lang="en-US" dirty="0"/>
          </a:p>
        </p:txBody>
      </p:sp>
      <p:pic>
        <p:nvPicPr>
          <p:cNvPr id="4" name="Picture 3">
            <a:extLst>
              <a:ext uri="{FF2B5EF4-FFF2-40B4-BE49-F238E27FC236}">
                <a16:creationId xmlns:a16="http://schemas.microsoft.com/office/drawing/2014/main" id="{DA29B08A-7A8F-4645-BC72-D28D0E7E5987}"/>
              </a:ext>
            </a:extLst>
          </p:cNvPr>
          <p:cNvPicPr>
            <a:picLocks noChangeAspect="1"/>
          </p:cNvPicPr>
          <p:nvPr/>
        </p:nvPicPr>
        <p:blipFill>
          <a:blip r:embed="rId2"/>
          <a:stretch>
            <a:fillRect/>
          </a:stretch>
        </p:blipFill>
        <p:spPr>
          <a:xfrm>
            <a:off x="1216656" y="1536470"/>
            <a:ext cx="8209999" cy="3785059"/>
          </a:xfrm>
          <a:prstGeom prst="rect">
            <a:avLst/>
          </a:prstGeom>
        </p:spPr>
      </p:pic>
    </p:spTree>
    <p:extLst>
      <p:ext uri="{BB962C8B-B14F-4D97-AF65-F5344CB8AC3E}">
        <p14:creationId xmlns:p14="http://schemas.microsoft.com/office/powerpoint/2010/main" val="10169895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Senses: Pair relation with different names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7500" lnSpcReduction="20000"/>
          </a:bodyPr>
          <a:lstStyle/>
          <a:p>
            <a:r>
              <a:rPr lang="en-US" dirty="0"/>
              <a:t>Here is an example of a Male Female set for classifying animal names. This uses a pair with different names. Showing glosses following the related words is an option in Dictionary Configuration. In this case, and the following examples, that is unchecked.</a:t>
            </a:r>
          </a:p>
          <a:p>
            <a:r>
              <a:rPr lang="en-US" dirty="0"/>
              <a:t>We started from ‘chèvre’ and chose “Insert Male Relation (to this Female)” in the UI to connect to ‘</a:t>
            </a:r>
            <a:r>
              <a:rPr lang="en-US" dirty="0" err="1"/>
              <a:t>bouc</a:t>
            </a:r>
            <a:r>
              <a:rPr lang="en-US" dirty="0"/>
              <a:t>’, so the female is first in the targets and the male is second.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The Pair </a:t>
            </a:r>
            <a:r>
              <a:rPr lang="en-US" dirty="0" err="1"/>
              <a:t>MappingType</a:t>
            </a:r>
            <a:r>
              <a:rPr lang="en-US" dirty="0"/>
              <a:t> 1 would be similar to this but there would be no </a:t>
            </a:r>
            <a:r>
              <a:rPr lang="en-US" dirty="0" err="1"/>
              <a:t>ReverseAbbreviation</a:t>
            </a:r>
            <a:r>
              <a:rPr lang="en-US" dirty="0"/>
              <a:t>, and the Abbreviation would be used from both sides of the relation. Antonyms would typically use this type.</a:t>
            </a:r>
          </a:p>
          <a:p>
            <a:endParaRPr lang="en-US" dirty="0"/>
          </a:p>
        </p:txBody>
      </p:sp>
      <p:pic>
        <p:nvPicPr>
          <p:cNvPr id="5" name="Picture 4">
            <a:extLst>
              <a:ext uri="{FF2B5EF4-FFF2-40B4-BE49-F238E27FC236}">
                <a16:creationId xmlns:a16="http://schemas.microsoft.com/office/drawing/2014/main" id="{F3BB4009-8BC3-42B4-8262-455360DF64B0}"/>
              </a:ext>
            </a:extLst>
          </p:cNvPr>
          <p:cNvPicPr>
            <a:picLocks noChangeAspect="1"/>
          </p:cNvPicPr>
          <p:nvPr/>
        </p:nvPicPr>
        <p:blipFill>
          <a:blip r:embed="rId2"/>
          <a:stretch>
            <a:fillRect/>
          </a:stretch>
        </p:blipFill>
        <p:spPr>
          <a:xfrm>
            <a:off x="1095542" y="2319181"/>
            <a:ext cx="8283084" cy="2503189"/>
          </a:xfrm>
          <a:prstGeom prst="rect">
            <a:avLst/>
          </a:prstGeom>
        </p:spPr>
      </p:pic>
    </p:spTree>
    <p:extLst>
      <p:ext uri="{BB962C8B-B14F-4D97-AF65-F5344CB8AC3E}">
        <p14:creationId xmlns:p14="http://schemas.microsoft.com/office/powerpoint/2010/main" val="20749056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Senses: Sequence relation</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Here is an example of a Calendar sequence set for classifying days of the week, months, etc. The order in this set is critical, and FLEx allows the user to move items left or right in the sequence if needed. The full sequence is shown on all senses.</a:t>
            </a:r>
          </a:p>
          <a:p>
            <a:endParaRPr lang="en-US" dirty="0"/>
          </a:p>
        </p:txBody>
      </p:sp>
      <p:pic>
        <p:nvPicPr>
          <p:cNvPr id="4" name="Picture 3">
            <a:extLst>
              <a:ext uri="{FF2B5EF4-FFF2-40B4-BE49-F238E27FC236}">
                <a16:creationId xmlns:a16="http://schemas.microsoft.com/office/drawing/2014/main" id="{92276A33-052C-4997-B298-ECDA93011876}"/>
              </a:ext>
            </a:extLst>
          </p:cNvPr>
          <p:cNvPicPr>
            <a:picLocks noChangeAspect="1"/>
          </p:cNvPicPr>
          <p:nvPr/>
        </p:nvPicPr>
        <p:blipFill>
          <a:blip r:embed="rId2"/>
          <a:stretch>
            <a:fillRect/>
          </a:stretch>
        </p:blipFill>
        <p:spPr>
          <a:xfrm>
            <a:off x="1155409" y="2679247"/>
            <a:ext cx="8102735" cy="3536495"/>
          </a:xfrm>
          <a:prstGeom prst="rect">
            <a:avLst/>
          </a:prstGeom>
        </p:spPr>
      </p:pic>
    </p:spTree>
    <p:extLst>
      <p:ext uri="{BB962C8B-B14F-4D97-AF65-F5344CB8AC3E}">
        <p14:creationId xmlns:p14="http://schemas.microsoft.com/office/powerpoint/2010/main" val="11343039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Senses: Tree relation</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62500" lnSpcReduction="20000"/>
          </a:bodyPr>
          <a:lstStyle/>
          <a:p>
            <a:r>
              <a:rPr lang="en-US" dirty="0"/>
              <a:t>Here is an example of a part-whole Tree relation that can provide a semantic hierarchy of senses.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The first item in Targets must be the root of the tree. The order of remaining items is not relevant as they are all leaves of the tree and will be sorted when they are displayed. Additional tree relations could be used for </a:t>
            </a:r>
            <a:r>
              <a:rPr lang="en-US" dirty="0" err="1"/>
              <a:t>fenêtre</a:t>
            </a:r>
            <a:r>
              <a:rPr lang="en-US" dirty="0"/>
              <a:t>, </a:t>
            </a:r>
            <a:r>
              <a:rPr lang="en-US" dirty="0" err="1"/>
              <a:t>porte</a:t>
            </a:r>
            <a:r>
              <a:rPr lang="en-US" dirty="0"/>
              <a:t>, or </a:t>
            </a:r>
            <a:r>
              <a:rPr lang="en-US" dirty="0" err="1"/>
              <a:t>toit</a:t>
            </a:r>
            <a:r>
              <a:rPr lang="en-US" dirty="0"/>
              <a:t> to further break these parts into subparts, thus providing a tree structure with branches.</a:t>
            </a:r>
          </a:p>
          <a:p>
            <a:pPr marL="0" indent="0">
              <a:buNone/>
            </a:pPr>
            <a:endParaRPr lang="en-US" dirty="0"/>
          </a:p>
        </p:txBody>
      </p:sp>
      <p:pic>
        <p:nvPicPr>
          <p:cNvPr id="5" name="Picture 4">
            <a:extLst>
              <a:ext uri="{FF2B5EF4-FFF2-40B4-BE49-F238E27FC236}">
                <a16:creationId xmlns:a16="http://schemas.microsoft.com/office/drawing/2014/main" id="{481E58B4-BABC-4B18-B4EE-D54F09796DEF}"/>
              </a:ext>
            </a:extLst>
          </p:cNvPr>
          <p:cNvPicPr>
            <a:picLocks noChangeAspect="1"/>
          </p:cNvPicPr>
          <p:nvPr/>
        </p:nvPicPr>
        <p:blipFill>
          <a:blip r:embed="rId2"/>
          <a:stretch>
            <a:fillRect/>
          </a:stretch>
        </p:blipFill>
        <p:spPr>
          <a:xfrm>
            <a:off x="1240439" y="1407848"/>
            <a:ext cx="7389156" cy="4165637"/>
          </a:xfrm>
          <a:prstGeom prst="rect">
            <a:avLst/>
          </a:prstGeom>
        </p:spPr>
      </p:pic>
    </p:spTree>
    <p:extLst>
      <p:ext uri="{BB962C8B-B14F-4D97-AF65-F5344CB8AC3E}">
        <p14:creationId xmlns:p14="http://schemas.microsoft.com/office/powerpoint/2010/main" val="39834872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Senses: Unidirectional relation</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There are times when it is desirable to reference senses from one sense without anything showing from the target senses back to the first sense. All of the relations discussed so far always show relations from both ends of the links.</a:t>
            </a:r>
          </a:p>
          <a:p>
            <a:r>
              <a:rPr lang="en-US" dirty="0"/>
              <a:t>The Unidirectional options provide for this need. Unidirectional Targets will be displayed in the order they occur without any sorting. The first Target is the sense that will display the relation. The remaining targets are all listed in order following the relation abbreviation or name. They are not sorted based on the headwords.</a:t>
            </a:r>
          </a:p>
          <a:p>
            <a:endParaRPr lang="en-US" dirty="0"/>
          </a:p>
        </p:txBody>
      </p:sp>
    </p:spTree>
    <p:extLst>
      <p:ext uri="{BB962C8B-B14F-4D97-AF65-F5344CB8AC3E}">
        <p14:creationId xmlns:p14="http://schemas.microsoft.com/office/powerpoint/2010/main" val="8823944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Senses: Reversals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85000" lnSpcReduction="20000"/>
          </a:bodyPr>
          <a:lstStyle/>
          <a:p>
            <a:r>
              <a:rPr lang="en-US" dirty="0"/>
              <a:t>In FLEx, for each analysis language, there is a </a:t>
            </a:r>
            <a:r>
              <a:rPr lang="en-US" dirty="0" err="1"/>
              <a:t>ReversalIndex</a:t>
            </a:r>
            <a:r>
              <a:rPr lang="en-US" dirty="0"/>
              <a:t> object that is owned in the </a:t>
            </a:r>
            <a:r>
              <a:rPr lang="en-US" dirty="0" err="1"/>
              <a:t>ReversalIndexes</a:t>
            </a:r>
            <a:r>
              <a:rPr lang="en-US" dirty="0"/>
              <a:t> owning collection of </a:t>
            </a:r>
            <a:r>
              <a:rPr lang="en-US" dirty="0" err="1"/>
              <a:t>LexDb</a:t>
            </a:r>
            <a:r>
              <a:rPr lang="en-US" dirty="0"/>
              <a:t>. Each </a:t>
            </a:r>
            <a:r>
              <a:rPr lang="en-US" dirty="0" err="1"/>
              <a:t>ReversalIndex</a:t>
            </a:r>
            <a:r>
              <a:rPr lang="en-US" dirty="0"/>
              <a:t> has</a:t>
            </a:r>
          </a:p>
          <a:p>
            <a:pPr lvl="1"/>
            <a:r>
              <a:rPr lang="en-US" dirty="0"/>
              <a:t>Entries owning collection of </a:t>
            </a:r>
            <a:r>
              <a:rPr lang="en-US" dirty="0" err="1"/>
              <a:t>ReversalIndexEntry</a:t>
            </a:r>
            <a:r>
              <a:rPr lang="en-US" dirty="0"/>
              <a:t> objects.</a:t>
            </a:r>
          </a:p>
          <a:p>
            <a:pPr lvl="1"/>
            <a:r>
              <a:rPr lang="en-US" dirty="0" err="1"/>
              <a:t>PartsOfSpeech</a:t>
            </a:r>
            <a:r>
              <a:rPr lang="en-US" dirty="0"/>
              <a:t> atomic owning property holding a </a:t>
            </a:r>
            <a:r>
              <a:rPr lang="en-US" dirty="0" err="1"/>
              <a:t>CmPossibilityList</a:t>
            </a:r>
            <a:r>
              <a:rPr lang="en-US" dirty="0"/>
              <a:t>. This list owns </a:t>
            </a:r>
            <a:r>
              <a:rPr lang="en-US" dirty="0" err="1"/>
              <a:t>PartOfSpeech</a:t>
            </a:r>
            <a:r>
              <a:rPr lang="en-US" dirty="0"/>
              <a:t> objects so that language-specific parts of speech categories can be used in the reversal display.</a:t>
            </a:r>
          </a:p>
          <a:p>
            <a:pPr lvl="1"/>
            <a:r>
              <a:rPr lang="en-US" dirty="0"/>
              <a:t>Unicode </a:t>
            </a:r>
            <a:r>
              <a:rPr lang="en-US" dirty="0" err="1"/>
              <a:t>WritingSystem</a:t>
            </a:r>
            <a:r>
              <a:rPr lang="en-US" dirty="0"/>
              <a:t> property that contains the writing system code for this reversal index.</a:t>
            </a:r>
          </a:p>
          <a:p>
            <a:r>
              <a:rPr lang="en-US" dirty="0" err="1"/>
              <a:t>ReversalIndexEntry</a:t>
            </a:r>
            <a:r>
              <a:rPr lang="en-US" dirty="0"/>
              <a:t> objects have</a:t>
            </a:r>
          </a:p>
          <a:p>
            <a:pPr lvl="1"/>
            <a:r>
              <a:rPr lang="en-US" dirty="0"/>
              <a:t>MultiUnicode </a:t>
            </a:r>
            <a:r>
              <a:rPr lang="en-US" dirty="0" err="1"/>
              <a:t>ReversalForm</a:t>
            </a:r>
            <a:r>
              <a:rPr lang="en-US" dirty="0"/>
              <a:t> property that has the headword for the reversal entry in the language of the reversal list.</a:t>
            </a:r>
          </a:p>
          <a:p>
            <a:pPr lvl="1"/>
            <a:r>
              <a:rPr lang="en-US" dirty="0" err="1"/>
              <a:t>PartOfSpeech</a:t>
            </a:r>
            <a:r>
              <a:rPr lang="en-US" dirty="0"/>
              <a:t> atomic reference property to one of the items in the </a:t>
            </a:r>
            <a:r>
              <a:rPr lang="en-US" dirty="0" err="1"/>
              <a:t>ReversalIndex</a:t>
            </a:r>
            <a:r>
              <a:rPr lang="en-US" dirty="0"/>
              <a:t> parts of speech list.</a:t>
            </a:r>
          </a:p>
          <a:p>
            <a:pPr lvl="1"/>
            <a:r>
              <a:rPr lang="en-US" dirty="0"/>
              <a:t>Senses reference sequence property that references </a:t>
            </a:r>
            <a:r>
              <a:rPr lang="en-US" dirty="0" err="1"/>
              <a:t>LexSense</a:t>
            </a:r>
            <a:r>
              <a:rPr lang="en-US" dirty="0"/>
              <a:t> objects.</a:t>
            </a:r>
          </a:p>
          <a:p>
            <a:pPr lvl="1"/>
            <a:r>
              <a:rPr lang="en-US" dirty="0"/>
              <a:t>Subentries owning sequence property that owns </a:t>
            </a:r>
            <a:r>
              <a:rPr lang="en-US" dirty="0" err="1"/>
              <a:t>ReversalIndexEntry</a:t>
            </a:r>
            <a:r>
              <a:rPr lang="en-US" dirty="0"/>
              <a:t> objects allowing for hierarchical reversals.</a:t>
            </a:r>
          </a:p>
          <a:p>
            <a:r>
              <a:rPr lang="en-US" dirty="0" err="1"/>
              <a:t>LexSense</a:t>
            </a:r>
            <a:r>
              <a:rPr lang="en-US" dirty="0"/>
              <a:t> uses a virtual property to find </a:t>
            </a:r>
            <a:r>
              <a:rPr lang="en-US" dirty="0" err="1"/>
              <a:t>ReversalIndexEntry</a:t>
            </a:r>
            <a:r>
              <a:rPr lang="en-US" dirty="0"/>
              <a:t> objects and displays this in the Lexicon Edit window.</a:t>
            </a:r>
          </a:p>
          <a:p>
            <a:r>
              <a:rPr lang="en-US" dirty="0"/>
              <a:t>When typing something into a reversal field, FLEx finds or creates a </a:t>
            </a:r>
            <a:r>
              <a:rPr lang="en-US" dirty="0" err="1"/>
              <a:t>ReversalIndexEntry</a:t>
            </a:r>
            <a:r>
              <a:rPr lang="en-US" dirty="0"/>
              <a:t> in the appropriate language </a:t>
            </a:r>
            <a:r>
              <a:rPr lang="en-US" dirty="0" err="1"/>
              <a:t>ReversalIndex</a:t>
            </a:r>
            <a:r>
              <a:rPr lang="en-US" dirty="0"/>
              <a:t> and adds a link to the current sense to this item. A colon indicates a subentry.</a:t>
            </a:r>
          </a:p>
          <a:p>
            <a:endParaRPr lang="en-US" dirty="0"/>
          </a:p>
        </p:txBody>
      </p:sp>
    </p:spTree>
    <p:extLst>
      <p:ext uri="{BB962C8B-B14F-4D97-AF65-F5344CB8AC3E}">
        <p14:creationId xmlns:p14="http://schemas.microsoft.com/office/powerpoint/2010/main" val="4573422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Senses: Reversals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Here is a simple English</a:t>
            </a:r>
            <a:br>
              <a:rPr lang="en-US" dirty="0"/>
            </a:br>
            <a:r>
              <a:rPr lang="en-US" dirty="0"/>
              <a:t>reversal index into the</a:t>
            </a:r>
            <a:br>
              <a:rPr lang="en-US" dirty="0"/>
            </a:br>
            <a:r>
              <a:rPr lang="en-US" dirty="0"/>
              <a:t>French dictionary:</a:t>
            </a:r>
          </a:p>
          <a:p>
            <a:endParaRPr lang="en-US" dirty="0"/>
          </a:p>
        </p:txBody>
      </p:sp>
      <p:pic>
        <p:nvPicPr>
          <p:cNvPr id="4" name="Picture 3">
            <a:extLst>
              <a:ext uri="{FF2B5EF4-FFF2-40B4-BE49-F238E27FC236}">
                <a16:creationId xmlns:a16="http://schemas.microsoft.com/office/drawing/2014/main" id="{2B48122E-D751-4D4A-9968-271725A3DFC2}"/>
              </a:ext>
            </a:extLst>
          </p:cNvPr>
          <p:cNvPicPr>
            <a:picLocks noChangeAspect="1"/>
          </p:cNvPicPr>
          <p:nvPr/>
        </p:nvPicPr>
        <p:blipFill>
          <a:blip r:embed="rId2"/>
          <a:stretch>
            <a:fillRect/>
          </a:stretch>
        </p:blipFill>
        <p:spPr>
          <a:xfrm>
            <a:off x="4917125" y="939800"/>
            <a:ext cx="7070695" cy="5681133"/>
          </a:xfrm>
          <a:prstGeom prst="rect">
            <a:avLst/>
          </a:prstGeom>
        </p:spPr>
      </p:pic>
      <p:pic>
        <p:nvPicPr>
          <p:cNvPr id="5" name="Picture 4">
            <a:extLst>
              <a:ext uri="{FF2B5EF4-FFF2-40B4-BE49-F238E27FC236}">
                <a16:creationId xmlns:a16="http://schemas.microsoft.com/office/drawing/2014/main" id="{C26411DA-68A1-4D7E-BB76-0C4A2820BE54}"/>
              </a:ext>
            </a:extLst>
          </p:cNvPr>
          <p:cNvPicPr>
            <a:picLocks noChangeAspect="1"/>
          </p:cNvPicPr>
          <p:nvPr/>
        </p:nvPicPr>
        <p:blipFill>
          <a:blip r:embed="rId3"/>
          <a:stretch>
            <a:fillRect/>
          </a:stretch>
        </p:blipFill>
        <p:spPr>
          <a:xfrm>
            <a:off x="1314324" y="2518813"/>
            <a:ext cx="1924461" cy="2641016"/>
          </a:xfrm>
          <a:prstGeom prst="rect">
            <a:avLst/>
          </a:prstGeom>
        </p:spPr>
      </p:pic>
    </p:spTree>
    <p:extLst>
      <p:ext uri="{BB962C8B-B14F-4D97-AF65-F5344CB8AC3E}">
        <p14:creationId xmlns:p14="http://schemas.microsoft.com/office/powerpoint/2010/main" val="33487938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Senses: Reversals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92500" lnSpcReduction="10000"/>
          </a:bodyPr>
          <a:lstStyle/>
          <a:p>
            <a:r>
              <a:rPr lang="en-US" dirty="0"/>
              <a:t>Use of Part of Speech categories in reversal entries is optional. Another option would be to include the sense part of speech using Reversal Configuration. Another option is to include a category marker at the end of the </a:t>
            </a:r>
            <a:r>
              <a:rPr lang="en-US" dirty="0" err="1"/>
              <a:t>ReversalIndexEntry</a:t>
            </a:r>
            <a:r>
              <a:rPr lang="en-US" dirty="0"/>
              <a:t> </a:t>
            </a:r>
            <a:r>
              <a:rPr lang="en-US" dirty="0" err="1"/>
              <a:t>ReversalForm</a:t>
            </a:r>
            <a:r>
              <a:rPr lang="en-US" dirty="0"/>
              <a:t> where necessary.</a:t>
            </a:r>
          </a:p>
          <a:p>
            <a:r>
              <a:rPr lang="en-US" dirty="0"/>
              <a:t>In the Lexicon Edit area, this is how it appears in the ‘</a:t>
            </a:r>
            <a:r>
              <a:rPr lang="en-US" dirty="0" err="1"/>
              <a:t>lundi</a:t>
            </a:r>
            <a:r>
              <a:rPr lang="en-US" dirty="0"/>
              <a:t>’ Reversal Entries field. There are two references to Monday. The second one is a subentry since it follows a colon in the ‘days of week’ reversal.</a:t>
            </a:r>
            <a:br>
              <a:rPr lang="en-US" dirty="0"/>
            </a:br>
            <a:endParaRPr lang="en-US" dirty="0"/>
          </a:p>
          <a:p>
            <a:r>
              <a:rPr lang="en-US" dirty="0"/>
              <a:t>Reversal indexes are sorted and filtered using the Bulk Edit Reversal Entries tool in Lexicon Edit. The collation comes from the writing system of the reversal index. Sorting in this area only affects the main reversal entries. To sort the reversal subentries you have to use Tools &gt; Utilities &gt; “Sort Reversal Subentries”. If this subentry sort puts some subentries in an undesired order, you can correct that order in Reversal Indexes using the “Move Subentry Up/Down” right-click menu.</a:t>
            </a:r>
          </a:p>
          <a:p>
            <a:endParaRPr lang="en-US" dirty="0"/>
          </a:p>
        </p:txBody>
      </p:sp>
      <p:pic>
        <p:nvPicPr>
          <p:cNvPr id="6" name="Picture 5">
            <a:extLst>
              <a:ext uri="{FF2B5EF4-FFF2-40B4-BE49-F238E27FC236}">
                <a16:creationId xmlns:a16="http://schemas.microsoft.com/office/drawing/2014/main" id="{12F18DCF-CA09-40D9-9A84-C5D73A99B977}"/>
              </a:ext>
            </a:extLst>
          </p:cNvPr>
          <p:cNvPicPr/>
          <p:nvPr/>
        </p:nvPicPr>
        <p:blipFill>
          <a:blip r:embed="rId2"/>
          <a:stretch>
            <a:fillRect/>
          </a:stretch>
        </p:blipFill>
        <p:spPr>
          <a:xfrm>
            <a:off x="1588634" y="3350078"/>
            <a:ext cx="5199000" cy="405493"/>
          </a:xfrm>
          <a:prstGeom prst="rect">
            <a:avLst/>
          </a:prstGeom>
        </p:spPr>
      </p:pic>
    </p:spTree>
    <p:extLst>
      <p:ext uri="{BB962C8B-B14F-4D97-AF65-F5344CB8AC3E}">
        <p14:creationId xmlns:p14="http://schemas.microsoft.com/office/powerpoint/2010/main" val="2225900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normAutofit/>
          </a:bodyPr>
          <a:lstStyle/>
          <a:p>
            <a:r>
              <a:rPr lang="en-US" dirty="0"/>
              <a:t>Senses: Pictures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77500" lnSpcReduction="20000"/>
          </a:bodyPr>
          <a:lstStyle/>
          <a:p>
            <a:r>
              <a:rPr lang="en-US" dirty="0"/>
              <a:t>FLEx allows multiple pictures on each sense. When inserting a picture, you should normally choose the option to copy the file to the project </a:t>
            </a:r>
            <a:r>
              <a:rPr lang="en-US" dirty="0" err="1"/>
              <a:t>LinkedFiles</a:t>
            </a:r>
            <a:r>
              <a:rPr lang="en-US" dirty="0"/>
              <a:t>\Pictures folder. It will then be backed up with FLEx backups and also included in Send/Receive. Here’s an example of a picture with a caption and copyright information.</a:t>
            </a:r>
          </a:p>
          <a:p>
            <a:r>
              <a:rPr lang="en-US" dirty="0"/>
              <a:t>FLEx has a dialog for copyright information for pictures. This information is not stored in the model, but is stored in the picture file.</a:t>
            </a: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a:p>
            <a:endParaRPr lang="en-US" dirty="0"/>
          </a:p>
          <a:p>
            <a:endParaRPr lang="en-US" dirty="0"/>
          </a:p>
        </p:txBody>
      </p:sp>
      <p:pic>
        <p:nvPicPr>
          <p:cNvPr id="4" name="Picture 3">
            <a:extLst>
              <a:ext uri="{FF2B5EF4-FFF2-40B4-BE49-F238E27FC236}">
                <a16:creationId xmlns:a16="http://schemas.microsoft.com/office/drawing/2014/main" id="{BF0F9E08-414A-459D-AC2C-6981E5309795}"/>
              </a:ext>
            </a:extLst>
          </p:cNvPr>
          <p:cNvPicPr>
            <a:picLocks noChangeAspect="1"/>
          </p:cNvPicPr>
          <p:nvPr/>
        </p:nvPicPr>
        <p:blipFill>
          <a:blip r:embed="rId2"/>
          <a:stretch>
            <a:fillRect/>
          </a:stretch>
        </p:blipFill>
        <p:spPr>
          <a:xfrm>
            <a:off x="1058154" y="2600731"/>
            <a:ext cx="7783988" cy="4085518"/>
          </a:xfrm>
          <a:prstGeom prst="rect">
            <a:avLst/>
          </a:prstGeom>
        </p:spPr>
      </p:pic>
      <p:sp>
        <p:nvSpPr>
          <p:cNvPr id="5" name="TextBox 4">
            <a:extLst>
              <a:ext uri="{FF2B5EF4-FFF2-40B4-BE49-F238E27FC236}">
                <a16:creationId xmlns:a16="http://schemas.microsoft.com/office/drawing/2014/main" id="{7BFFBC36-139F-481B-8E5C-595B8603CD95}"/>
              </a:ext>
            </a:extLst>
          </p:cNvPr>
          <p:cNvSpPr txBox="1"/>
          <p:nvPr/>
        </p:nvSpPr>
        <p:spPr>
          <a:xfrm>
            <a:off x="9030762" y="4796977"/>
            <a:ext cx="2634343" cy="1754326"/>
          </a:xfrm>
          <a:prstGeom prst="rect">
            <a:avLst/>
          </a:prstGeom>
          <a:noFill/>
        </p:spPr>
        <p:txBody>
          <a:bodyPr wrap="square" rtlCol="0">
            <a:spAutoFit/>
          </a:bodyPr>
          <a:lstStyle/>
          <a:p>
            <a:r>
              <a:rPr lang="en-US" dirty="0" err="1"/>
              <a:t>InternalPath</a:t>
            </a:r>
            <a:r>
              <a:rPr lang="en-US" dirty="0"/>
              <a:t> starts from </a:t>
            </a:r>
            <a:r>
              <a:rPr lang="en-US" dirty="0" err="1"/>
              <a:t>LinkedFiles</a:t>
            </a:r>
            <a:r>
              <a:rPr lang="en-US" dirty="0"/>
              <a:t> for relative paths, otherwise a full path can be used to anywhere on the hard drive.</a:t>
            </a:r>
          </a:p>
        </p:txBody>
      </p:sp>
    </p:spTree>
    <p:extLst>
      <p:ext uri="{BB962C8B-B14F-4D97-AF65-F5344CB8AC3E}">
        <p14:creationId xmlns:p14="http://schemas.microsoft.com/office/powerpoint/2010/main" val="26379934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Virtual ordering</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The default ordering of subentries within an entry is an alphabetical sort. There are times where this is undesirable. It’s possible to override this order in given entries using the right-click “Move Left/Right” options in the “Subentries” and “Referenced Complex Forms” fields at the bottom of the entry. </a:t>
            </a:r>
          </a:p>
          <a:p>
            <a:r>
              <a:rPr lang="en-US" dirty="0"/>
              <a:t>When this is done, FLEx inserts an unowned </a:t>
            </a:r>
            <a:r>
              <a:rPr lang="en-US" dirty="0" err="1"/>
              <a:t>VirtualOrdering</a:t>
            </a:r>
            <a:r>
              <a:rPr lang="en-US" dirty="0"/>
              <a:t> object. Choosing Alphabetical Sort in these menus will remove the </a:t>
            </a:r>
            <a:r>
              <a:rPr lang="en-US" dirty="0" err="1"/>
              <a:t>VirtualOrdering</a:t>
            </a:r>
            <a:r>
              <a:rPr lang="en-US" dirty="0"/>
              <a:t> object and go back to default sorting.</a:t>
            </a:r>
          </a:p>
          <a:p>
            <a:r>
              <a:rPr lang="en-US" dirty="0" err="1"/>
              <a:t>VirtualOrdering</a:t>
            </a:r>
            <a:r>
              <a:rPr lang="en-US" dirty="0"/>
              <a:t> has</a:t>
            </a:r>
          </a:p>
          <a:p>
            <a:pPr lvl="1"/>
            <a:r>
              <a:rPr lang="en-US" dirty="0"/>
              <a:t>Source - atomic reference to </a:t>
            </a:r>
            <a:r>
              <a:rPr lang="en-US" dirty="0" err="1"/>
              <a:t>CmObject</a:t>
            </a:r>
            <a:r>
              <a:rPr lang="en-US" dirty="0"/>
              <a:t> to which it applies.</a:t>
            </a:r>
          </a:p>
          <a:p>
            <a:pPr lvl="1"/>
            <a:r>
              <a:rPr lang="en-US" dirty="0"/>
              <a:t>Field - Unicode name of the field it overrides on this object. It can be real or virtual.</a:t>
            </a:r>
          </a:p>
          <a:p>
            <a:pPr lvl="1"/>
            <a:r>
              <a:rPr lang="en-US" dirty="0"/>
              <a:t>Items - sequence reference to </a:t>
            </a:r>
            <a:r>
              <a:rPr lang="en-US" dirty="0" err="1"/>
              <a:t>CmObject</a:t>
            </a:r>
            <a:r>
              <a:rPr lang="en-US" dirty="0"/>
              <a:t>. This is the order that is desired for this property on this object.</a:t>
            </a:r>
          </a:p>
          <a:p>
            <a:endParaRPr lang="en-US" dirty="0"/>
          </a:p>
        </p:txBody>
      </p:sp>
    </p:spTree>
    <p:extLst>
      <p:ext uri="{BB962C8B-B14F-4D97-AF65-F5344CB8AC3E}">
        <p14:creationId xmlns:p14="http://schemas.microsoft.com/office/powerpoint/2010/main" val="2286296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Virtual ordering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fontScale="85000" lnSpcReduction="20000"/>
          </a:bodyPr>
          <a:lstStyle/>
          <a:p>
            <a:r>
              <a:rPr lang="en-US" dirty="0"/>
              <a:t>The sample project has the order switched in the ‘lion’ entry in Lexeme-based view by changing the “Referenced Complex Forms” field at the bottom of the entry.</a:t>
            </a:r>
          </a:p>
          <a:p>
            <a:endParaRPr lang="en-US" dirty="0"/>
          </a:p>
          <a:p>
            <a:endParaRPr lang="en-US" dirty="0"/>
          </a:p>
          <a:p>
            <a:endParaRPr lang="en-US" dirty="0"/>
          </a:p>
          <a:p>
            <a:endParaRPr lang="en-US" dirty="0"/>
          </a:p>
          <a:p>
            <a:endParaRPr lang="en-US" dirty="0"/>
          </a:p>
          <a:p>
            <a:endParaRPr lang="en-US" dirty="0"/>
          </a:p>
          <a:p>
            <a:r>
              <a:rPr lang="en-US" dirty="0"/>
              <a:t>The source is the ‘lion’ entry. The Field is a virtual </a:t>
            </a:r>
            <a:r>
              <a:rPr lang="en-US" dirty="0" err="1"/>
              <a:t>VisibleComplexFormBackRefs</a:t>
            </a:r>
            <a:r>
              <a:rPr lang="en-US" dirty="0"/>
              <a:t> property on </a:t>
            </a:r>
            <a:r>
              <a:rPr lang="en-US" dirty="0" err="1"/>
              <a:t>LexEntry</a:t>
            </a:r>
            <a:r>
              <a:rPr lang="en-US" dirty="0"/>
              <a:t> that returns the </a:t>
            </a:r>
            <a:r>
              <a:rPr lang="en-US" dirty="0" err="1"/>
              <a:t>LexEntryRef</a:t>
            </a:r>
            <a:r>
              <a:rPr lang="en-US" dirty="0"/>
              <a:t> items for the ‘</a:t>
            </a:r>
            <a:r>
              <a:rPr lang="en-US" dirty="0" err="1"/>
              <a:t>lionne</a:t>
            </a:r>
            <a:r>
              <a:rPr lang="en-US" dirty="0"/>
              <a:t>’ and ‘</a:t>
            </a:r>
            <a:r>
              <a:rPr lang="en-US" dirty="0" err="1"/>
              <a:t>lionceaux</a:t>
            </a:r>
            <a:r>
              <a:rPr lang="en-US" dirty="0"/>
              <a:t>’ entries.</a:t>
            </a:r>
          </a:p>
          <a:p>
            <a:r>
              <a:rPr lang="en-US" dirty="0"/>
              <a:t>When </a:t>
            </a:r>
            <a:r>
              <a:rPr lang="en-US" dirty="0" err="1"/>
              <a:t>VirtualOrdering</a:t>
            </a:r>
            <a:r>
              <a:rPr lang="en-US" dirty="0"/>
              <a:t> is used on the Subentries property, the Field is virtual Subentries, and the Items point to the ‘</a:t>
            </a:r>
            <a:r>
              <a:rPr lang="en-US" dirty="0" err="1"/>
              <a:t>lionne</a:t>
            </a:r>
            <a:r>
              <a:rPr lang="en-US" dirty="0"/>
              <a:t>’ and ‘</a:t>
            </a:r>
            <a:r>
              <a:rPr lang="en-US" dirty="0" err="1"/>
              <a:t>lionceaux</a:t>
            </a:r>
            <a:r>
              <a:rPr lang="en-US" dirty="0"/>
              <a:t>’ </a:t>
            </a:r>
            <a:r>
              <a:rPr lang="en-US" dirty="0" err="1"/>
              <a:t>LexEntry</a:t>
            </a:r>
            <a:r>
              <a:rPr lang="en-US" dirty="0"/>
              <a:t> objects.</a:t>
            </a:r>
          </a:p>
          <a:p>
            <a:r>
              <a:rPr lang="en-US" dirty="0"/>
              <a:t>The code for </a:t>
            </a:r>
            <a:r>
              <a:rPr lang="en-US" dirty="0" err="1"/>
              <a:t>VirtualOrdering</a:t>
            </a:r>
            <a:r>
              <a:rPr lang="en-US" dirty="0"/>
              <a:t> is pretty generic for </a:t>
            </a:r>
            <a:r>
              <a:rPr lang="en-US" dirty="0" err="1"/>
              <a:t>VectorReferenceView</a:t>
            </a:r>
            <a:r>
              <a:rPr lang="en-US" dirty="0"/>
              <a:t>. It may or may not work to add this class on other attributes.</a:t>
            </a:r>
          </a:p>
          <a:p>
            <a:endParaRPr lang="en-US" dirty="0"/>
          </a:p>
        </p:txBody>
      </p:sp>
      <p:pic>
        <p:nvPicPr>
          <p:cNvPr id="4" name="Picture 3">
            <a:extLst>
              <a:ext uri="{FF2B5EF4-FFF2-40B4-BE49-F238E27FC236}">
                <a16:creationId xmlns:a16="http://schemas.microsoft.com/office/drawing/2014/main" id="{B23BF1CD-471E-431E-B6B4-10C473A39CE7}"/>
              </a:ext>
            </a:extLst>
          </p:cNvPr>
          <p:cNvPicPr>
            <a:picLocks noChangeAspect="1"/>
          </p:cNvPicPr>
          <p:nvPr/>
        </p:nvPicPr>
        <p:blipFill>
          <a:blip r:embed="rId2"/>
          <a:stretch>
            <a:fillRect/>
          </a:stretch>
        </p:blipFill>
        <p:spPr>
          <a:xfrm>
            <a:off x="2194401" y="1634218"/>
            <a:ext cx="8139386" cy="2354161"/>
          </a:xfrm>
          <a:prstGeom prst="rect">
            <a:avLst/>
          </a:prstGeom>
        </p:spPr>
      </p:pic>
    </p:spTree>
    <p:extLst>
      <p:ext uri="{BB962C8B-B14F-4D97-AF65-F5344CB8AC3E}">
        <p14:creationId xmlns:p14="http://schemas.microsoft.com/office/powerpoint/2010/main" val="12780765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Publications</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0"/>
            <a:ext cx="10515600" cy="5681133"/>
          </a:xfrm>
        </p:spPr>
        <p:txBody>
          <a:bodyPr>
            <a:normAutofit/>
          </a:bodyPr>
          <a:lstStyle/>
          <a:p>
            <a:r>
              <a:rPr lang="en-US" dirty="0"/>
              <a:t>FLEx allows multiple publications where each publication can pick which parts of the data to include in that publication. This filter, along with custom Dictionary Configuration views for selecting what fields to include and how to format them provides a flexible way of using the same data in FLEx to be printed in various publications.</a:t>
            </a:r>
          </a:p>
          <a:p>
            <a:r>
              <a:rPr lang="en-US" dirty="0"/>
              <a:t>FLEx has a Publications list for adding different publications. FLEx comes with a standard “Main Dictionary” item in this list. By default, everything you enter in FLEx will be included in this publication.</a:t>
            </a:r>
          </a:p>
          <a:p>
            <a:r>
              <a:rPr lang="en-US" dirty="0"/>
              <a:t>To exclude an object from a given publication, there are </a:t>
            </a:r>
            <a:r>
              <a:rPr lang="en-US" dirty="0" err="1"/>
              <a:t>DoNotPublishIn</a:t>
            </a:r>
            <a:r>
              <a:rPr lang="en-US" dirty="0"/>
              <a:t> properties on these classes:</a:t>
            </a:r>
          </a:p>
          <a:p>
            <a:endParaRPr lang="en-US" dirty="0"/>
          </a:p>
        </p:txBody>
      </p:sp>
      <p:pic>
        <p:nvPicPr>
          <p:cNvPr id="5" name="Picture 4">
            <a:extLst>
              <a:ext uri="{FF2B5EF4-FFF2-40B4-BE49-F238E27FC236}">
                <a16:creationId xmlns:a16="http://schemas.microsoft.com/office/drawing/2014/main" id="{C8430881-D090-4490-B535-34DC20380E56}"/>
              </a:ext>
            </a:extLst>
          </p:cNvPr>
          <p:cNvPicPr>
            <a:picLocks noChangeAspect="1"/>
          </p:cNvPicPr>
          <p:nvPr/>
        </p:nvPicPr>
        <p:blipFill>
          <a:blip r:embed="rId2"/>
          <a:stretch>
            <a:fillRect/>
          </a:stretch>
        </p:blipFill>
        <p:spPr>
          <a:xfrm>
            <a:off x="1777424" y="5096720"/>
            <a:ext cx="5331226" cy="1624755"/>
          </a:xfrm>
          <a:prstGeom prst="rect">
            <a:avLst/>
          </a:prstGeom>
        </p:spPr>
      </p:pic>
    </p:spTree>
    <p:extLst>
      <p:ext uri="{BB962C8B-B14F-4D97-AF65-F5344CB8AC3E}">
        <p14:creationId xmlns:p14="http://schemas.microsoft.com/office/powerpoint/2010/main" val="10298201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51E7-F4E9-48EC-AE40-F54F68652486}"/>
              </a:ext>
            </a:extLst>
          </p:cNvPr>
          <p:cNvSpPr>
            <a:spLocks noGrp="1"/>
          </p:cNvSpPr>
          <p:nvPr>
            <p:ph type="title"/>
          </p:nvPr>
        </p:nvSpPr>
        <p:spPr>
          <a:xfrm>
            <a:off x="838200" y="136525"/>
            <a:ext cx="10515600" cy="803275"/>
          </a:xfrm>
        </p:spPr>
        <p:txBody>
          <a:bodyPr/>
          <a:lstStyle/>
          <a:p>
            <a:r>
              <a:rPr lang="en-US" dirty="0"/>
              <a:t>Publications continued</a:t>
            </a:r>
          </a:p>
        </p:txBody>
      </p:sp>
      <p:sp>
        <p:nvSpPr>
          <p:cNvPr id="3" name="Content Placeholder 2">
            <a:extLst>
              <a:ext uri="{FF2B5EF4-FFF2-40B4-BE49-F238E27FC236}">
                <a16:creationId xmlns:a16="http://schemas.microsoft.com/office/drawing/2014/main" id="{AE2723E6-B39B-4BD9-A44E-978955F1DB4F}"/>
              </a:ext>
            </a:extLst>
          </p:cNvPr>
          <p:cNvSpPr>
            <a:spLocks noGrp="1"/>
          </p:cNvSpPr>
          <p:nvPr>
            <p:ph idx="1"/>
          </p:nvPr>
        </p:nvSpPr>
        <p:spPr>
          <a:xfrm>
            <a:off x="838200" y="939801"/>
            <a:ext cx="10515600" cy="4067628"/>
          </a:xfrm>
        </p:spPr>
        <p:txBody>
          <a:bodyPr>
            <a:normAutofit fontScale="92500" lnSpcReduction="10000"/>
          </a:bodyPr>
          <a:lstStyle/>
          <a:p>
            <a:r>
              <a:rPr lang="en-US" dirty="0" err="1"/>
              <a:t>DoNotPublishIn</a:t>
            </a:r>
            <a:r>
              <a:rPr lang="en-US" dirty="0"/>
              <a:t> is a reference collection to </a:t>
            </a:r>
            <a:r>
              <a:rPr lang="en-US" dirty="0" err="1"/>
              <a:t>CmPossibility</a:t>
            </a:r>
            <a:r>
              <a:rPr lang="en-US" dirty="0"/>
              <a:t> in the Publications list. In Lexicon Edit there are fields on each of these classes with the opposite polarity. In the UI, FLEx shows which publications will include the current object, and you have the option to remove publications from each of these fields. When you remove a publication from an object, FLEx adds a reference to the removed publications to the </a:t>
            </a:r>
            <a:r>
              <a:rPr lang="en-US" dirty="0" err="1"/>
              <a:t>DoNotPublishIn</a:t>
            </a:r>
            <a:r>
              <a:rPr lang="en-US" dirty="0"/>
              <a:t> field.</a:t>
            </a:r>
          </a:p>
          <a:p>
            <a:r>
              <a:rPr lang="en-US" dirty="0"/>
              <a:t>In the example project, the ‘</a:t>
            </a:r>
            <a:r>
              <a:rPr lang="en-US" dirty="0" err="1"/>
              <a:t>lionceaux</a:t>
            </a:r>
            <a:r>
              <a:rPr lang="en-US" dirty="0"/>
              <a:t>’ entry has ‘Limited’ removed from the Publish Entry In field. In the Dictionary view, if you choose the Limited publication from the left chooser in the title bar, you will see that ‘</a:t>
            </a:r>
            <a:r>
              <a:rPr lang="en-US" dirty="0" err="1"/>
              <a:t>lionceaux</a:t>
            </a:r>
            <a:r>
              <a:rPr lang="en-US" dirty="0"/>
              <a:t>’ no longer shows in the dictionary view. But if you choose the Main Dictionary publication, then ‘</a:t>
            </a:r>
            <a:r>
              <a:rPr lang="en-US" dirty="0" err="1"/>
              <a:t>lionceaux</a:t>
            </a:r>
            <a:r>
              <a:rPr lang="en-US" dirty="0"/>
              <a:t>’ is included.</a:t>
            </a:r>
          </a:p>
          <a:p>
            <a:endParaRPr lang="en-US" dirty="0"/>
          </a:p>
        </p:txBody>
      </p:sp>
      <p:pic>
        <p:nvPicPr>
          <p:cNvPr id="4" name="Picture 3">
            <a:extLst>
              <a:ext uri="{FF2B5EF4-FFF2-40B4-BE49-F238E27FC236}">
                <a16:creationId xmlns:a16="http://schemas.microsoft.com/office/drawing/2014/main" id="{5264C89F-4056-45CF-B1C2-C9B9A675F187}"/>
              </a:ext>
            </a:extLst>
          </p:cNvPr>
          <p:cNvPicPr>
            <a:picLocks noChangeAspect="1"/>
          </p:cNvPicPr>
          <p:nvPr/>
        </p:nvPicPr>
        <p:blipFill>
          <a:blip r:embed="rId2"/>
          <a:stretch>
            <a:fillRect/>
          </a:stretch>
        </p:blipFill>
        <p:spPr>
          <a:xfrm>
            <a:off x="1627305" y="5002560"/>
            <a:ext cx="6591409" cy="1796740"/>
          </a:xfrm>
          <a:prstGeom prst="rect">
            <a:avLst/>
          </a:prstGeom>
        </p:spPr>
      </p:pic>
    </p:spTree>
    <p:extLst>
      <p:ext uri="{BB962C8B-B14F-4D97-AF65-F5344CB8AC3E}">
        <p14:creationId xmlns:p14="http://schemas.microsoft.com/office/powerpoint/2010/main" val="1633841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956</TotalTime>
  <Words>5439</Words>
  <Application>Microsoft Office PowerPoint</Application>
  <PresentationFormat>Widescreen</PresentationFormat>
  <Paragraphs>374</Paragraphs>
  <Slides>49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Calibri Light</vt:lpstr>
      <vt:lpstr>Office Theme</vt:lpstr>
      <vt:lpstr>FLEx 9.1 Conceptual Model</vt:lpstr>
      <vt:lpstr>Introduction</vt:lpstr>
      <vt:lpstr>Entries</vt:lpstr>
      <vt:lpstr>Entries: Stem / Affix</vt:lpstr>
      <vt:lpstr>Entries: Stem / Affix continued</vt:lpstr>
      <vt:lpstr>Entries: Stem / Stem-based sample</vt:lpstr>
      <vt:lpstr>Entries: Stem / Affix-based sample</vt:lpstr>
      <vt:lpstr>Entries: Headwords</vt:lpstr>
      <vt:lpstr>Entries: Headwords continued</vt:lpstr>
      <vt:lpstr>Entries: Headwords continued</vt:lpstr>
      <vt:lpstr>Entries: Pronunciation</vt:lpstr>
      <vt:lpstr>Entries: Pronunciation continued</vt:lpstr>
      <vt:lpstr>Entries: Etymology</vt:lpstr>
      <vt:lpstr>Entries: Allomorphs</vt:lpstr>
      <vt:lpstr>Entries: Allomorphs continued</vt:lpstr>
      <vt:lpstr>Entries: Allomorphs continued</vt:lpstr>
      <vt:lpstr>Entries: Allomorphs continued</vt:lpstr>
      <vt:lpstr>Entries: Allomorphs continued</vt:lpstr>
      <vt:lpstr>Entries: Grammatical information</vt:lpstr>
      <vt:lpstr>Entries: Messages</vt:lpstr>
      <vt:lpstr>Entries: Messages continued</vt:lpstr>
      <vt:lpstr>Entries: Messages continued</vt:lpstr>
      <vt:lpstr>Complex forms</vt:lpstr>
      <vt:lpstr>Complex forms continued</vt:lpstr>
      <vt:lpstr>Complex forms continued</vt:lpstr>
      <vt:lpstr>Variants</vt:lpstr>
      <vt:lpstr>Senses</vt:lpstr>
      <vt:lpstr>Senses continued</vt:lpstr>
      <vt:lpstr>Senses continued</vt:lpstr>
      <vt:lpstr>Senses: Example sentences</vt:lpstr>
      <vt:lpstr>Senses: Extended notes</vt:lpstr>
      <vt:lpstr>Senses: Extended notes continued</vt:lpstr>
      <vt:lpstr>Senses: Lexical relations</vt:lpstr>
      <vt:lpstr>Senses: Lexical relations continued</vt:lpstr>
      <vt:lpstr>Senses: Lexical relations continued</vt:lpstr>
      <vt:lpstr>Senses: Lexical relations continued</vt:lpstr>
      <vt:lpstr>Senses: Collection relation</vt:lpstr>
      <vt:lpstr>Senses: Pair relation with different names</vt:lpstr>
      <vt:lpstr>Senses: Sequence relation</vt:lpstr>
      <vt:lpstr>Senses: Tree relation</vt:lpstr>
      <vt:lpstr>Senses: Unidirectional relation</vt:lpstr>
      <vt:lpstr>Senses: Reversals</vt:lpstr>
      <vt:lpstr>Senses: Reversals continued</vt:lpstr>
      <vt:lpstr>Senses: Reversals continued</vt:lpstr>
      <vt:lpstr>Senses: Pictures</vt:lpstr>
      <vt:lpstr>Virtual ordering</vt:lpstr>
      <vt:lpstr>Virtual ordering continued</vt:lpstr>
      <vt:lpstr>Publications</vt:lpstr>
      <vt:lpstr>Publications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 9.1 Conceptual Model</dc:title>
  <dc:creator>Ken Zook</dc:creator>
  <cp:lastModifiedBy>Ken Zook</cp:lastModifiedBy>
  <cp:revision>75</cp:revision>
  <dcterms:created xsi:type="dcterms:W3CDTF">2024-05-07T21:10:04Z</dcterms:created>
  <dcterms:modified xsi:type="dcterms:W3CDTF">2024-06-20T16:01:05Z</dcterms:modified>
</cp:coreProperties>
</file>