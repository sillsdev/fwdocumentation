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69" r:id="rId27"/>
    <p:sldId id="283" r:id="rId28"/>
    <p:sldId id="284" r:id="rId29"/>
    <p:sldId id="285" r:id="rId30"/>
    <p:sldId id="286" r:id="rId31"/>
    <p:sldId id="287" r:id="rId32"/>
    <p:sldId id="282" r:id="rId33"/>
    <p:sldId id="288" r:id="rId34"/>
    <p:sldId id="289" r:id="rId35"/>
    <p:sldId id="291" r:id="rId36"/>
    <p:sldId id="292" r:id="rId37"/>
    <p:sldId id="293" r:id="rId38"/>
    <p:sldId id="294" r:id="rId39"/>
    <p:sldId id="316" r:id="rId40"/>
    <p:sldId id="290" r:id="rId41"/>
    <p:sldId id="296" r:id="rId42"/>
    <p:sldId id="297" r:id="rId43"/>
    <p:sldId id="298" r:id="rId44"/>
    <p:sldId id="299" r:id="rId45"/>
    <p:sldId id="300" r:id="rId46"/>
    <p:sldId id="295" r:id="rId47"/>
    <p:sldId id="302" r:id="rId48"/>
    <p:sldId id="303" r:id="rId49"/>
    <p:sldId id="305" r:id="rId50"/>
    <p:sldId id="304" r:id="rId51"/>
    <p:sldId id="306" r:id="rId52"/>
    <p:sldId id="301" r:id="rId53"/>
    <p:sldId id="308" r:id="rId54"/>
    <p:sldId id="309" r:id="rId55"/>
    <p:sldId id="310" r:id="rId56"/>
    <p:sldId id="311" r:id="rId57"/>
    <p:sldId id="312" r:id="rId58"/>
    <p:sldId id="313" r:id="rId59"/>
    <p:sldId id="314" r:id="rId60"/>
    <p:sldId id="315" r:id="rId61"/>
    <p:sldId id="317" r:id="rId62"/>
    <p:sldId id="318"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88" d="100"/>
          <a:sy n="88" d="100"/>
        </p:scale>
        <p:origin x="11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0BC92-7559-46C5-8F94-836DE2E66B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8DB6A0-B352-46D4-BDE6-2E8D50C0D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CE0FD5-C7BD-4571-9993-682289D01493}"/>
              </a:ext>
            </a:extLst>
          </p:cNvPr>
          <p:cNvSpPr>
            <a:spLocks noGrp="1"/>
          </p:cNvSpPr>
          <p:nvPr>
            <p:ph type="dt" sz="half" idx="10"/>
          </p:nvPr>
        </p:nvSpPr>
        <p:spPr/>
        <p:txBody>
          <a:bodyPr/>
          <a:lstStyle/>
          <a:p>
            <a:fld id="{99FC01E8-584B-4C28-BA44-ECE0F23D4DC2}" type="datetimeFigureOut">
              <a:rPr lang="en-US" smtClean="0"/>
              <a:t>6/25/2024</a:t>
            </a:fld>
            <a:endParaRPr lang="en-US"/>
          </a:p>
        </p:txBody>
      </p:sp>
      <p:sp>
        <p:nvSpPr>
          <p:cNvPr id="5" name="Footer Placeholder 4">
            <a:extLst>
              <a:ext uri="{FF2B5EF4-FFF2-40B4-BE49-F238E27FC236}">
                <a16:creationId xmlns:a16="http://schemas.microsoft.com/office/drawing/2014/main" id="{91A2FEFD-27F9-42DF-86BE-B170D5668B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96AF8A-0D17-4E64-A4AD-85285CBDB840}"/>
              </a:ext>
            </a:extLst>
          </p:cNvPr>
          <p:cNvSpPr>
            <a:spLocks noGrp="1"/>
          </p:cNvSpPr>
          <p:nvPr>
            <p:ph type="sldNum" sz="quarter" idx="12"/>
          </p:nvPr>
        </p:nvSpPr>
        <p:spPr/>
        <p:txBody>
          <a:bodyPr/>
          <a:lstStyle/>
          <a:p>
            <a:fld id="{E218363B-8398-430A-A7E5-D75982D22B08}" type="slidenum">
              <a:rPr lang="en-US" smtClean="0"/>
              <a:t>‹#›</a:t>
            </a:fld>
            <a:endParaRPr lang="en-US"/>
          </a:p>
        </p:txBody>
      </p:sp>
    </p:spTree>
    <p:extLst>
      <p:ext uri="{BB962C8B-B14F-4D97-AF65-F5344CB8AC3E}">
        <p14:creationId xmlns:p14="http://schemas.microsoft.com/office/powerpoint/2010/main" val="315069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CEE9-FBF6-4F19-8758-D7361EDA7F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39E3A1-6E9F-4E1A-9D28-3D95872AD4A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FA336C-EF98-4C7D-9B7E-2C663EC0F81E}"/>
              </a:ext>
            </a:extLst>
          </p:cNvPr>
          <p:cNvSpPr>
            <a:spLocks noGrp="1"/>
          </p:cNvSpPr>
          <p:nvPr>
            <p:ph type="dt" sz="half" idx="10"/>
          </p:nvPr>
        </p:nvSpPr>
        <p:spPr/>
        <p:txBody>
          <a:bodyPr/>
          <a:lstStyle/>
          <a:p>
            <a:fld id="{99FC01E8-584B-4C28-BA44-ECE0F23D4DC2}" type="datetimeFigureOut">
              <a:rPr lang="en-US" smtClean="0"/>
              <a:t>6/25/2024</a:t>
            </a:fld>
            <a:endParaRPr lang="en-US"/>
          </a:p>
        </p:txBody>
      </p:sp>
      <p:sp>
        <p:nvSpPr>
          <p:cNvPr id="5" name="Footer Placeholder 4">
            <a:extLst>
              <a:ext uri="{FF2B5EF4-FFF2-40B4-BE49-F238E27FC236}">
                <a16:creationId xmlns:a16="http://schemas.microsoft.com/office/drawing/2014/main" id="{3AA4A9A6-0026-4B1C-A480-D7BB0264FD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074E2D-BD88-44DF-916D-E76B52FFD144}"/>
              </a:ext>
            </a:extLst>
          </p:cNvPr>
          <p:cNvSpPr>
            <a:spLocks noGrp="1"/>
          </p:cNvSpPr>
          <p:nvPr>
            <p:ph type="sldNum" sz="quarter" idx="12"/>
          </p:nvPr>
        </p:nvSpPr>
        <p:spPr/>
        <p:txBody>
          <a:bodyPr/>
          <a:lstStyle/>
          <a:p>
            <a:fld id="{E218363B-8398-430A-A7E5-D75982D22B08}" type="slidenum">
              <a:rPr lang="en-US" smtClean="0"/>
              <a:t>‹#›</a:t>
            </a:fld>
            <a:endParaRPr lang="en-US"/>
          </a:p>
        </p:txBody>
      </p:sp>
    </p:spTree>
    <p:extLst>
      <p:ext uri="{BB962C8B-B14F-4D97-AF65-F5344CB8AC3E}">
        <p14:creationId xmlns:p14="http://schemas.microsoft.com/office/powerpoint/2010/main" val="34153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58AE3-3C09-403C-B581-78CB804836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59FAD4-6D5F-4839-AD56-4E016B3B07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868E87F-62B3-48DB-BC74-8E7771C5B9CE}"/>
              </a:ext>
            </a:extLst>
          </p:cNvPr>
          <p:cNvSpPr>
            <a:spLocks noGrp="1"/>
          </p:cNvSpPr>
          <p:nvPr>
            <p:ph type="dt" sz="half" idx="10"/>
          </p:nvPr>
        </p:nvSpPr>
        <p:spPr/>
        <p:txBody>
          <a:bodyPr/>
          <a:lstStyle/>
          <a:p>
            <a:fld id="{99FC01E8-584B-4C28-BA44-ECE0F23D4DC2}" type="datetimeFigureOut">
              <a:rPr lang="en-US" smtClean="0"/>
              <a:t>6/25/2024</a:t>
            </a:fld>
            <a:endParaRPr lang="en-US"/>
          </a:p>
        </p:txBody>
      </p:sp>
      <p:sp>
        <p:nvSpPr>
          <p:cNvPr id="5" name="Footer Placeholder 4">
            <a:extLst>
              <a:ext uri="{FF2B5EF4-FFF2-40B4-BE49-F238E27FC236}">
                <a16:creationId xmlns:a16="http://schemas.microsoft.com/office/drawing/2014/main" id="{B58539C6-778F-4700-8871-72C5EC5B75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6349C9-D53D-4F1E-A824-8F55C14C84E8}"/>
              </a:ext>
            </a:extLst>
          </p:cNvPr>
          <p:cNvSpPr>
            <a:spLocks noGrp="1"/>
          </p:cNvSpPr>
          <p:nvPr>
            <p:ph type="sldNum" sz="quarter" idx="12"/>
          </p:nvPr>
        </p:nvSpPr>
        <p:spPr/>
        <p:txBody>
          <a:bodyPr/>
          <a:lstStyle/>
          <a:p>
            <a:fld id="{E218363B-8398-430A-A7E5-D75982D22B08}" type="slidenum">
              <a:rPr lang="en-US" smtClean="0"/>
              <a:t>‹#›</a:t>
            </a:fld>
            <a:endParaRPr lang="en-US"/>
          </a:p>
        </p:txBody>
      </p:sp>
    </p:spTree>
    <p:extLst>
      <p:ext uri="{BB962C8B-B14F-4D97-AF65-F5344CB8AC3E}">
        <p14:creationId xmlns:p14="http://schemas.microsoft.com/office/powerpoint/2010/main" val="1688525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CFFB4-0E49-4875-A968-BE42520787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42C5D1-5DFC-4E85-A310-9F9D3977A00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33DE73-8DC8-45B5-B5FD-22217EE124B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BC3778-E805-439D-9808-F712079D7834}"/>
              </a:ext>
            </a:extLst>
          </p:cNvPr>
          <p:cNvSpPr>
            <a:spLocks noGrp="1"/>
          </p:cNvSpPr>
          <p:nvPr>
            <p:ph type="dt" sz="half" idx="10"/>
          </p:nvPr>
        </p:nvSpPr>
        <p:spPr/>
        <p:txBody>
          <a:bodyPr/>
          <a:lstStyle/>
          <a:p>
            <a:fld id="{99FC01E8-584B-4C28-BA44-ECE0F23D4DC2}" type="datetimeFigureOut">
              <a:rPr lang="en-US" smtClean="0"/>
              <a:t>6/25/2024</a:t>
            </a:fld>
            <a:endParaRPr lang="en-US"/>
          </a:p>
        </p:txBody>
      </p:sp>
      <p:sp>
        <p:nvSpPr>
          <p:cNvPr id="6" name="Footer Placeholder 5">
            <a:extLst>
              <a:ext uri="{FF2B5EF4-FFF2-40B4-BE49-F238E27FC236}">
                <a16:creationId xmlns:a16="http://schemas.microsoft.com/office/drawing/2014/main" id="{C318E0D7-8360-4D0F-B1C8-E08096F7BB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04F80D-7EB8-49ED-BE2A-CA3DDFA08C84}"/>
              </a:ext>
            </a:extLst>
          </p:cNvPr>
          <p:cNvSpPr>
            <a:spLocks noGrp="1"/>
          </p:cNvSpPr>
          <p:nvPr>
            <p:ph type="sldNum" sz="quarter" idx="12"/>
          </p:nvPr>
        </p:nvSpPr>
        <p:spPr/>
        <p:txBody>
          <a:bodyPr/>
          <a:lstStyle/>
          <a:p>
            <a:fld id="{E218363B-8398-430A-A7E5-D75982D22B08}" type="slidenum">
              <a:rPr lang="en-US" smtClean="0"/>
              <a:t>‹#›</a:t>
            </a:fld>
            <a:endParaRPr lang="en-US"/>
          </a:p>
        </p:txBody>
      </p:sp>
    </p:spTree>
    <p:extLst>
      <p:ext uri="{BB962C8B-B14F-4D97-AF65-F5344CB8AC3E}">
        <p14:creationId xmlns:p14="http://schemas.microsoft.com/office/powerpoint/2010/main" val="2766932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20258-A927-4B2E-BC2F-AA3CB0628A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C6AE9B-16EA-46FE-B6AE-A078A9FE0F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94347D1-4FC3-4CDA-9F75-C770E151829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EF660B-F437-40E5-BB42-50F5DC076D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DA0E553-0574-4C14-97C3-20BE8A10ED2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0B5167-B2B6-4875-912A-762B38C8BDDD}"/>
              </a:ext>
            </a:extLst>
          </p:cNvPr>
          <p:cNvSpPr>
            <a:spLocks noGrp="1"/>
          </p:cNvSpPr>
          <p:nvPr>
            <p:ph type="dt" sz="half" idx="10"/>
          </p:nvPr>
        </p:nvSpPr>
        <p:spPr/>
        <p:txBody>
          <a:bodyPr/>
          <a:lstStyle/>
          <a:p>
            <a:fld id="{99FC01E8-584B-4C28-BA44-ECE0F23D4DC2}" type="datetimeFigureOut">
              <a:rPr lang="en-US" smtClean="0"/>
              <a:t>6/25/2024</a:t>
            </a:fld>
            <a:endParaRPr lang="en-US"/>
          </a:p>
        </p:txBody>
      </p:sp>
      <p:sp>
        <p:nvSpPr>
          <p:cNvPr id="8" name="Footer Placeholder 7">
            <a:extLst>
              <a:ext uri="{FF2B5EF4-FFF2-40B4-BE49-F238E27FC236}">
                <a16:creationId xmlns:a16="http://schemas.microsoft.com/office/drawing/2014/main" id="{78F573DE-07EB-4FE8-AFE9-6BDE43E142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D9CFD8-919F-428C-BB1C-21C29A5F2302}"/>
              </a:ext>
            </a:extLst>
          </p:cNvPr>
          <p:cNvSpPr>
            <a:spLocks noGrp="1"/>
          </p:cNvSpPr>
          <p:nvPr>
            <p:ph type="sldNum" sz="quarter" idx="12"/>
          </p:nvPr>
        </p:nvSpPr>
        <p:spPr/>
        <p:txBody>
          <a:bodyPr/>
          <a:lstStyle/>
          <a:p>
            <a:fld id="{E218363B-8398-430A-A7E5-D75982D22B08}" type="slidenum">
              <a:rPr lang="en-US" smtClean="0"/>
              <a:t>‹#›</a:t>
            </a:fld>
            <a:endParaRPr lang="en-US"/>
          </a:p>
        </p:txBody>
      </p:sp>
    </p:spTree>
    <p:extLst>
      <p:ext uri="{BB962C8B-B14F-4D97-AF65-F5344CB8AC3E}">
        <p14:creationId xmlns:p14="http://schemas.microsoft.com/office/powerpoint/2010/main" val="910086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68468-6237-4D7A-94ED-F057931208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E56F5F-D12C-496F-A508-CFE4F4EBC4B6}"/>
              </a:ext>
            </a:extLst>
          </p:cNvPr>
          <p:cNvSpPr>
            <a:spLocks noGrp="1"/>
          </p:cNvSpPr>
          <p:nvPr>
            <p:ph type="dt" sz="half" idx="10"/>
          </p:nvPr>
        </p:nvSpPr>
        <p:spPr/>
        <p:txBody>
          <a:bodyPr/>
          <a:lstStyle/>
          <a:p>
            <a:fld id="{99FC01E8-584B-4C28-BA44-ECE0F23D4DC2}" type="datetimeFigureOut">
              <a:rPr lang="en-US" smtClean="0"/>
              <a:t>6/25/2024</a:t>
            </a:fld>
            <a:endParaRPr lang="en-US"/>
          </a:p>
        </p:txBody>
      </p:sp>
      <p:sp>
        <p:nvSpPr>
          <p:cNvPr id="4" name="Footer Placeholder 3">
            <a:extLst>
              <a:ext uri="{FF2B5EF4-FFF2-40B4-BE49-F238E27FC236}">
                <a16:creationId xmlns:a16="http://schemas.microsoft.com/office/drawing/2014/main" id="{C72FC93A-222A-45DD-8416-A2942855CE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843C46-C19F-49B9-A3B3-E8660C9EE199}"/>
              </a:ext>
            </a:extLst>
          </p:cNvPr>
          <p:cNvSpPr>
            <a:spLocks noGrp="1"/>
          </p:cNvSpPr>
          <p:nvPr>
            <p:ph type="sldNum" sz="quarter" idx="12"/>
          </p:nvPr>
        </p:nvSpPr>
        <p:spPr/>
        <p:txBody>
          <a:bodyPr/>
          <a:lstStyle/>
          <a:p>
            <a:fld id="{E218363B-8398-430A-A7E5-D75982D22B08}" type="slidenum">
              <a:rPr lang="en-US" smtClean="0"/>
              <a:t>‹#›</a:t>
            </a:fld>
            <a:endParaRPr lang="en-US"/>
          </a:p>
        </p:txBody>
      </p:sp>
    </p:spTree>
    <p:extLst>
      <p:ext uri="{BB962C8B-B14F-4D97-AF65-F5344CB8AC3E}">
        <p14:creationId xmlns:p14="http://schemas.microsoft.com/office/powerpoint/2010/main" val="729938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D8ACCB-36CE-4233-B19E-491BE604F876}"/>
              </a:ext>
            </a:extLst>
          </p:cNvPr>
          <p:cNvSpPr>
            <a:spLocks noGrp="1"/>
          </p:cNvSpPr>
          <p:nvPr>
            <p:ph type="dt" sz="half" idx="10"/>
          </p:nvPr>
        </p:nvSpPr>
        <p:spPr/>
        <p:txBody>
          <a:bodyPr/>
          <a:lstStyle/>
          <a:p>
            <a:fld id="{99FC01E8-584B-4C28-BA44-ECE0F23D4DC2}" type="datetimeFigureOut">
              <a:rPr lang="en-US" smtClean="0"/>
              <a:t>6/25/2024</a:t>
            </a:fld>
            <a:endParaRPr lang="en-US"/>
          </a:p>
        </p:txBody>
      </p:sp>
      <p:sp>
        <p:nvSpPr>
          <p:cNvPr id="3" name="Footer Placeholder 2">
            <a:extLst>
              <a:ext uri="{FF2B5EF4-FFF2-40B4-BE49-F238E27FC236}">
                <a16:creationId xmlns:a16="http://schemas.microsoft.com/office/drawing/2014/main" id="{AB27E0AA-1AB1-41A3-9356-18A32B2276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2FED3F-5B14-4B9C-B294-6749A0ECCD36}"/>
              </a:ext>
            </a:extLst>
          </p:cNvPr>
          <p:cNvSpPr>
            <a:spLocks noGrp="1"/>
          </p:cNvSpPr>
          <p:nvPr>
            <p:ph type="sldNum" sz="quarter" idx="12"/>
          </p:nvPr>
        </p:nvSpPr>
        <p:spPr/>
        <p:txBody>
          <a:bodyPr/>
          <a:lstStyle/>
          <a:p>
            <a:fld id="{E218363B-8398-430A-A7E5-D75982D22B08}" type="slidenum">
              <a:rPr lang="en-US" smtClean="0"/>
              <a:t>‹#›</a:t>
            </a:fld>
            <a:endParaRPr lang="en-US"/>
          </a:p>
        </p:txBody>
      </p:sp>
    </p:spTree>
    <p:extLst>
      <p:ext uri="{BB962C8B-B14F-4D97-AF65-F5344CB8AC3E}">
        <p14:creationId xmlns:p14="http://schemas.microsoft.com/office/powerpoint/2010/main" val="1386526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F2F6D-0206-4CFF-8815-4FE1E299DC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66C96B-B055-4722-8D39-7D71EE2E7A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D08002-FD03-42A6-A111-94E2E43797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BDDD131-9090-42DC-A73D-7F3B4498CF60}"/>
              </a:ext>
            </a:extLst>
          </p:cNvPr>
          <p:cNvSpPr>
            <a:spLocks noGrp="1"/>
          </p:cNvSpPr>
          <p:nvPr>
            <p:ph type="dt" sz="half" idx="10"/>
          </p:nvPr>
        </p:nvSpPr>
        <p:spPr/>
        <p:txBody>
          <a:bodyPr/>
          <a:lstStyle/>
          <a:p>
            <a:fld id="{99FC01E8-584B-4C28-BA44-ECE0F23D4DC2}" type="datetimeFigureOut">
              <a:rPr lang="en-US" smtClean="0"/>
              <a:t>6/25/2024</a:t>
            </a:fld>
            <a:endParaRPr lang="en-US"/>
          </a:p>
        </p:txBody>
      </p:sp>
      <p:sp>
        <p:nvSpPr>
          <p:cNvPr id="6" name="Footer Placeholder 5">
            <a:extLst>
              <a:ext uri="{FF2B5EF4-FFF2-40B4-BE49-F238E27FC236}">
                <a16:creationId xmlns:a16="http://schemas.microsoft.com/office/drawing/2014/main" id="{F59D7BDF-32A0-4F6C-833C-80DB07D4DB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F6BB95-95F8-45C1-BFE7-6510D1ABFF69}"/>
              </a:ext>
            </a:extLst>
          </p:cNvPr>
          <p:cNvSpPr>
            <a:spLocks noGrp="1"/>
          </p:cNvSpPr>
          <p:nvPr>
            <p:ph type="sldNum" sz="quarter" idx="12"/>
          </p:nvPr>
        </p:nvSpPr>
        <p:spPr/>
        <p:txBody>
          <a:bodyPr/>
          <a:lstStyle/>
          <a:p>
            <a:fld id="{E218363B-8398-430A-A7E5-D75982D22B08}" type="slidenum">
              <a:rPr lang="en-US" smtClean="0"/>
              <a:t>‹#›</a:t>
            </a:fld>
            <a:endParaRPr lang="en-US"/>
          </a:p>
        </p:txBody>
      </p:sp>
    </p:spTree>
    <p:extLst>
      <p:ext uri="{BB962C8B-B14F-4D97-AF65-F5344CB8AC3E}">
        <p14:creationId xmlns:p14="http://schemas.microsoft.com/office/powerpoint/2010/main" val="2135749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F6825-1AB2-4737-8BA3-756D4B4C0B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C05E4A-E287-4011-8C16-44CA3BF709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9EBE00-C2C8-4126-98D6-9E21DA4E2C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17271A5-FDC5-4C94-B107-3D4630DDEFBB}"/>
              </a:ext>
            </a:extLst>
          </p:cNvPr>
          <p:cNvSpPr>
            <a:spLocks noGrp="1"/>
          </p:cNvSpPr>
          <p:nvPr>
            <p:ph type="dt" sz="half" idx="10"/>
          </p:nvPr>
        </p:nvSpPr>
        <p:spPr/>
        <p:txBody>
          <a:bodyPr/>
          <a:lstStyle/>
          <a:p>
            <a:fld id="{99FC01E8-584B-4C28-BA44-ECE0F23D4DC2}" type="datetimeFigureOut">
              <a:rPr lang="en-US" smtClean="0"/>
              <a:t>6/25/2024</a:t>
            </a:fld>
            <a:endParaRPr lang="en-US"/>
          </a:p>
        </p:txBody>
      </p:sp>
      <p:sp>
        <p:nvSpPr>
          <p:cNvPr id="6" name="Footer Placeholder 5">
            <a:extLst>
              <a:ext uri="{FF2B5EF4-FFF2-40B4-BE49-F238E27FC236}">
                <a16:creationId xmlns:a16="http://schemas.microsoft.com/office/drawing/2014/main" id="{6F1341C0-708D-4656-B59F-93611F3745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5D376-61C6-4C24-A04F-B9680C362DEB}"/>
              </a:ext>
            </a:extLst>
          </p:cNvPr>
          <p:cNvSpPr>
            <a:spLocks noGrp="1"/>
          </p:cNvSpPr>
          <p:nvPr>
            <p:ph type="sldNum" sz="quarter" idx="12"/>
          </p:nvPr>
        </p:nvSpPr>
        <p:spPr/>
        <p:txBody>
          <a:bodyPr/>
          <a:lstStyle/>
          <a:p>
            <a:fld id="{E218363B-8398-430A-A7E5-D75982D22B08}" type="slidenum">
              <a:rPr lang="en-US" smtClean="0"/>
              <a:t>‹#›</a:t>
            </a:fld>
            <a:endParaRPr lang="en-US"/>
          </a:p>
        </p:txBody>
      </p:sp>
    </p:spTree>
    <p:extLst>
      <p:ext uri="{BB962C8B-B14F-4D97-AF65-F5344CB8AC3E}">
        <p14:creationId xmlns:p14="http://schemas.microsoft.com/office/powerpoint/2010/main" val="2315971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6F0FB-19FC-41D8-BB4F-3825920CCA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6D09AB-2248-45BF-9620-E6BBA0AFB9F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46C58B-B3B5-41B6-B0CD-50BAC5C899DC}"/>
              </a:ext>
            </a:extLst>
          </p:cNvPr>
          <p:cNvSpPr>
            <a:spLocks noGrp="1"/>
          </p:cNvSpPr>
          <p:nvPr>
            <p:ph type="dt" sz="half" idx="10"/>
          </p:nvPr>
        </p:nvSpPr>
        <p:spPr/>
        <p:txBody>
          <a:bodyPr/>
          <a:lstStyle/>
          <a:p>
            <a:fld id="{99FC01E8-584B-4C28-BA44-ECE0F23D4DC2}" type="datetimeFigureOut">
              <a:rPr lang="en-US" smtClean="0"/>
              <a:t>6/25/2024</a:t>
            </a:fld>
            <a:endParaRPr lang="en-US"/>
          </a:p>
        </p:txBody>
      </p:sp>
      <p:sp>
        <p:nvSpPr>
          <p:cNvPr id="5" name="Footer Placeholder 4">
            <a:extLst>
              <a:ext uri="{FF2B5EF4-FFF2-40B4-BE49-F238E27FC236}">
                <a16:creationId xmlns:a16="http://schemas.microsoft.com/office/drawing/2014/main" id="{BF05ED08-E98A-484D-AD8C-9F24912580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BD5AC3-6958-4FA8-BFCF-47EAF5A8F863}"/>
              </a:ext>
            </a:extLst>
          </p:cNvPr>
          <p:cNvSpPr>
            <a:spLocks noGrp="1"/>
          </p:cNvSpPr>
          <p:nvPr>
            <p:ph type="sldNum" sz="quarter" idx="12"/>
          </p:nvPr>
        </p:nvSpPr>
        <p:spPr/>
        <p:txBody>
          <a:bodyPr/>
          <a:lstStyle/>
          <a:p>
            <a:fld id="{E218363B-8398-430A-A7E5-D75982D22B08}" type="slidenum">
              <a:rPr lang="en-US" smtClean="0"/>
              <a:t>‹#›</a:t>
            </a:fld>
            <a:endParaRPr lang="en-US"/>
          </a:p>
        </p:txBody>
      </p:sp>
    </p:spTree>
    <p:extLst>
      <p:ext uri="{BB962C8B-B14F-4D97-AF65-F5344CB8AC3E}">
        <p14:creationId xmlns:p14="http://schemas.microsoft.com/office/powerpoint/2010/main" val="3514758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1C32EC-C41E-4F90-8ACA-2DCB7DA553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EA45FD-ABAF-49C4-8EB2-FB0EE1DADA7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99EE02-85DE-4F4E-A4A5-A5E59323FDDD}"/>
              </a:ext>
            </a:extLst>
          </p:cNvPr>
          <p:cNvSpPr>
            <a:spLocks noGrp="1"/>
          </p:cNvSpPr>
          <p:nvPr>
            <p:ph type="dt" sz="half" idx="10"/>
          </p:nvPr>
        </p:nvSpPr>
        <p:spPr/>
        <p:txBody>
          <a:bodyPr/>
          <a:lstStyle/>
          <a:p>
            <a:fld id="{99FC01E8-584B-4C28-BA44-ECE0F23D4DC2}" type="datetimeFigureOut">
              <a:rPr lang="en-US" smtClean="0"/>
              <a:t>6/25/2024</a:t>
            </a:fld>
            <a:endParaRPr lang="en-US"/>
          </a:p>
        </p:txBody>
      </p:sp>
      <p:sp>
        <p:nvSpPr>
          <p:cNvPr id="5" name="Footer Placeholder 4">
            <a:extLst>
              <a:ext uri="{FF2B5EF4-FFF2-40B4-BE49-F238E27FC236}">
                <a16:creationId xmlns:a16="http://schemas.microsoft.com/office/drawing/2014/main" id="{CAF55AD9-E7C7-4805-A780-CC3C462133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90AFD0-9684-49B7-B373-F125A97AFB8C}"/>
              </a:ext>
            </a:extLst>
          </p:cNvPr>
          <p:cNvSpPr>
            <a:spLocks noGrp="1"/>
          </p:cNvSpPr>
          <p:nvPr>
            <p:ph type="sldNum" sz="quarter" idx="12"/>
          </p:nvPr>
        </p:nvSpPr>
        <p:spPr/>
        <p:txBody>
          <a:bodyPr/>
          <a:lstStyle/>
          <a:p>
            <a:fld id="{E218363B-8398-430A-A7E5-D75982D22B08}" type="slidenum">
              <a:rPr lang="en-US" smtClean="0"/>
              <a:t>‹#›</a:t>
            </a:fld>
            <a:endParaRPr lang="en-US"/>
          </a:p>
        </p:txBody>
      </p:sp>
    </p:spTree>
    <p:extLst>
      <p:ext uri="{BB962C8B-B14F-4D97-AF65-F5344CB8AC3E}">
        <p14:creationId xmlns:p14="http://schemas.microsoft.com/office/powerpoint/2010/main" val="867269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FE52D4-84CF-41F7-8FEF-74D7B359EC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0CE7A8-6928-4724-94B6-29095AD289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764A71-5B29-400B-9B8F-BC7B33F8ED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FC01E8-584B-4C28-BA44-ECE0F23D4DC2}" type="datetimeFigureOut">
              <a:rPr lang="en-US" smtClean="0"/>
              <a:t>6/25/2024</a:t>
            </a:fld>
            <a:endParaRPr lang="en-US"/>
          </a:p>
        </p:txBody>
      </p:sp>
      <p:sp>
        <p:nvSpPr>
          <p:cNvPr id="5" name="Footer Placeholder 4">
            <a:extLst>
              <a:ext uri="{FF2B5EF4-FFF2-40B4-BE49-F238E27FC236}">
                <a16:creationId xmlns:a16="http://schemas.microsoft.com/office/drawing/2014/main" id="{C0EA4673-9FE4-4BCE-9EC6-E9D6ACF046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C9ABE17-50D6-4CB9-B0BF-5F2BB58A74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18363B-8398-430A-A7E5-D75982D22B08}" type="slidenum">
              <a:rPr lang="en-US" smtClean="0"/>
              <a:t>‹#›</a:t>
            </a:fld>
            <a:endParaRPr lang="en-US"/>
          </a:p>
        </p:txBody>
      </p:sp>
    </p:spTree>
    <p:extLst>
      <p:ext uri="{BB962C8B-B14F-4D97-AF65-F5344CB8AC3E}">
        <p14:creationId xmlns:p14="http://schemas.microsoft.com/office/powerpoint/2010/main" val="2647212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wnloads.languagetechnology.org/fieldworks/Documentation/FLEx%209.1%20Conceptual%20Model.pd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unicode.org/unibook/"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unicode.org/reports/tr35/"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ldml.api.sil.org/e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ldml.api.sil.or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downloads.languagetechnology.org/fieldworks/Documentation/Technical%20Notes%20on%20FieldWorks%20Send-Receive.pdf"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downloads.languagetechnology.org/fieldworks/Documentation/Technical%20Notes%20on%20LIFT%20used%20in%20FLEx.pdf"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downloads.languagetechnology.org/fieldworks/Documentation/ModelDocumentation.chm"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downloads.languagetechnology.org/fieldworks/Documentation/MasterFieldWorksModel%20classes%20and%20fields%207000072.xlsx" TargetMode="External"/><Relationship Id="rId2" Type="http://schemas.openxmlformats.org/officeDocument/2006/relationships/hyperlink" Target="https://github.com/sillsdev/liblcm/blob/master/src/SIL.LCModel/MasterLCModel.xml"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hyperlink" Target="https://github.com/sillsdev/flexbridge" TargetMode="External"/><Relationship Id="rId3" Type="http://schemas.openxmlformats.org/officeDocument/2006/relationships/hyperlink" Target="https://github.com/sillsdev/" TargetMode="External"/><Relationship Id="rId7" Type="http://schemas.openxmlformats.org/officeDocument/2006/relationships/hyperlink" Target="https://github.com/sillsdev/libpalaso" TargetMode="External"/><Relationship Id="rId2" Type="http://schemas.openxmlformats.org/officeDocument/2006/relationships/hyperlink" Target="https://git-scm.com/" TargetMode="External"/><Relationship Id="rId1" Type="http://schemas.openxmlformats.org/officeDocument/2006/relationships/slideLayout" Target="../slideLayouts/slideLayout2.xml"/><Relationship Id="rId6" Type="http://schemas.openxmlformats.org/officeDocument/2006/relationships/hyperlink" Target="https://github.com/sillsdev/liblcm" TargetMode="External"/><Relationship Id="rId5" Type="http://schemas.openxmlformats.org/officeDocument/2006/relationships/hyperlink" Target="https://github.com/sillsdev/chorus" TargetMode="External"/><Relationship Id="rId4" Type="http://schemas.openxmlformats.org/officeDocument/2006/relationships/hyperlink" Target="https://github.com/sillsdev/FieldWorks" TargetMode="External"/></Relationships>
</file>

<file path=ppt/slides/_rels/slide60.xml.rels><?xml version="1.0" encoding="UTF-8" standalone="yes"?>
<Relationships xmlns="http://schemas.openxmlformats.org/package/2006/relationships"><Relationship Id="rId2" Type="http://schemas.openxmlformats.org/officeDocument/2006/relationships/hyperlink" Target="https://github.com/sillsdev/FwDocumentation/wiki"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github.com/dnSpy/dnSpy/releases"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downloads.languagetechnology.org/fieldworks/Documentation/FLEx%209.1%20Conceptual%20Model.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22001A6-7C59-4A70-AFBB-C2F99A95A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548"/>
            <a:ext cx="12192000" cy="6800903"/>
          </a:xfrm>
          <a:prstGeom prst="rect">
            <a:avLst/>
          </a:prstGeom>
        </p:spPr>
      </p:pic>
      <p:sp>
        <p:nvSpPr>
          <p:cNvPr id="2" name="Title 1">
            <a:extLst>
              <a:ext uri="{FF2B5EF4-FFF2-40B4-BE49-F238E27FC236}">
                <a16:creationId xmlns:a16="http://schemas.microsoft.com/office/drawing/2014/main" id="{06CF19D9-1194-4EE6-866C-DDE4ACF2EF90}"/>
              </a:ext>
            </a:extLst>
          </p:cNvPr>
          <p:cNvSpPr>
            <a:spLocks noGrp="1"/>
          </p:cNvSpPr>
          <p:nvPr>
            <p:ph type="ctrTitle"/>
          </p:nvPr>
        </p:nvSpPr>
        <p:spPr/>
        <p:txBody>
          <a:bodyPr/>
          <a:lstStyle/>
          <a:p>
            <a:r>
              <a:rPr lang="en-US" b="1" dirty="0">
                <a:latin typeface="+mn-lt"/>
              </a:rPr>
              <a:t>FLEx 9.1 Conceptual Model</a:t>
            </a:r>
          </a:p>
        </p:txBody>
      </p:sp>
      <p:sp>
        <p:nvSpPr>
          <p:cNvPr id="3" name="Subtitle 2">
            <a:extLst>
              <a:ext uri="{FF2B5EF4-FFF2-40B4-BE49-F238E27FC236}">
                <a16:creationId xmlns:a16="http://schemas.microsoft.com/office/drawing/2014/main" id="{6B28D945-AF19-41CE-9401-97B7CCF34DAE}"/>
              </a:ext>
            </a:extLst>
          </p:cNvPr>
          <p:cNvSpPr>
            <a:spLocks noGrp="1"/>
          </p:cNvSpPr>
          <p:nvPr>
            <p:ph type="subTitle" idx="1"/>
          </p:nvPr>
        </p:nvSpPr>
        <p:spPr/>
        <p:txBody>
          <a:bodyPr/>
          <a:lstStyle/>
          <a:p>
            <a:r>
              <a:rPr lang="en-US" sz="4800" b="1" dirty="0"/>
              <a:t>Basic concepts and resources</a:t>
            </a:r>
            <a:br>
              <a:rPr lang="en-US" dirty="0"/>
            </a:br>
            <a:r>
              <a:rPr lang="en-US" dirty="0"/>
              <a:t>Ken Zook</a:t>
            </a:r>
          </a:p>
          <a:p>
            <a:r>
              <a:rPr lang="en-US" dirty="0"/>
              <a:t>June 18, 2024</a:t>
            </a:r>
          </a:p>
        </p:txBody>
      </p:sp>
    </p:spTree>
    <p:extLst>
      <p:ext uri="{BB962C8B-B14F-4D97-AF65-F5344CB8AC3E}">
        <p14:creationId xmlns:p14="http://schemas.microsoft.com/office/powerpoint/2010/main" val="1824511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52D0421-465A-44C2-A9C3-3024F3A62AA3}"/>
              </a:ext>
            </a:extLst>
          </p:cNvPr>
          <p:cNvSpPr>
            <a:spLocks noGrp="1"/>
          </p:cNvSpPr>
          <p:nvPr>
            <p:ph idx="1"/>
          </p:nvPr>
        </p:nvSpPr>
        <p:spPr>
          <a:xfrm>
            <a:off x="914400" y="1253330"/>
            <a:ext cx="10515600" cy="4918869"/>
          </a:xfrm>
        </p:spPr>
        <p:txBody>
          <a:bodyPr>
            <a:normAutofit fontScale="92500" lnSpcReduction="10000"/>
          </a:bodyPr>
          <a:lstStyle/>
          <a:p>
            <a:r>
              <a:rPr lang="en-US" dirty="0"/>
              <a:t>Introduction</a:t>
            </a:r>
          </a:p>
          <a:p>
            <a:r>
              <a:rPr lang="en-US" dirty="0"/>
              <a:t>Today: Basic concepts, how data is stored, and resources available</a:t>
            </a:r>
          </a:p>
          <a:p>
            <a:r>
              <a:rPr lang="en-US" dirty="0"/>
              <a:t>Thursday: Lexicon model and some Grammar</a:t>
            </a:r>
          </a:p>
          <a:p>
            <a:r>
              <a:rPr lang="en-US" dirty="0"/>
              <a:t>Tuesday: Some Grammar, Interlinear, and Notebook models</a:t>
            </a:r>
          </a:p>
          <a:p>
            <a:r>
              <a:rPr lang="en-US" dirty="0"/>
              <a:t>FLEx 9.1 Conceptual Model documentation covered in these webinars is available as “FLEx 9.1 Conceptual model.pdf”</a:t>
            </a:r>
            <a:br>
              <a:rPr lang="en-US" dirty="0"/>
            </a:br>
            <a:r>
              <a:rPr lang="en-US" dirty="0"/>
              <a:t>in software.sil.org/fieldworks/support/technical-documents</a:t>
            </a:r>
            <a:br>
              <a:rPr lang="en-US" dirty="0"/>
            </a:br>
            <a:r>
              <a:rPr lang="en-US" dirty="0">
                <a:hlinkClick r:id="rId2"/>
              </a:rPr>
              <a:t>https://downloads.languagetechnology.org/fieldworks/Documentation/FLEx%209.1%20Conceptual%20Model.pdf</a:t>
            </a:r>
            <a:r>
              <a:rPr lang="en-US" dirty="0"/>
              <a:t> (The file also has a link to a Flex 9.1 sample project used in this document, as well as </a:t>
            </a:r>
            <a:r>
              <a:rPr lang="en-US"/>
              <a:t>links to the </a:t>
            </a:r>
            <a:r>
              <a:rPr lang="en-US" dirty="0"/>
              <a:t>three PowerPoint presentations.)</a:t>
            </a:r>
            <a:br>
              <a:rPr lang="en-US" dirty="0"/>
            </a:br>
            <a:br>
              <a:rPr lang="en-US" dirty="0"/>
            </a:br>
            <a:endParaRPr lang="en-US" dirty="0"/>
          </a:p>
          <a:p>
            <a:endParaRPr lang="en-US" dirty="0"/>
          </a:p>
          <a:p>
            <a:endParaRPr lang="en-US" dirty="0"/>
          </a:p>
        </p:txBody>
      </p:sp>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FieldWorks Language Explorer (FLEx)</a:t>
            </a:r>
          </a:p>
        </p:txBody>
      </p:sp>
    </p:spTree>
    <p:extLst>
      <p:ext uri="{BB962C8B-B14F-4D97-AF65-F5344CB8AC3E}">
        <p14:creationId xmlns:p14="http://schemas.microsoft.com/office/powerpoint/2010/main" val="3413449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FieldWorks project folder</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lnSpcReduction="10000"/>
          </a:bodyPr>
          <a:lstStyle/>
          <a:p>
            <a:r>
              <a:rPr lang="en-US" dirty="0"/>
              <a:t>Projects stored in folders under c:\ProgramData\SIL\FieldWorks\Projects\</a:t>
            </a:r>
          </a:p>
          <a:p>
            <a:pPr lvl="1"/>
            <a:r>
              <a:rPr lang="en-US" dirty="0"/>
              <a:t>FLEx data is stored in a .fwdata file that matches the name of the folder.</a:t>
            </a:r>
          </a:p>
          <a:p>
            <a:pPr lvl="1"/>
            <a:r>
              <a:rPr lang="en-US" dirty="0" err="1"/>
              <a:t>WritingSystemStore</a:t>
            </a:r>
            <a:r>
              <a:rPr lang="en-US" dirty="0"/>
              <a:t> directory that holds XML .</a:t>
            </a:r>
            <a:r>
              <a:rPr lang="en-US" dirty="0" err="1"/>
              <a:t>ldml</a:t>
            </a:r>
            <a:r>
              <a:rPr lang="en-US" dirty="0"/>
              <a:t> files for each writing system used in the project.</a:t>
            </a:r>
          </a:p>
          <a:p>
            <a:pPr lvl="1"/>
            <a:r>
              <a:rPr lang="en-US" dirty="0" err="1"/>
              <a:t>ConfigurationSettings</a:t>
            </a:r>
            <a:r>
              <a:rPr lang="en-US" dirty="0"/>
              <a:t> directory that stores various XML files containing user settings for field visibility, sizing of windows, columns, filters, dictionary configuration, etc.</a:t>
            </a:r>
          </a:p>
          <a:p>
            <a:pPr lvl="1"/>
            <a:r>
              <a:rPr lang="en-US" dirty="0" err="1"/>
              <a:t>LinkedFiles</a:t>
            </a:r>
            <a:r>
              <a:rPr lang="en-US" dirty="0"/>
              <a:t> directory for storing pictures, media files, etc.</a:t>
            </a:r>
          </a:p>
          <a:p>
            <a:pPr lvl="1"/>
            <a:r>
              <a:rPr lang="en-US" dirty="0" err="1"/>
              <a:t>SharedSettings</a:t>
            </a:r>
            <a:r>
              <a:rPr lang="en-US" dirty="0"/>
              <a:t> directory that holds user settings for writing system fonts, keyboards, language name and abbreviation, etc.</a:t>
            </a:r>
          </a:p>
          <a:p>
            <a:pPr lvl="1"/>
            <a:r>
              <a:rPr lang="en-US" dirty="0"/>
              <a:t>Temp directory that holds some caches for speeding up sorting.</a:t>
            </a:r>
          </a:p>
          <a:p>
            <a:r>
              <a:rPr lang="en-US" dirty="0"/>
              <a:t>Several settings files are also stored under %</a:t>
            </a:r>
            <a:r>
              <a:rPr lang="en-US" dirty="0" err="1"/>
              <a:t>localappdata</a:t>
            </a:r>
            <a:r>
              <a:rPr lang="en-US" dirty="0"/>
              <a:t>%\SIL</a:t>
            </a:r>
            <a:br>
              <a:rPr lang="en-US" dirty="0"/>
            </a:br>
            <a:r>
              <a:rPr lang="en-US" dirty="0"/>
              <a:t>Registry: HKLM &amp; HKCU)\Software\SIL\Fieldworks</a:t>
            </a:r>
            <a:br>
              <a:rPr lang="en-US" dirty="0"/>
            </a:br>
            <a:r>
              <a:rPr lang="en-US" dirty="0"/>
              <a:t>Windows Environment variables.</a:t>
            </a:r>
          </a:p>
          <a:p>
            <a:endParaRPr lang="en-US" dirty="0"/>
          </a:p>
        </p:txBody>
      </p:sp>
    </p:spTree>
    <p:extLst>
      <p:ext uri="{BB962C8B-B14F-4D97-AF65-F5344CB8AC3E}">
        <p14:creationId xmlns:p14="http://schemas.microsoft.com/office/powerpoint/2010/main" val="2394391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err="1"/>
              <a:t>FieldWorks</a:t>
            </a:r>
            <a:r>
              <a:rPr lang="en-US" dirty="0"/>
              <a:t> XML </a:t>
            </a:r>
            <a:r>
              <a:rPr lang="en-US" dirty="0" err="1"/>
              <a:t>fwdata</a:t>
            </a:r>
            <a:r>
              <a:rPr lang="en-US" dirty="0"/>
              <a:t> file</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pPr marL="0" indent="0">
              <a:buNone/>
            </a:pPr>
            <a:r>
              <a:rPr lang="en-US" dirty="0"/>
              <a:t>&lt;?xml version="1.0" encoding="utf-8"?&gt;</a:t>
            </a:r>
            <a:br>
              <a:rPr lang="en-US" dirty="0"/>
            </a:br>
            <a:r>
              <a:rPr lang="en-US" dirty="0"/>
              <a:t>&lt;</a:t>
            </a:r>
            <a:r>
              <a:rPr lang="en-US" dirty="0" err="1"/>
              <a:t>languageproject</a:t>
            </a:r>
            <a:r>
              <a:rPr lang="en-US" dirty="0"/>
              <a:t> version="</a:t>
            </a:r>
            <a:r>
              <a:rPr lang="en-US" dirty="0">
                <a:highlight>
                  <a:srgbClr val="FFFF00"/>
                </a:highlight>
              </a:rPr>
              <a:t>7000072</a:t>
            </a:r>
            <a:r>
              <a:rPr lang="en-US" dirty="0"/>
              <a:t>"&gt;</a:t>
            </a:r>
            <a:br>
              <a:rPr lang="en-US" dirty="0"/>
            </a:br>
            <a:r>
              <a:rPr lang="en-US" dirty="0"/>
              <a:t>&lt;</a:t>
            </a:r>
            <a:r>
              <a:rPr lang="en-US" dirty="0" err="1"/>
              <a:t>AdditionalFields</a:t>
            </a:r>
            <a:r>
              <a:rPr lang="en-US" dirty="0"/>
              <a:t>&gt;</a:t>
            </a:r>
            <a:br>
              <a:rPr lang="en-US" dirty="0"/>
            </a:br>
            <a:r>
              <a:rPr lang="en-US" dirty="0"/>
              <a:t>&lt;</a:t>
            </a:r>
            <a:r>
              <a:rPr lang="en-US" dirty="0" err="1">
                <a:highlight>
                  <a:srgbClr val="FFFF00"/>
                </a:highlight>
              </a:rPr>
              <a:t>CustomField</a:t>
            </a:r>
            <a:r>
              <a:rPr lang="en-US" dirty="0"/>
              <a:t> class="</a:t>
            </a:r>
            <a:r>
              <a:rPr lang="en-US" dirty="0" err="1"/>
              <a:t>LexEntry</a:t>
            </a:r>
            <a:r>
              <a:rPr lang="en-US" dirty="0"/>
              <a:t>" name="Phonetic" type="</a:t>
            </a:r>
            <a:r>
              <a:rPr lang="en-US" dirty="0" err="1"/>
              <a:t>MultiUnicode</a:t>
            </a:r>
            <a:r>
              <a:rPr lang="en-US" dirty="0"/>
              <a:t>" </a:t>
            </a:r>
            <a:r>
              <a:rPr lang="en-US" dirty="0" err="1"/>
              <a:t>wsSelector</a:t>
            </a:r>
            <a:r>
              <a:rPr lang="en-US" dirty="0"/>
              <a:t>="-4" /&gt;</a:t>
            </a:r>
            <a:br>
              <a:rPr lang="en-US" dirty="0"/>
            </a:br>
            <a:r>
              <a:rPr lang="en-US" dirty="0"/>
              <a:t>&lt;/</a:t>
            </a:r>
            <a:r>
              <a:rPr lang="en-US" dirty="0" err="1"/>
              <a:t>AdditionalFields</a:t>
            </a:r>
            <a:r>
              <a:rPr lang="en-US" dirty="0"/>
              <a:t>&gt;</a:t>
            </a:r>
            <a:br>
              <a:rPr lang="en-US" dirty="0"/>
            </a:br>
            <a:r>
              <a:rPr lang="en-US" dirty="0">
                <a:highlight>
                  <a:srgbClr val="FFFF00"/>
                </a:highlight>
              </a:rPr>
              <a:t>&lt;rt class="</a:t>
            </a:r>
            <a:r>
              <a:rPr lang="en-US" dirty="0" err="1">
                <a:highlight>
                  <a:srgbClr val="FFFF00"/>
                </a:highlight>
              </a:rPr>
              <a:t>CmSemanticDomain</a:t>
            </a:r>
            <a:r>
              <a:rPr lang="en-US" dirty="0">
                <a:highlight>
                  <a:srgbClr val="FFFF00"/>
                </a:highlight>
              </a:rPr>
              <a:t>" </a:t>
            </a:r>
            <a:r>
              <a:rPr lang="en-US" dirty="0" err="1">
                <a:highlight>
                  <a:srgbClr val="FFFF00"/>
                </a:highlight>
              </a:rPr>
              <a:t>guid</a:t>
            </a:r>
            <a:r>
              <a:rPr lang="en-US" dirty="0">
                <a:highlight>
                  <a:srgbClr val="FFFF00"/>
                </a:highlight>
              </a:rPr>
              <a:t>="00041516-72d1-4e56-9ed8-fe235a9b1a68" </a:t>
            </a:r>
            <a:r>
              <a:rPr lang="en-US" dirty="0" err="1">
                <a:highlight>
                  <a:srgbClr val="FFFF00"/>
                </a:highlight>
              </a:rPr>
              <a:t>ownerguid</a:t>
            </a:r>
            <a:r>
              <a:rPr lang="en-US" dirty="0">
                <a:highlight>
                  <a:srgbClr val="FFFF00"/>
                </a:highlight>
              </a:rPr>
              <a:t>="00269021-e1c4-474d-9dba-341d296bdac7"&gt;</a:t>
            </a:r>
            <a:br>
              <a:rPr lang="en-US" dirty="0">
                <a:highlight>
                  <a:srgbClr val="FFFF00"/>
                </a:highlight>
              </a:rPr>
            </a:br>
            <a:r>
              <a:rPr lang="en-US" dirty="0">
                <a:highlight>
                  <a:srgbClr val="FFFF00"/>
                </a:highlight>
              </a:rPr>
              <a:t>…</a:t>
            </a:r>
            <a:br>
              <a:rPr lang="en-US" dirty="0">
                <a:highlight>
                  <a:srgbClr val="FFFF00"/>
                </a:highlight>
              </a:rPr>
            </a:br>
            <a:r>
              <a:rPr lang="en-US" dirty="0">
                <a:highlight>
                  <a:srgbClr val="FFFF00"/>
                </a:highlight>
              </a:rPr>
              <a:t>&lt;/rt&gt;</a:t>
            </a:r>
            <a:br>
              <a:rPr lang="en-US" dirty="0">
                <a:highlight>
                  <a:srgbClr val="FFFF00"/>
                </a:highlight>
              </a:rPr>
            </a:br>
            <a:r>
              <a:rPr lang="en-US" dirty="0"/>
              <a:t>more rt class (object) instances sorted by class </a:t>
            </a:r>
            <a:r>
              <a:rPr lang="en-US" dirty="0" err="1"/>
              <a:t>guid</a:t>
            </a:r>
            <a:br>
              <a:rPr lang="en-US" dirty="0"/>
            </a:br>
            <a:r>
              <a:rPr lang="en-US" dirty="0"/>
              <a:t>&lt;/</a:t>
            </a:r>
            <a:r>
              <a:rPr lang="en-US" dirty="0" err="1"/>
              <a:t>languageproject</a:t>
            </a:r>
            <a:r>
              <a:rPr lang="en-US" dirty="0"/>
              <a:t>&gt;</a:t>
            </a:r>
          </a:p>
          <a:p>
            <a:pPr marL="0" indent="0">
              <a:buNone/>
            </a:pPr>
            <a:r>
              <a:rPr lang="en-US" dirty="0"/>
              <a:t>Beware of null rt elements</a:t>
            </a:r>
          </a:p>
          <a:p>
            <a:pPr marL="0" indent="0">
              <a:buNone/>
            </a:pPr>
            <a:r>
              <a:rPr lang="en-US" dirty="0"/>
              <a:t>&lt;rt class="</a:t>
            </a:r>
            <a:r>
              <a:rPr lang="en-US" dirty="0" err="1"/>
              <a:t>CmSemanticDomain</a:t>
            </a:r>
            <a:r>
              <a:rPr lang="en-US" dirty="0"/>
              <a:t>" </a:t>
            </a:r>
            <a:r>
              <a:rPr lang="en-US" dirty="0" err="1"/>
              <a:t>guid</a:t>
            </a:r>
            <a:r>
              <a:rPr lang="en-US" dirty="0"/>
              <a:t>="00041516-72d1-4e56-9ed8-fe235a9b1a68" </a:t>
            </a:r>
            <a:r>
              <a:rPr lang="en-US" dirty="0" err="1"/>
              <a:t>ownerguid</a:t>
            </a:r>
            <a:r>
              <a:rPr lang="en-US" dirty="0"/>
              <a:t>="00269021-e1c4-474d-9dba-341d296bdac7" </a:t>
            </a:r>
            <a:r>
              <a:rPr lang="en-US" dirty="0">
                <a:highlight>
                  <a:srgbClr val="FFFF00"/>
                </a:highlight>
              </a:rPr>
              <a:t>/&gt;</a:t>
            </a:r>
          </a:p>
          <a:p>
            <a:pPr marL="0" indent="0">
              <a:buNone/>
            </a:pPr>
            <a:r>
              <a:rPr lang="en-US" dirty="0">
                <a:solidFill>
                  <a:srgbClr val="FF0000"/>
                </a:solidFill>
              </a:rPr>
              <a:t>Backup fwdata before making any changes!!</a:t>
            </a:r>
          </a:p>
          <a:p>
            <a:pPr marL="0" indent="0">
              <a:buNone/>
            </a:pPr>
            <a:r>
              <a:rPr lang="en-US" dirty="0"/>
              <a:t>Tools &gt; Utilities &gt; Write Everything will ensure fwdata is correctly formatted.</a:t>
            </a:r>
          </a:p>
        </p:txBody>
      </p:sp>
    </p:spTree>
    <p:extLst>
      <p:ext uri="{BB962C8B-B14F-4D97-AF65-F5344CB8AC3E}">
        <p14:creationId xmlns:p14="http://schemas.microsoft.com/office/powerpoint/2010/main" val="80908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err="1"/>
              <a:t>FieldWorks</a:t>
            </a:r>
            <a:r>
              <a:rPr lang="en-US" dirty="0"/>
              <a:t> data</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lnSpcReduction="10000"/>
          </a:bodyPr>
          <a:lstStyle/>
          <a:p>
            <a:r>
              <a:rPr lang="en-US" dirty="0"/>
              <a:t>All data is Unicode! FLEx support for Unicode is excellent!</a:t>
            </a:r>
            <a:br>
              <a:rPr lang="en-US" dirty="0"/>
            </a:br>
            <a:r>
              <a:rPr lang="en-US" dirty="0"/>
              <a:t>The program should work the same regardless of composition.</a:t>
            </a:r>
          </a:p>
          <a:p>
            <a:r>
              <a:rPr lang="en-US" dirty="0"/>
              <a:t>Data in memory uses Normalization Form Decomposed (NFD) [à = U+0061 U+0300]</a:t>
            </a:r>
          </a:p>
          <a:p>
            <a:r>
              <a:rPr lang="en-US" dirty="0"/>
              <a:t>Bulk-edit, Keyman keyboards using context, and </a:t>
            </a:r>
            <a:r>
              <a:rPr lang="en-US" dirty="0" err="1"/>
              <a:t>FlexTools</a:t>
            </a:r>
            <a:r>
              <a:rPr lang="en-US" dirty="0"/>
              <a:t> need to handle NFD data.</a:t>
            </a:r>
          </a:p>
          <a:p>
            <a:r>
              <a:rPr lang="en-US" dirty="0"/>
              <a:t>Data outside of memory is Composed (NFC) [à = U+00E0]</a:t>
            </a:r>
          </a:p>
          <a:p>
            <a:r>
              <a:rPr lang="en-US" dirty="0"/>
              <a:t>Data is switched to NFC for saving to fwdata,</a:t>
            </a:r>
            <a:br>
              <a:rPr lang="en-US" dirty="0"/>
            </a:br>
            <a:r>
              <a:rPr lang="en-US" dirty="0"/>
              <a:t>clipboard, exports.</a:t>
            </a:r>
          </a:p>
          <a:p>
            <a:r>
              <a:rPr lang="en-US" dirty="0"/>
              <a:t>Data is switched to NFD for loading fwdata,</a:t>
            </a:r>
            <a:br>
              <a:rPr lang="en-US" dirty="0"/>
            </a:br>
            <a:r>
              <a:rPr lang="en-US" dirty="0"/>
              <a:t>typing, pasting, imports, etc.</a:t>
            </a:r>
          </a:p>
          <a:p>
            <a:pPr marL="0" indent="0">
              <a:buNone/>
            </a:pPr>
            <a:br>
              <a:rPr lang="en-US" dirty="0"/>
            </a:br>
            <a:r>
              <a:rPr lang="en-US" dirty="0" err="1"/>
              <a:t>UniBook</a:t>
            </a:r>
            <a:r>
              <a:rPr lang="en-US" dirty="0"/>
              <a:t> (</a:t>
            </a:r>
            <a:r>
              <a:rPr lang="en-US" u="sng" dirty="0">
                <a:hlinkClick r:id="rId2"/>
              </a:rPr>
              <a:t>https://www.unicode.org/unibook/</a:t>
            </a:r>
            <a:r>
              <a:rPr lang="en-US" dirty="0"/>
              <a:t>)</a:t>
            </a:r>
          </a:p>
          <a:p>
            <a:pPr marL="0" indent="0">
              <a:buNone/>
            </a:pPr>
            <a:endParaRPr lang="en-US" dirty="0"/>
          </a:p>
        </p:txBody>
      </p:sp>
      <p:pic>
        <p:nvPicPr>
          <p:cNvPr id="4" name="Picture 3">
            <a:extLst>
              <a:ext uri="{FF2B5EF4-FFF2-40B4-BE49-F238E27FC236}">
                <a16:creationId xmlns:a16="http://schemas.microsoft.com/office/drawing/2014/main" id="{096C67E2-E972-4138-A919-5F18ADCF4AC9}"/>
              </a:ext>
            </a:extLst>
          </p:cNvPr>
          <p:cNvPicPr>
            <a:picLocks noChangeAspect="1"/>
          </p:cNvPicPr>
          <p:nvPr/>
        </p:nvPicPr>
        <p:blipFill>
          <a:blip r:embed="rId3"/>
          <a:stretch>
            <a:fillRect/>
          </a:stretch>
        </p:blipFill>
        <p:spPr>
          <a:xfrm>
            <a:off x="7689420" y="3923846"/>
            <a:ext cx="3664380" cy="2797629"/>
          </a:xfrm>
          <a:prstGeom prst="rect">
            <a:avLst/>
          </a:prstGeom>
        </p:spPr>
      </p:pic>
    </p:spTree>
    <p:extLst>
      <p:ext uri="{BB962C8B-B14F-4D97-AF65-F5344CB8AC3E}">
        <p14:creationId xmlns:p14="http://schemas.microsoft.com/office/powerpoint/2010/main" val="4250346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Object oriented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4741333"/>
          </a:xfrm>
        </p:spPr>
        <p:txBody>
          <a:bodyPr>
            <a:normAutofit/>
          </a:bodyPr>
          <a:lstStyle/>
          <a:p>
            <a:r>
              <a:rPr lang="en-US" dirty="0"/>
              <a:t>All data stored in FLEx is stored in classes.</a:t>
            </a:r>
          </a:p>
          <a:p>
            <a:r>
              <a:rPr lang="en-US" dirty="0"/>
              <a:t>Each class has a class ID (or </a:t>
            </a:r>
            <a:r>
              <a:rPr lang="en-US" dirty="0" err="1"/>
              <a:t>clid</a:t>
            </a:r>
            <a:r>
              <a:rPr lang="en-US" dirty="0"/>
              <a:t>)</a:t>
            </a:r>
          </a:p>
          <a:p>
            <a:r>
              <a:rPr lang="en-US" dirty="0"/>
              <a:t>Classes have properties with a field ID (</a:t>
            </a:r>
            <a:r>
              <a:rPr lang="en-US" dirty="0" err="1"/>
              <a:t>flid</a:t>
            </a:r>
            <a:r>
              <a:rPr lang="en-US" dirty="0"/>
              <a:t>) that stores data.</a:t>
            </a:r>
          </a:p>
          <a:p>
            <a:r>
              <a:rPr lang="en-US" dirty="0"/>
              <a:t>Classes are </a:t>
            </a:r>
            <a:r>
              <a:rPr lang="en-US" dirty="0" err="1"/>
              <a:t>hierarchial</a:t>
            </a:r>
            <a:r>
              <a:rPr lang="en-US" dirty="0"/>
              <a:t> starting with </a:t>
            </a:r>
            <a:r>
              <a:rPr lang="en-US" dirty="0" err="1"/>
              <a:t>CmObject</a:t>
            </a:r>
            <a:r>
              <a:rPr lang="en-US" dirty="0"/>
              <a:t>. Each subclass inherits properties from all </a:t>
            </a:r>
            <a:r>
              <a:rPr lang="en-US" dirty="0" err="1"/>
              <a:t>superclasses</a:t>
            </a:r>
            <a:r>
              <a:rPr lang="en-US" dirty="0"/>
              <a:t>.</a:t>
            </a:r>
          </a:p>
          <a:p>
            <a:r>
              <a:rPr lang="en-US" dirty="0"/>
              <a:t>Information that occurs more than once in an object requires additional objects that can be repeated, resulting in an ownership hierarchy.</a:t>
            </a:r>
          </a:p>
          <a:p>
            <a:r>
              <a:rPr lang="en-US" dirty="0"/>
              <a:t>Abstract classes cannot occur in data, but their subclasses can.</a:t>
            </a:r>
          </a:p>
        </p:txBody>
      </p:sp>
      <p:pic>
        <p:nvPicPr>
          <p:cNvPr id="7" name="Picture 6">
            <a:extLst>
              <a:ext uri="{FF2B5EF4-FFF2-40B4-BE49-F238E27FC236}">
                <a16:creationId xmlns:a16="http://schemas.microsoft.com/office/drawing/2014/main" id="{4A3D0EAF-03EF-4D63-876C-FDD6EBF3D955}"/>
              </a:ext>
            </a:extLst>
          </p:cNvPr>
          <p:cNvPicPr>
            <a:picLocks noChangeAspect="1"/>
          </p:cNvPicPr>
          <p:nvPr/>
        </p:nvPicPr>
        <p:blipFill>
          <a:blip r:embed="rId2"/>
          <a:stretch>
            <a:fillRect/>
          </a:stretch>
        </p:blipFill>
        <p:spPr>
          <a:xfrm>
            <a:off x="1733111" y="5139270"/>
            <a:ext cx="8255086" cy="1563463"/>
          </a:xfrm>
          <a:prstGeom prst="rect">
            <a:avLst/>
          </a:prstGeom>
        </p:spPr>
      </p:pic>
    </p:spTree>
    <p:extLst>
      <p:ext uri="{BB962C8B-B14F-4D97-AF65-F5344CB8AC3E}">
        <p14:creationId xmlns:p14="http://schemas.microsoft.com/office/powerpoint/2010/main" val="2117161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Writing Systems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Almost every string or substring in FLEx is tagged with a writing system that identifies the data in that string.</a:t>
            </a:r>
          </a:p>
          <a:p>
            <a:r>
              <a:rPr lang="en-US" dirty="0"/>
              <a:t>Writing systems define language, script, region, collation, font, keyboard, how to display dates, time, localized language and country names, and many other things that FLEx ignores, but passes on.</a:t>
            </a:r>
          </a:p>
          <a:p>
            <a:r>
              <a:rPr lang="en-US" dirty="0"/>
              <a:t>Writing system tagging and data structure is stored in Locale Data Markup .</a:t>
            </a:r>
            <a:r>
              <a:rPr lang="en-US" dirty="0" err="1"/>
              <a:t>ldml</a:t>
            </a:r>
            <a:r>
              <a:rPr lang="en-US" dirty="0"/>
              <a:t> files as defined in Unicode Technical Standard #35 (</a:t>
            </a:r>
            <a:r>
              <a:rPr lang="en-US" u="sng" dirty="0">
                <a:hlinkClick r:id="rId2"/>
              </a:rPr>
              <a:t>http://unicode.org/reports/tr35/</a:t>
            </a:r>
            <a:r>
              <a:rPr lang="en-US" u="sng" dirty="0"/>
              <a:t>) </a:t>
            </a:r>
            <a:r>
              <a:rPr lang="en-US" dirty="0"/>
              <a:t>and is enforced by FLEx.</a:t>
            </a:r>
            <a:br>
              <a:rPr lang="en-US" dirty="0"/>
            </a:br>
            <a:r>
              <a:rPr lang="en-US" dirty="0" err="1"/>
              <a:t>ar</a:t>
            </a:r>
            <a:r>
              <a:rPr lang="en-US" dirty="0"/>
              <a:t>: Arabic language in Arabic script</a:t>
            </a:r>
            <a:br>
              <a:rPr lang="en-US" dirty="0"/>
            </a:br>
            <a:r>
              <a:rPr lang="en-US" dirty="0" err="1"/>
              <a:t>ar-latn</a:t>
            </a:r>
            <a:r>
              <a:rPr lang="en-US" dirty="0"/>
              <a:t>: Arabic language in a Romanized script</a:t>
            </a:r>
            <a:br>
              <a:rPr lang="en-US" dirty="0"/>
            </a:br>
            <a:r>
              <a:rPr lang="en-US" dirty="0" err="1"/>
              <a:t>ar-fonipa</a:t>
            </a:r>
            <a:r>
              <a:rPr lang="en-US" dirty="0"/>
              <a:t>: Arabic language in the International Phonetic Alphabet</a:t>
            </a:r>
            <a:br>
              <a:rPr lang="en-US" dirty="0"/>
            </a:br>
            <a:r>
              <a:rPr lang="en-US" dirty="0" err="1"/>
              <a:t>ar</a:t>
            </a:r>
            <a:r>
              <a:rPr lang="en-US" dirty="0"/>
              <a:t>-</a:t>
            </a:r>
            <a:r>
              <a:rPr lang="en-US" dirty="0" err="1"/>
              <a:t>Zxxx</a:t>
            </a:r>
            <a:r>
              <a:rPr lang="en-US" dirty="0"/>
              <a:t>-x-audio: Audio recording of Arabic language (SIL user-defined)</a:t>
            </a:r>
          </a:p>
        </p:txBody>
      </p:sp>
    </p:spTree>
    <p:extLst>
      <p:ext uri="{BB962C8B-B14F-4D97-AF65-F5344CB8AC3E}">
        <p14:creationId xmlns:p14="http://schemas.microsoft.com/office/powerpoint/2010/main" val="804396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SIL Writing System Technology Department</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77500" lnSpcReduction="20000"/>
          </a:bodyPr>
          <a:lstStyle/>
          <a:p>
            <a:r>
              <a:rPr lang="en-US" dirty="0" err="1"/>
              <a:t>WSTech</a:t>
            </a:r>
            <a:r>
              <a:rPr lang="en-US" dirty="0"/>
              <a:t> works with the Unicode Consortium to help bring new languages and information into the standard.</a:t>
            </a:r>
          </a:p>
          <a:p>
            <a:r>
              <a:rPr lang="en-US" dirty="0" err="1"/>
              <a:t>WSTech</a:t>
            </a:r>
            <a:r>
              <a:rPr lang="en-US" dirty="0"/>
              <a:t> maintains a web API to provide writing system information</a:t>
            </a:r>
            <a:br>
              <a:rPr lang="en-US" dirty="0"/>
            </a:br>
            <a:r>
              <a:rPr lang="en-US" u="sng" dirty="0">
                <a:hlinkClick r:id="rId2"/>
              </a:rPr>
              <a:t>https://ldml.api.sil.org/en</a:t>
            </a:r>
            <a:r>
              <a:rPr lang="en-US" dirty="0"/>
              <a:t> will return an English </a:t>
            </a:r>
            <a:r>
              <a:rPr lang="en-US" dirty="0" err="1"/>
              <a:t>ldml</a:t>
            </a:r>
            <a:r>
              <a:rPr lang="en-US" dirty="0"/>
              <a:t> file with some specialized SIL information on fonts, keyboards, etc.</a:t>
            </a:r>
          </a:p>
          <a:p>
            <a:r>
              <a:rPr lang="en-US" dirty="0" err="1"/>
              <a:t>WSTech</a:t>
            </a:r>
            <a:r>
              <a:rPr lang="en-US" dirty="0"/>
              <a:t> maintains a list of valid writing system codes that FLEx uses, and stores in C:\ProgramData\SIL\SldrCache\langtags.json.</a:t>
            </a:r>
          </a:p>
          <a:p>
            <a:r>
              <a:rPr lang="en-US" dirty="0"/>
              <a:t>The </a:t>
            </a:r>
            <a:r>
              <a:rPr lang="en-US" dirty="0" err="1"/>
              <a:t>ldml</a:t>
            </a:r>
            <a:r>
              <a:rPr lang="en-US" dirty="0"/>
              <a:t> identity element has one or more of these 4 elements:</a:t>
            </a:r>
            <a:br>
              <a:rPr lang="en-US" dirty="0"/>
            </a:br>
            <a:r>
              <a:rPr lang="en-US" dirty="0"/>
              <a:t>&lt;language type="</a:t>
            </a:r>
            <a:r>
              <a:rPr lang="en-US" dirty="0" err="1"/>
              <a:t>en</a:t>
            </a:r>
            <a:r>
              <a:rPr lang="en-US" dirty="0"/>
              <a:t>" /&gt;</a:t>
            </a:r>
            <a:br>
              <a:rPr lang="en-US" dirty="0"/>
            </a:br>
            <a:r>
              <a:rPr lang="en-US" dirty="0"/>
              <a:t>&lt;script type="</a:t>
            </a:r>
            <a:r>
              <a:rPr lang="en-US" dirty="0" err="1"/>
              <a:t>Latn</a:t>
            </a:r>
            <a:r>
              <a:rPr lang="en-US" dirty="0"/>
              <a:t>" /&gt;</a:t>
            </a:r>
            <a:br>
              <a:rPr lang="en-US" dirty="0"/>
            </a:br>
            <a:r>
              <a:rPr lang="en-US" dirty="0"/>
              <a:t>&lt;region type="US" /&gt;</a:t>
            </a:r>
            <a:br>
              <a:rPr lang="en-US" dirty="0"/>
            </a:br>
            <a:r>
              <a:rPr lang="en-US" dirty="0"/>
              <a:t>&lt;variant type="x-sci" /&gt;</a:t>
            </a:r>
          </a:p>
          <a:p>
            <a:r>
              <a:rPr lang="en-US" dirty="0"/>
              <a:t>Each language tag has a default script and region. </a:t>
            </a:r>
            <a:r>
              <a:rPr lang="en-US" dirty="0" err="1"/>
              <a:t>en</a:t>
            </a:r>
            <a:r>
              <a:rPr lang="en-US" dirty="0"/>
              <a:t>, </a:t>
            </a:r>
            <a:r>
              <a:rPr lang="en-US" dirty="0" err="1"/>
              <a:t>en-Latn</a:t>
            </a:r>
            <a:r>
              <a:rPr lang="en-US" dirty="0"/>
              <a:t>, and </a:t>
            </a:r>
            <a:r>
              <a:rPr lang="en-US" dirty="0" err="1"/>
              <a:t>en</a:t>
            </a:r>
            <a:r>
              <a:rPr lang="en-US" dirty="0"/>
              <a:t>-US are considered the same thing and normally use </a:t>
            </a:r>
            <a:r>
              <a:rPr lang="en-US" dirty="0" err="1"/>
              <a:t>en</a:t>
            </a:r>
            <a:r>
              <a:rPr lang="en-US" dirty="0"/>
              <a:t> as the writing system tag. FLEx will not allow </a:t>
            </a:r>
            <a:r>
              <a:rPr lang="en-US" dirty="0" err="1"/>
              <a:t>en</a:t>
            </a:r>
            <a:r>
              <a:rPr lang="en-US" dirty="0"/>
              <a:t> and </a:t>
            </a:r>
            <a:r>
              <a:rPr lang="en-US" dirty="0" err="1"/>
              <a:t>en-Latn</a:t>
            </a:r>
            <a:r>
              <a:rPr lang="en-US" dirty="0"/>
              <a:t> to be used separately in a project.</a:t>
            </a:r>
          </a:p>
          <a:p>
            <a:r>
              <a:rPr lang="en-US" dirty="0"/>
              <a:t>The writing system tag in a fwdata string property corresponds to the </a:t>
            </a:r>
            <a:r>
              <a:rPr lang="en-US" dirty="0" err="1"/>
              <a:t>ldml</a:t>
            </a:r>
            <a:r>
              <a:rPr lang="en-US" dirty="0"/>
              <a:t> file name, except in rare migrations from an older system where it then uses the internal identity (e.g., </a:t>
            </a:r>
            <a:r>
              <a:rPr lang="en-US" dirty="0" err="1"/>
              <a:t>en-Latin.ldml</a:t>
            </a:r>
            <a:r>
              <a:rPr lang="en-US" dirty="0"/>
              <a:t> has </a:t>
            </a:r>
            <a:r>
              <a:rPr lang="en-US" dirty="0" err="1"/>
              <a:t>en</a:t>
            </a:r>
            <a:r>
              <a:rPr lang="en-US" dirty="0"/>
              <a:t> internally) until a user resolves the problem.</a:t>
            </a:r>
            <a:br>
              <a:rPr lang="en-US" dirty="0"/>
            </a:br>
            <a:endParaRPr lang="en-US" dirty="0"/>
          </a:p>
        </p:txBody>
      </p:sp>
    </p:spTree>
    <p:extLst>
      <p:ext uri="{BB962C8B-B14F-4D97-AF65-F5344CB8AC3E}">
        <p14:creationId xmlns:p14="http://schemas.microsoft.com/office/powerpoint/2010/main" val="1829372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FLEx writing system storage</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Each project has a </a:t>
            </a:r>
            <a:r>
              <a:rPr lang="en-US" dirty="0" err="1"/>
              <a:t>WritingSystemStore</a:t>
            </a:r>
            <a:r>
              <a:rPr lang="en-US" dirty="0"/>
              <a:t> directory that stores all writing systems used in the project.</a:t>
            </a:r>
          </a:p>
          <a:p>
            <a:r>
              <a:rPr lang="en-US" dirty="0"/>
              <a:t>A global writing system folder is stored at C:\ProgramData\SIL\WritingSystemRepository\3</a:t>
            </a:r>
          </a:p>
          <a:p>
            <a:r>
              <a:rPr lang="en-US" dirty="0"/>
              <a:t>When a user adds a new writing system to a project, if it is present in the global store, it will copy that writing system to the project </a:t>
            </a:r>
            <a:r>
              <a:rPr lang="en-US" dirty="0" err="1"/>
              <a:t>WritingSystemStore</a:t>
            </a:r>
            <a:r>
              <a:rPr lang="en-US" dirty="0"/>
              <a:t> directory. If it is not in the global store, and the Internet is available, it will request the writing system from </a:t>
            </a:r>
            <a:r>
              <a:rPr lang="en-US" u="sng" dirty="0">
                <a:hlinkClick r:id="rId2"/>
              </a:rPr>
              <a:t>https://ldml.api.sil.org</a:t>
            </a:r>
            <a:r>
              <a:rPr lang="en-US" dirty="0"/>
              <a:t> and will store this in C:\ProgramData\SIL\SldrCache and in the global store in addition to the local project. (</a:t>
            </a:r>
            <a:r>
              <a:rPr lang="en-US" dirty="0" err="1"/>
              <a:t>langtags.json</a:t>
            </a:r>
            <a:r>
              <a:rPr lang="en-US" dirty="0"/>
              <a:t> lists all valid language codes)</a:t>
            </a:r>
          </a:p>
          <a:p>
            <a:r>
              <a:rPr lang="en-US" dirty="0"/>
              <a:t>If a writing system is modified in FLEx, the project </a:t>
            </a:r>
            <a:r>
              <a:rPr lang="en-US" dirty="0" err="1"/>
              <a:t>ldml</a:t>
            </a:r>
            <a:r>
              <a:rPr lang="en-US" dirty="0"/>
              <a:t> file is modified and then copied to the global store.</a:t>
            </a:r>
          </a:p>
        </p:txBody>
      </p:sp>
    </p:spTree>
    <p:extLst>
      <p:ext uri="{BB962C8B-B14F-4D97-AF65-F5344CB8AC3E}">
        <p14:creationId xmlns:p14="http://schemas.microsoft.com/office/powerpoint/2010/main" val="2694101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FLEx writing system use</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FLEx maintains two lists of writing systems for use in a project.</a:t>
            </a:r>
          </a:p>
          <a:p>
            <a:pPr lvl="1"/>
            <a:r>
              <a:rPr lang="en-US" dirty="0"/>
              <a:t>Vernacular: Lexeme form, example sentences, interlinear text are stored in the vernacular language. There should only be one vernacular language, but it can have any number of writing systems for that language. (Format &gt; Set up Vernacular Writing Systems).</a:t>
            </a:r>
          </a:p>
          <a:p>
            <a:pPr lvl="1"/>
            <a:r>
              <a:rPr lang="en-US" dirty="0"/>
              <a:t>Analysis: Glosses, definitions, and other languages describing this vernacular language are stored in analysis languages. FLEx can have any number of analysis languages with any number of writing systems for each one. (Format &gt; Set up Analysis Writing Systems).</a:t>
            </a:r>
          </a:p>
          <a:p>
            <a:pPr lvl="1"/>
            <a:r>
              <a:rPr lang="en-US" dirty="0"/>
              <a:t>When you hide a writing system, the data remains in the fwdata file, but it is not displayed.</a:t>
            </a:r>
          </a:p>
          <a:p>
            <a:pPr lvl="1"/>
            <a:r>
              <a:rPr lang="en-US" dirty="0"/>
              <a:t>Deleting a writing system deletes the data in </a:t>
            </a:r>
            <a:r>
              <a:rPr lang="en-US" dirty="0" err="1"/>
              <a:t>fwdata</a:t>
            </a:r>
            <a:r>
              <a:rPr lang="en-US" dirty="0"/>
              <a:t> and deletes the </a:t>
            </a:r>
            <a:r>
              <a:rPr lang="en-US" dirty="0" err="1"/>
              <a:t>ldml</a:t>
            </a:r>
            <a:r>
              <a:rPr lang="en-US" dirty="0"/>
              <a:t> file. </a:t>
            </a:r>
          </a:p>
        </p:txBody>
      </p:sp>
    </p:spTree>
    <p:extLst>
      <p:ext uri="{BB962C8B-B14F-4D97-AF65-F5344CB8AC3E}">
        <p14:creationId xmlns:p14="http://schemas.microsoft.com/office/powerpoint/2010/main" val="657835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FLEx writing system lists stored in </a:t>
            </a:r>
            <a:r>
              <a:rPr lang="en-US" dirty="0" err="1"/>
              <a:t>fwdata</a:t>
            </a:r>
            <a:endParaRPr lang="en-US" dirty="0"/>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85000" lnSpcReduction="20000"/>
          </a:bodyPr>
          <a:lstStyle/>
          <a:p>
            <a:r>
              <a:rPr lang="en-US" dirty="0"/>
              <a:t>In </a:t>
            </a:r>
            <a:r>
              <a:rPr lang="en-US" dirty="0" err="1"/>
              <a:t>fwdata</a:t>
            </a:r>
            <a:r>
              <a:rPr lang="en-US" dirty="0"/>
              <a:t>, there are 5 lists of active writing systems.</a:t>
            </a:r>
          </a:p>
          <a:p>
            <a:r>
              <a:rPr lang="en-US" dirty="0"/>
              <a:t>Writing systems listed in the writing system properties dialogs are stored as a space delimited list for vernacular and analysis and are available for use.</a:t>
            </a:r>
          </a:p>
          <a:p>
            <a:pPr lvl="1"/>
            <a:r>
              <a:rPr lang="en-US" dirty="0"/>
              <a:t>&lt;</a:t>
            </a:r>
            <a:r>
              <a:rPr lang="en-US" dirty="0" err="1"/>
              <a:t>VernWss</a:t>
            </a:r>
            <a:r>
              <a:rPr lang="en-US" dirty="0"/>
              <a:t>&gt;</a:t>
            </a:r>
            <a:br>
              <a:rPr lang="en-US" dirty="0"/>
            </a:br>
            <a:r>
              <a:rPr lang="en-US" dirty="0"/>
              <a:t>&lt;Uni&gt;</a:t>
            </a:r>
            <a:r>
              <a:rPr lang="en-US" dirty="0" err="1"/>
              <a:t>gur</a:t>
            </a:r>
            <a:r>
              <a:rPr lang="en-US" dirty="0"/>
              <a:t> </a:t>
            </a:r>
            <a:r>
              <a:rPr lang="en-US" dirty="0" err="1"/>
              <a:t>gur-fonipa</a:t>
            </a:r>
            <a:r>
              <a:rPr lang="en-US" dirty="0"/>
              <a:t>&lt;/Uni&gt;</a:t>
            </a:r>
            <a:br>
              <a:rPr lang="en-US" dirty="0"/>
            </a:br>
            <a:r>
              <a:rPr lang="en-US" dirty="0"/>
              <a:t>&lt;/</a:t>
            </a:r>
            <a:r>
              <a:rPr lang="en-US" dirty="0" err="1"/>
              <a:t>VernWss</a:t>
            </a:r>
            <a:r>
              <a:rPr lang="en-US" dirty="0"/>
              <a:t>&gt;</a:t>
            </a:r>
          </a:p>
          <a:p>
            <a:pPr lvl="1"/>
            <a:r>
              <a:rPr lang="en-US" dirty="0"/>
              <a:t>&lt;</a:t>
            </a:r>
            <a:r>
              <a:rPr lang="en-US" dirty="0" err="1"/>
              <a:t>AnalysisWss</a:t>
            </a:r>
            <a:r>
              <a:rPr lang="en-US" dirty="0"/>
              <a:t>&gt;</a:t>
            </a:r>
            <a:br>
              <a:rPr lang="en-US" dirty="0"/>
            </a:br>
            <a:r>
              <a:rPr lang="en-US" dirty="0"/>
              <a:t>&lt;Uni&gt;</a:t>
            </a:r>
            <a:r>
              <a:rPr lang="en-US" dirty="0" err="1"/>
              <a:t>fr</a:t>
            </a:r>
            <a:r>
              <a:rPr lang="en-US" dirty="0"/>
              <a:t> </a:t>
            </a:r>
            <a:r>
              <a:rPr lang="en-US" dirty="0" err="1"/>
              <a:t>en</a:t>
            </a:r>
            <a:r>
              <a:rPr lang="en-US" dirty="0"/>
              <a:t>&lt;/Uni&gt;</a:t>
            </a:r>
            <a:br>
              <a:rPr lang="en-US" dirty="0"/>
            </a:br>
            <a:r>
              <a:rPr lang="en-US" dirty="0"/>
              <a:t>&lt;/</a:t>
            </a:r>
            <a:r>
              <a:rPr lang="en-US" dirty="0" err="1"/>
              <a:t>AnalysisWss</a:t>
            </a:r>
            <a:r>
              <a:rPr lang="en-US" dirty="0"/>
              <a:t>&gt;</a:t>
            </a:r>
          </a:p>
          <a:p>
            <a:r>
              <a:rPr lang="en-US" dirty="0"/>
              <a:t>Writing systems with checks in the writing system properties dialogs are stored in a different set of elements. These normally show up on each property that supports multiple writing systems. They are defined for vernacular, analysis, and pronunciation. They are always a subset of the full lists.</a:t>
            </a:r>
          </a:p>
          <a:p>
            <a:pPr lvl="1"/>
            <a:r>
              <a:rPr lang="en-US" dirty="0"/>
              <a:t>&lt;</a:t>
            </a:r>
            <a:r>
              <a:rPr lang="en-US" dirty="0" err="1"/>
              <a:t>CurAnalysisWss</a:t>
            </a:r>
            <a:r>
              <a:rPr lang="en-US" dirty="0"/>
              <a:t>&gt;</a:t>
            </a:r>
            <a:br>
              <a:rPr lang="en-US" dirty="0"/>
            </a:br>
            <a:r>
              <a:rPr lang="en-US" dirty="0"/>
              <a:t>&lt;Uni&gt;</a:t>
            </a:r>
            <a:r>
              <a:rPr lang="en-US" dirty="0" err="1"/>
              <a:t>fr</a:t>
            </a:r>
            <a:r>
              <a:rPr lang="en-US" dirty="0"/>
              <a:t> </a:t>
            </a:r>
            <a:r>
              <a:rPr lang="en-US" dirty="0" err="1"/>
              <a:t>en</a:t>
            </a:r>
            <a:r>
              <a:rPr lang="en-US" dirty="0"/>
              <a:t>&lt;/Uni&gt;</a:t>
            </a:r>
            <a:br>
              <a:rPr lang="en-US" dirty="0"/>
            </a:br>
            <a:r>
              <a:rPr lang="en-US" dirty="0"/>
              <a:t>&lt;/</a:t>
            </a:r>
            <a:r>
              <a:rPr lang="en-US" dirty="0" err="1"/>
              <a:t>CurAnalysisWss</a:t>
            </a:r>
            <a:r>
              <a:rPr lang="en-US" dirty="0"/>
              <a:t>&gt;</a:t>
            </a:r>
          </a:p>
          <a:p>
            <a:pPr lvl="1"/>
            <a:r>
              <a:rPr lang="en-US" dirty="0"/>
              <a:t>&lt;</a:t>
            </a:r>
            <a:r>
              <a:rPr lang="en-US" dirty="0" err="1"/>
              <a:t>CurPronunWss</a:t>
            </a:r>
            <a:r>
              <a:rPr lang="en-US" dirty="0"/>
              <a:t>&gt;</a:t>
            </a:r>
            <a:br>
              <a:rPr lang="en-US" dirty="0"/>
            </a:br>
            <a:r>
              <a:rPr lang="en-US" dirty="0"/>
              <a:t>&lt;Uni&gt;</a:t>
            </a:r>
            <a:r>
              <a:rPr lang="en-US" dirty="0" err="1"/>
              <a:t>gur</a:t>
            </a:r>
            <a:r>
              <a:rPr lang="en-US" dirty="0"/>
              <a:t>&lt;/Uni&gt;</a:t>
            </a:r>
            <a:br>
              <a:rPr lang="en-US" dirty="0"/>
            </a:br>
            <a:r>
              <a:rPr lang="en-US" dirty="0"/>
              <a:t>&lt;/</a:t>
            </a:r>
            <a:r>
              <a:rPr lang="en-US" dirty="0" err="1"/>
              <a:t>CurPronunWss</a:t>
            </a:r>
            <a:r>
              <a:rPr lang="en-US" dirty="0"/>
              <a:t>&gt;</a:t>
            </a:r>
          </a:p>
          <a:p>
            <a:pPr lvl="1"/>
            <a:r>
              <a:rPr lang="en-US" dirty="0"/>
              <a:t>&lt;</a:t>
            </a:r>
            <a:r>
              <a:rPr lang="en-US" dirty="0" err="1"/>
              <a:t>CurVernWss</a:t>
            </a:r>
            <a:r>
              <a:rPr lang="en-US" dirty="0"/>
              <a:t>&gt;</a:t>
            </a:r>
            <a:br>
              <a:rPr lang="en-US" dirty="0"/>
            </a:br>
            <a:r>
              <a:rPr lang="en-US" dirty="0"/>
              <a:t>&lt;Uni&gt;</a:t>
            </a:r>
            <a:r>
              <a:rPr lang="en-US" dirty="0" err="1"/>
              <a:t>gur</a:t>
            </a:r>
            <a:r>
              <a:rPr lang="en-US" dirty="0"/>
              <a:t> </a:t>
            </a:r>
            <a:r>
              <a:rPr lang="en-US" dirty="0" err="1"/>
              <a:t>gur-fonipa</a:t>
            </a:r>
            <a:r>
              <a:rPr lang="en-US" dirty="0"/>
              <a:t>&lt;/Uni&gt;</a:t>
            </a:r>
            <a:br>
              <a:rPr lang="en-US" dirty="0"/>
            </a:br>
            <a:r>
              <a:rPr lang="en-US" dirty="0"/>
              <a:t>&lt;/</a:t>
            </a:r>
            <a:r>
              <a:rPr lang="en-US" dirty="0" err="1"/>
              <a:t>CurVernWss</a:t>
            </a:r>
            <a:r>
              <a:rPr lang="en-US" dirty="0"/>
              <a:t>&gt;</a:t>
            </a:r>
          </a:p>
          <a:p>
            <a:endParaRPr lang="en-US" dirty="0"/>
          </a:p>
        </p:txBody>
      </p:sp>
    </p:spTree>
    <p:extLst>
      <p:ext uri="{BB962C8B-B14F-4D97-AF65-F5344CB8AC3E}">
        <p14:creationId xmlns:p14="http://schemas.microsoft.com/office/powerpoint/2010/main" val="1256002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FLEx shared settings for writing systems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dirty="0"/>
              <a:t>The </a:t>
            </a:r>
            <a:r>
              <a:rPr lang="en-US" dirty="0" err="1"/>
              <a:t>SharedSettings</a:t>
            </a:r>
            <a:r>
              <a:rPr lang="en-US" dirty="0"/>
              <a:t> folder in a project has a .</a:t>
            </a:r>
            <a:r>
              <a:rPr lang="en-US" dirty="0" err="1"/>
              <a:t>plsx</a:t>
            </a:r>
            <a:r>
              <a:rPr lang="en-US" dirty="0"/>
              <a:t> file that is shared in Send/Receive, and one or more .</a:t>
            </a:r>
            <a:r>
              <a:rPr lang="en-US" dirty="0" err="1"/>
              <a:t>ulsx</a:t>
            </a:r>
            <a:r>
              <a:rPr lang="en-US" dirty="0"/>
              <a:t> files that are not shared in S/R.</a:t>
            </a:r>
          </a:p>
          <a:p>
            <a:r>
              <a:rPr lang="en-US" dirty="0"/>
              <a:t>This means each user can have a different font and keyboard for a writing system, but it also means that each user must make sure each writing system font and keyboard is set properly when they get a project from colleague, or after a project reset. Also, these fonts can be overridden by styles.</a:t>
            </a:r>
          </a:p>
          <a:p>
            <a:r>
              <a:rPr lang="en-US" dirty="0"/>
              <a:t>.</a:t>
            </a:r>
            <a:r>
              <a:rPr lang="en-US" dirty="0" err="1"/>
              <a:t>plsx</a:t>
            </a:r>
            <a:r>
              <a:rPr lang="en-US" dirty="0"/>
              <a:t> files store language name, abbreviation, and spell checking IDs.</a:t>
            </a:r>
            <a:br>
              <a:rPr lang="en-US" dirty="0"/>
            </a:br>
            <a:r>
              <a:rPr lang="en-US" sz="2400" dirty="0"/>
              <a:t>&lt;</a:t>
            </a:r>
            <a:r>
              <a:rPr lang="en-US" sz="2400" dirty="0" err="1"/>
              <a:t>WritingSystem</a:t>
            </a:r>
            <a:r>
              <a:rPr lang="en-US" sz="2400" dirty="0"/>
              <a:t> id="tog"&gt;</a:t>
            </a:r>
            <a:br>
              <a:rPr lang="en-US" sz="2400" dirty="0"/>
            </a:br>
            <a:r>
              <a:rPr lang="en-US" sz="2400" dirty="0"/>
              <a:t>  &lt;Abbreviation&gt;Ton&lt;/Abbreviation&gt;</a:t>
            </a:r>
            <a:br>
              <a:rPr lang="en-US" sz="2400" dirty="0"/>
            </a:br>
            <a:r>
              <a:rPr lang="en-US" sz="2400" dirty="0"/>
              <a:t>  &lt;</a:t>
            </a:r>
            <a:r>
              <a:rPr lang="en-US" sz="2400" dirty="0" err="1"/>
              <a:t>LanguageName</a:t>
            </a:r>
            <a:r>
              <a:rPr lang="en-US" sz="2400" dirty="0"/>
              <a:t>&gt;Tonga (Nyasa)&lt;/</a:t>
            </a:r>
            <a:r>
              <a:rPr lang="en-US" sz="2400" dirty="0" err="1"/>
              <a:t>LanguageName</a:t>
            </a:r>
            <a:r>
              <a:rPr lang="en-US" sz="2400" dirty="0"/>
              <a:t>&gt;</a:t>
            </a:r>
            <a:br>
              <a:rPr lang="en-US" sz="2400" dirty="0"/>
            </a:br>
            <a:r>
              <a:rPr lang="en-US" sz="2400" dirty="0"/>
              <a:t>  &lt;</a:t>
            </a:r>
            <a:r>
              <a:rPr lang="en-US" sz="2400" dirty="0" err="1"/>
              <a:t>SpellCheckingId</a:t>
            </a:r>
            <a:r>
              <a:rPr lang="en-US" sz="2400" dirty="0"/>
              <a:t>&gt;tog&lt;/</a:t>
            </a:r>
            <a:r>
              <a:rPr lang="en-US" sz="2400" dirty="0" err="1"/>
              <a:t>SpellCheckingId</a:t>
            </a:r>
            <a:r>
              <a:rPr lang="en-US" sz="2400" dirty="0"/>
              <a:t>&gt;</a:t>
            </a:r>
            <a:br>
              <a:rPr lang="en-US" sz="2400" dirty="0"/>
            </a:br>
            <a:r>
              <a:rPr lang="en-US" sz="2400" dirty="0"/>
              <a:t>&lt;/</a:t>
            </a:r>
            <a:r>
              <a:rPr lang="en-US" sz="2400" dirty="0" err="1"/>
              <a:t>WritingSystem</a:t>
            </a:r>
            <a:r>
              <a:rPr lang="en-US" sz="2400" dirty="0"/>
              <a:t>&gt;</a:t>
            </a:r>
          </a:p>
          <a:p>
            <a:r>
              <a:rPr lang="en-US" dirty="0"/>
              <a:t>.</a:t>
            </a:r>
            <a:r>
              <a:rPr lang="en-US" dirty="0" err="1"/>
              <a:t>ulsx</a:t>
            </a:r>
            <a:r>
              <a:rPr lang="en-US" dirty="0"/>
              <a:t> files store font and keyboard information.</a:t>
            </a:r>
            <a:br>
              <a:rPr lang="en-US" dirty="0"/>
            </a:br>
            <a:r>
              <a:rPr lang="en-US" sz="2400" dirty="0"/>
              <a:t>&lt;</a:t>
            </a:r>
            <a:r>
              <a:rPr lang="en-US" sz="2400" dirty="0" err="1"/>
              <a:t>WritingSystem</a:t>
            </a:r>
            <a:r>
              <a:rPr lang="en-US" sz="2400" dirty="0"/>
              <a:t> id="tog-018-x-leya"&gt;</a:t>
            </a:r>
            <a:br>
              <a:rPr lang="en-US" sz="2400" dirty="0"/>
            </a:br>
            <a:r>
              <a:rPr lang="en-US" sz="2400" dirty="0"/>
              <a:t>   &lt;</a:t>
            </a:r>
            <a:r>
              <a:rPr lang="en-US" sz="2400" dirty="0" err="1"/>
              <a:t>LocalKeyboard</a:t>
            </a:r>
            <a:r>
              <a:rPr lang="en-US" sz="2400" dirty="0"/>
              <a:t>&gt;</a:t>
            </a:r>
            <a:r>
              <a:rPr lang="en-US" sz="2400" dirty="0" err="1"/>
              <a:t>en</a:t>
            </a:r>
            <a:r>
              <a:rPr lang="en-US" sz="2400" dirty="0"/>
              <a:t>-US_US_US&lt;/</a:t>
            </a:r>
            <a:r>
              <a:rPr lang="en-US" sz="2400" dirty="0" err="1"/>
              <a:t>LocalKeyboard</a:t>
            </a:r>
            <a:r>
              <a:rPr lang="en-US" sz="2400" dirty="0"/>
              <a:t>&gt;</a:t>
            </a:r>
            <a:br>
              <a:rPr lang="en-US" sz="2400" dirty="0"/>
            </a:br>
            <a:r>
              <a:rPr lang="en-US" sz="2400" dirty="0"/>
              <a:t>   &lt;</a:t>
            </a:r>
            <a:r>
              <a:rPr lang="en-US" sz="2400" dirty="0" err="1"/>
              <a:t>DefaultFontName</a:t>
            </a:r>
            <a:r>
              <a:rPr lang="en-US" sz="2400" dirty="0"/>
              <a:t>&gt;Charis SIL&lt;/</a:t>
            </a:r>
            <a:r>
              <a:rPr lang="en-US" sz="2400" dirty="0" err="1"/>
              <a:t>DefaultFontName</a:t>
            </a:r>
            <a:r>
              <a:rPr lang="en-US" sz="2400" dirty="0"/>
              <a:t>&gt;</a:t>
            </a:r>
            <a:br>
              <a:rPr lang="en-US" sz="2400" dirty="0"/>
            </a:br>
            <a:r>
              <a:rPr lang="en-US" sz="2400" dirty="0"/>
              <a:t>&lt;/</a:t>
            </a:r>
            <a:r>
              <a:rPr lang="en-US" sz="2400" dirty="0" err="1"/>
              <a:t>WritingSystem</a:t>
            </a:r>
            <a:r>
              <a:rPr lang="en-US" sz="2400" dirty="0"/>
              <a:t>&gt;</a:t>
            </a:r>
          </a:p>
        </p:txBody>
      </p:sp>
    </p:spTree>
    <p:extLst>
      <p:ext uri="{BB962C8B-B14F-4D97-AF65-F5344CB8AC3E}">
        <p14:creationId xmlns:p14="http://schemas.microsoft.com/office/powerpoint/2010/main" val="3550025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strings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All strings in </a:t>
            </a:r>
            <a:r>
              <a:rPr lang="en-US" dirty="0" err="1"/>
              <a:t>FieldWorks</a:t>
            </a:r>
            <a:r>
              <a:rPr lang="en-US" dirty="0"/>
              <a:t> store Unicode data. In the </a:t>
            </a:r>
            <a:r>
              <a:rPr lang="en-US" dirty="0" err="1"/>
              <a:t>fwdata</a:t>
            </a:r>
            <a:r>
              <a:rPr lang="en-US" dirty="0"/>
              <a:t> file it is stored in NFC normalization. There are two basic types of strings, which are poorly named since all strings are in Unicode. </a:t>
            </a:r>
          </a:p>
          <a:p>
            <a:pPr lvl="0"/>
            <a:r>
              <a:rPr lang="en-US" dirty="0"/>
              <a:t>Unicode: A sequence of Unicode characters which does not allow any embedding. In the FLEx UI, the writing system and style combo boxes are disabled in the toolbar.</a:t>
            </a:r>
          </a:p>
          <a:p>
            <a:pPr lvl="0"/>
            <a:r>
              <a:rPr lang="en-US" dirty="0"/>
              <a:t>String: A sequence of Unicode characters that can have embedded substrings with styles and different writing systems, plus some other specialized attributes. In the FLEx UI, the writing system and style combo boxes are enabled in the toolbar.</a:t>
            </a:r>
          </a:p>
          <a:p>
            <a:pPr lvl="0"/>
            <a:r>
              <a:rPr lang="en-US" dirty="0"/>
              <a:t>The FW6 SQL version also had Big varieties, but in FW7 and later, with XML data the size did not matter, so Big is no longer used.</a:t>
            </a:r>
          </a:p>
          <a:p>
            <a:endParaRPr lang="en-US" dirty="0"/>
          </a:p>
        </p:txBody>
      </p:sp>
    </p:spTree>
    <p:extLst>
      <p:ext uri="{BB962C8B-B14F-4D97-AF65-F5344CB8AC3E}">
        <p14:creationId xmlns:p14="http://schemas.microsoft.com/office/powerpoint/2010/main" val="1050266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strings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dirty="0"/>
              <a:t>Both type of strings in Fieldworks should never have a CRLF or tab. FLEx tries to prevent this on import, typing, pasting, etc. Occasionally something slips through. In this case, when the field is displayed, all of the text following the CRLF or tab will not show. If you place your cursor at what appears to be the end of the string, and press Delete, it will delete the CRLF or tab and you’ll see the rest of the string.</a:t>
            </a:r>
          </a:p>
          <a:p>
            <a:r>
              <a:rPr lang="en-US" dirty="0"/>
              <a:t>FLEx can force a line break in either type of string. In the UI, this happens when you enter </a:t>
            </a:r>
            <a:r>
              <a:rPr lang="en-US" dirty="0" err="1"/>
              <a:t>Shift+Enter</a:t>
            </a:r>
            <a:r>
              <a:rPr lang="en-US" dirty="0"/>
              <a:t>. This inserts a U+2028 LINE SEPARATOR character in the string. This is somewhat similar to having new paragraphs in a string, but it’s still a single string.</a:t>
            </a:r>
          </a:p>
          <a:p>
            <a:r>
              <a:rPr lang="en-US" dirty="0"/>
              <a:t>Both types of strings can be used by itself in a property, or a property can hold multiple sets of equivalent strings in different languages or writing systems (MultiUnicode and </a:t>
            </a:r>
            <a:r>
              <a:rPr lang="en-US" dirty="0" err="1"/>
              <a:t>MultString</a:t>
            </a:r>
            <a:r>
              <a:rPr lang="en-US" dirty="0"/>
              <a:t>). The multiple property always has a writing system associated with each alternative string. In a multiple property, every string in the property must have a unique writing system. The strings in a multiple property are normally the same string written in a different language (e.g., English, French, German) or writing system (e.g., normal or IPA), or any combination of these.</a:t>
            </a:r>
          </a:p>
          <a:p>
            <a:endParaRPr lang="en-US" dirty="0"/>
          </a:p>
        </p:txBody>
      </p:sp>
    </p:spTree>
    <p:extLst>
      <p:ext uri="{BB962C8B-B14F-4D97-AF65-F5344CB8AC3E}">
        <p14:creationId xmlns:p14="http://schemas.microsoft.com/office/powerpoint/2010/main" val="700497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Unicode</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lnSpcReduction="10000"/>
          </a:bodyPr>
          <a:lstStyle/>
          <a:p>
            <a:r>
              <a:rPr lang="en-US" dirty="0"/>
              <a:t>Unicode strings are just a sequence of characters with no formatting.</a:t>
            </a:r>
            <a:br>
              <a:rPr lang="en-US" dirty="0"/>
            </a:br>
            <a:r>
              <a:rPr lang="fr-FR" dirty="0"/>
              <a:t>&lt;Name&gt;</a:t>
            </a:r>
            <a:br>
              <a:rPr lang="fr-FR" dirty="0"/>
            </a:br>
            <a:r>
              <a:rPr lang="fr-FR" dirty="0"/>
              <a:t>&lt;Uni&gt;</a:t>
            </a:r>
            <a:r>
              <a:rPr lang="fr-FR" dirty="0" err="1"/>
              <a:t>Title</a:t>
            </a:r>
            <a:r>
              <a:rPr lang="fr-FR" dirty="0"/>
              <a:t> </a:t>
            </a:r>
            <a:r>
              <a:rPr lang="fr-FR" dirty="0" err="1"/>
              <a:t>Secondary</a:t>
            </a:r>
            <a:r>
              <a:rPr lang="fr-FR" dirty="0"/>
              <a:t>&lt;/Uni&gt;</a:t>
            </a:r>
            <a:br>
              <a:rPr lang="fr-FR" dirty="0"/>
            </a:br>
            <a:r>
              <a:rPr lang="fr-FR" dirty="0"/>
              <a:t>&lt;/Name&gt;</a:t>
            </a:r>
            <a:br>
              <a:rPr lang="fr-FR" dirty="0"/>
            </a:br>
            <a:r>
              <a:rPr lang="fr-FR" dirty="0"/>
              <a:t>This </a:t>
            </a:r>
            <a:r>
              <a:rPr lang="fr-FR" dirty="0" err="1"/>
              <a:t>is</a:t>
            </a:r>
            <a:r>
              <a:rPr lang="fr-FR" dirty="0"/>
              <a:t> the Name </a:t>
            </a:r>
            <a:r>
              <a:rPr lang="fr-FR" dirty="0" err="1"/>
              <a:t>property</a:t>
            </a:r>
            <a:r>
              <a:rPr lang="fr-FR" dirty="0"/>
              <a:t> in </a:t>
            </a:r>
            <a:r>
              <a:rPr lang="fr-FR" dirty="0" err="1"/>
              <a:t>StStyle</a:t>
            </a:r>
            <a:r>
              <a:rPr lang="fr-FR" dirty="0"/>
              <a:t>. The string </a:t>
            </a:r>
            <a:r>
              <a:rPr lang="fr-FR" dirty="0" err="1"/>
              <a:t>is</a:t>
            </a:r>
            <a:r>
              <a:rPr lang="fr-FR" dirty="0"/>
              <a:t> in a single Uni </a:t>
            </a:r>
            <a:r>
              <a:rPr lang="fr-FR" dirty="0" err="1"/>
              <a:t>element</a:t>
            </a:r>
            <a:r>
              <a:rPr lang="fr-FR" dirty="0"/>
              <a:t>.</a:t>
            </a:r>
          </a:p>
          <a:p>
            <a:r>
              <a:rPr lang="fr-FR" dirty="0"/>
              <a:t>FLEx </a:t>
            </a:r>
            <a:r>
              <a:rPr lang="fr-FR" dirty="0" err="1"/>
              <a:t>needs</a:t>
            </a:r>
            <a:r>
              <a:rPr lang="fr-FR" dirty="0"/>
              <a:t> to use a font </a:t>
            </a:r>
            <a:r>
              <a:rPr lang="fr-FR" dirty="0" err="1"/>
              <a:t>from</a:t>
            </a:r>
            <a:r>
              <a:rPr lang="fr-FR" dirty="0"/>
              <a:t> a </a:t>
            </a:r>
            <a:r>
              <a:rPr lang="fr-FR" dirty="0" err="1"/>
              <a:t>writing</a:t>
            </a:r>
            <a:r>
              <a:rPr lang="fr-FR" dirty="0"/>
              <a:t> system </a:t>
            </a:r>
            <a:r>
              <a:rPr lang="fr-FR" dirty="0" err="1"/>
              <a:t>when</a:t>
            </a:r>
            <a:r>
              <a:rPr lang="fr-FR" dirty="0"/>
              <a:t> </a:t>
            </a:r>
            <a:r>
              <a:rPr lang="fr-FR" dirty="0" err="1"/>
              <a:t>displaying</a:t>
            </a:r>
            <a:r>
              <a:rPr lang="fr-FR" dirty="0"/>
              <a:t>, and uses an open box for </a:t>
            </a:r>
            <a:r>
              <a:rPr lang="fr-FR" dirty="0" err="1"/>
              <a:t>characters</a:t>
            </a:r>
            <a:r>
              <a:rPr lang="fr-FR" dirty="0"/>
              <a:t> </a:t>
            </a:r>
            <a:r>
              <a:rPr lang="fr-FR" dirty="0" err="1"/>
              <a:t>without</a:t>
            </a:r>
            <a:r>
              <a:rPr lang="fr-FR" dirty="0"/>
              <a:t> a </a:t>
            </a:r>
            <a:r>
              <a:rPr lang="fr-FR" dirty="0" err="1"/>
              <a:t>glyph</a:t>
            </a:r>
            <a:r>
              <a:rPr lang="fr-FR" dirty="0"/>
              <a:t> in the font. Dictionary </a:t>
            </a:r>
            <a:r>
              <a:rPr lang="fr-FR" dirty="0" err="1"/>
              <a:t>view</a:t>
            </a:r>
            <a:r>
              <a:rPr lang="fr-FR" dirty="0"/>
              <a:t> </a:t>
            </a:r>
            <a:r>
              <a:rPr lang="fr-FR" dirty="0" err="1"/>
              <a:t>is</a:t>
            </a:r>
            <a:r>
              <a:rPr lang="fr-FR" dirty="0"/>
              <a:t> a browser </a:t>
            </a:r>
            <a:r>
              <a:rPr lang="fr-FR" dirty="0" err="1"/>
              <a:t>view</a:t>
            </a:r>
            <a:r>
              <a:rPr lang="fr-FR" dirty="0"/>
              <a:t> </a:t>
            </a:r>
            <a:r>
              <a:rPr lang="fr-FR" dirty="0" err="1"/>
              <a:t>that</a:t>
            </a:r>
            <a:r>
              <a:rPr lang="fr-FR" dirty="0"/>
              <a:t> substitutes </a:t>
            </a:r>
            <a:r>
              <a:rPr lang="fr-FR" dirty="0" err="1"/>
              <a:t>glyphs</a:t>
            </a:r>
            <a:r>
              <a:rPr lang="fr-FR" dirty="0"/>
              <a:t> as </a:t>
            </a:r>
            <a:r>
              <a:rPr lang="fr-FR" dirty="0" err="1"/>
              <a:t>needed</a:t>
            </a:r>
            <a:r>
              <a:rPr lang="fr-FR" dirty="0"/>
              <a:t>.</a:t>
            </a:r>
          </a:p>
          <a:p>
            <a:r>
              <a:rPr lang="fr-FR" dirty="0"/>
              <a:t>As in </a:t>
            </a:r>
            <a:r>
              <a:rPr lang="fr-FR" dirty="0" err="1"/>
              <a:t>any</a:t>
            </a:r>
            <a:r>
              <a:rPr lang="fr-FR" dirty="0"/>
              <a:t> XML file, </a:t>
            </a:r>
            <a:r>
              <a:rPr lang="fr-FR" dirty="0" err="1"/>
              <a:t>some</a:t>
            </a:r>
            <a:r>
              <a:rPr lang="fr-FR" dirty="0"/>
              <a:t> </a:t>
            </a:r>
            <a:r>
              <a:rPr lang="fr-FR" dirty="0" err="1"/>
              <a:t>characters</a:t>
            </a:r>
            <a:r>
              <a:rPr lang="fr-FR" dirty="0"/>
              <a:t> must use </a:t>
            </a:r>
            <a:r>
              <a:rPr lang="fr-FR" dirty="0" err="1"/>
              <a:t>character</a:t>
            </a:r>
            <a:r>
              <a:rPr lang="fr-FR" dirty="0"/>
              <a:t> </a:t>
            </a:r>
            <a:r>
              <a:rPr lang="fr-FR" dirty="0" err="1"/>
              <a:t>identities</a:t>
            </a:r>
            <a:r>
              <a:rPr lang="fr-FR" dirty="0"/>
              <a:t>:</a:t>
            </a:r>
          </a:p>
          <a:p>
            <a:pPr lvl="1"/>
            <a:r>
              <a:rPr lang="en-US" dirty="0"/>
              <a:t>Ampersand − &amp;amp;</a:t>
            </a:r>
          </a:p>
          <a:p>
            <a:pPr lvl="1"/>
            <a:r>
              <a:rPr lang="en-US" dirty="0"/>
              <a:t>Single quote − &amp;</a:t>
            </a:r>
            <a:r>
              <a:rPr lang="en-US" dirty="0" err="1"/>
              <a:t>apos</a:t>
            </a:r>
            <a:r>
              <a:rPr lang="en-US" dirty="0"/>
              <a:t>;</a:t>
            </a:r>
          </a:p>
          <a:p>
            <a:pPr lvl="1"/>
            <a:r>
              <a:rPr lang="en-US" dirty="0"/>
              <a:t>Greater than − &amp;</a:t>
            </a:r>
            <a:r>
              <a:rPr lang="en-US" dirty="0" err="1"/>
              <a:t>gt</a:t>
            </a:r>
            <a:r>
              <a:rPr lang="en-US" dirty="0"/>
              <a:t>;</a:t>
            </a:r>
          </a:p>
          <a:p>
            <a:pPr lvl="1"/>
            <a:r>
              <a:rPr lang="en-US" dirty="0"/>
              <a:t>Less than − &amp;</a:t>
            </a:r>
            <a:r>
              <a:rPr lang="en-US" dirty="0" err="1"/>
              <a:t>lt</a:t>
            </a:r>
            <a:r>
              <a:rPr lang="en-US" dirty="0"/>
              <a:t>;</a:t>
            </a:r>
          </a:p>
          <a:p>
            <a:pPr lvl="1"/>
            <a:r>
              <a:rPr lang="en-US" dirty="0"/>
              <a:t>Double quote − &amp;</a:t>
            </a:r>
            <a:r>
              <a:rPr lang="en-US" dirty="0" err="1"/>
              <a:t>quot</a:t>
            </a:r>
            <a:r>
              <a:rPr lang="en-US" dirty="0"/>
              <a:t>;</a:t>
            </a:r>
          </a:p>
          <a:p>
            <a:endParaRPr lang="en-US" dirty="0"/>
          </a:p>
        </p:txBody>
      </p:sp>
    </p:spTree>
    <p:extLst>
      <p:ext uri="{BB962C8B-B14F-4D97-AF65-F5344CB8AC3E}">
        <p14:creationId xmlns:p14="http://schemas.microsoft.com/office/powerpoint/2010/main" val="735316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String</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A String property is represented with a Str element containing one or more Run elements, each with a specified writing system.</a:t>
            </a:r>
          </a:p>
          <a:p>
            <a:r>
              <a:rPr lang="en-US" dirty="0"/>
              <a:t>All characters in a Run share the same attributes. Whenever a set of attributes changes, it requires a new Run.</a:t>
            </a:r>
          </a:p>
          <a:p>
            <a:r>
              <a:rPr lang="en-US" dirty="0"/>
              <a:t>The following shows the Contents of a </a:t>
            </a:r>
            <a:r>
              <a:rPr lang="en-US" dirty="0" err="1"/>
              <a:t>StTxtPara</a:t>
            </a:r>
            <a:r>
              <a:rPr lang="en-US" dirty="0"/>
              <a:t> object with a single Run in English</a:t>
            </a:r>
            <a:br>
              <a:rPr lang="en-US" dirty="0"/>
            </a:br>
            <a:r>
              <a:rPr lang="en-US" dirty="0"/>
              <a:t>&lt;Contents&gt;</a:t>
            </a:r>
            <a:br>
              <a:rPr lang="en-US" dirty="0"/>
            </a:br>
            <a:r>
              <a:rPr lang="en-US" dirty="0"/>
              <a:t>&lt;Str&gt;</a:t>
            </a:r>
            <a:br>
              <a:rPr lang="en-US" dirty="0"/>
            </a:br>
            <a:r>
              <a:rPr lang="en-US" dirty="0"/>
              <a:t>&lt;Run </a:t>
            </a:r>
            <a:r>
              <a:rPr lang="en-US" dirty="0" err="1"/>
              <a:t>ws</a:t>
            </a:r>
            <a:r>
              <a:rPr lang="en-US" dirty="0"/>
              <a:t>="</a:t>
            </a:r>
            <a:r>
              <a:rPr lang="en-US" dirty="0" err="1"/>
              <a:t>en</a:t>
            </a:r>
            <a:r>
              <a:rPr lang="en-US" dirty="0"/>
              <a:t>"&gt;A contraction is a combination of two lexemes, each of which maintains its own meaning.&lt;/Run&gt;</a:t>
            </a:r>
            <a:br>
              <a:rPr lang="en-US" dirty="0"/>
            </a:br>
            <a:r>
              <a:rPr lang="en-US" dirty="0"/>
              <a:t>&lt;/Str&gt;</a:t>
            </a:r>
            <a:br>
              <a:rPr lang="en-US" dirty="0"/>
            </a:br>
            <a:r>
              <a:rPr lang="en-US" dirty="0"/>
              <a:t>&lt;/Contents&gt;</a:t>
            </a:r>
          </a:p>
          <a:p>
            <a:endParaRPr lang="en-US" dirty="0"/>
          </a:p>
        </p:txBody>
      </p:sp>
    </p:spTree>
    <p:extLst>
      <p:ext uri="{BB962C8B-B14F-4D97-AF65-F5344CB8AC3E}">
        <p14:creationId xmlns:p14="http://schemas.microsoft.com/office/powerpoint/2010/main" val="3630175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String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dirty="0"/>
              <a:t>The following shows the Contents of a </a:t>
            </a:r>
            <a:r>
              <a:rPr lang="en-US" dirty="0" err="1"/>
              <a:t>StTxtPara</a:t>
            </a:r>
            <a:r>
              <a:rPr lang="en-US" dirty="0"/>
              <a:t> that includes multiple Runs with changes of writing system and styles.</a:t>
            </a:r>
            <a:br>
              <a:rPr lang="en-US" dirty="0"/>
            </a:br>
            <a:r>
              <a:rPr lang="en-US" dirty="0"/>
              <a:t>Some English with </a:t>
            </a:r>
            <a:r>
              <a:rPr lang="en-US" i="1" dirty="0"/>
              <a:t>emphasized</a:t>
            </a:r>
            <a:r>
              <a:rPr lang="en-US" dirty="0"/>
              <a:t> and </a:t>
            </a:r>
            <a:r>
              <a:rPr lang="en-US" b="1" dirty="0"/>
              <a:t>bold</a:t>
            </a:r>
            <a:r>
              <a:rPr lang="en-US" dirty="0"/>
              <a:t> text. (French: </a:t>
            </a:r>
            <a:r>
              <a:rPr lang="en-US" dirty="0" err="1"/>
              <a:t>francais</a:t>
            </a:r>
            <a:r>
              <a:rPr lang="en-US" dirty="0"/>
              <a:t> [</a:t>
            </a:r>
            <a:r>
              <a:rPr lang="en-US" dirty="0" err="1"/>
              <a:t>fʁɑ̃sɛ</a:t>
            </a:r>
            <a:r>
              <a:rPr lang="en-US" dirty="0"/>
              <a:t>]</a:t>
            </a:r>
            <a:br>
              <a:rPr lang="en-US" dirty="0"/>
            </a:br>
            <a:r>
              <a:rPr lang="en-US" dirty="0"/>
              <a:t>&lt;Contents&gt;</a:t>
            </a:r>
            <a:br>
              <a:rPr lang="en-US" dirty="0"/>
            </a:br>
            <a:r>
              <a:rPr lang="en-US" dirty="0"/>
              <a:t>&lt;Str&gt;</a:t>
            </a:r>
            <a:br>
              <a:rPr lang="en-US" dirty="0"/>
            </a:br>
            <a:r>
              <a:rPr lang="en-US" dirty="0"/>
              <a:t>&lt;Run </a:t>
            </a:r>
            <a:r>
              <a:rPr lang="en-US" dirty="0" err="1"/>
              <a:t>ws</a:t>
            </a:r>
            <a:r>
              <a:rPr lang="en-US" dirty="0"/>
              <a:t>="</a:t>
            </a:r>
            <a:r>
              <a:rPr lang="en-US" dirty="0" err="1"/>
              <a:t>en</a:t>
            </a:r>
            <a:r>
              <a:rPr lang="en-US" dirty="0"/>
              <a:t>"&gt;</a:t>
            </a:r>
            <a:r>
              <a:rPr lang="en-US" dirty="0">
                <a:highlight>
                  <a:srgbClr val="FFFF00"/>
                </a:highlight>
              </a:rPr>
              <a:t>Some English with </a:t>
            </a:r>
            <a:r>
              <a:rPr lang="en-US" dirty="0"/>
              <a:t>&lt;/Run&gt;</a:t>
            </a:r>
            <a:br>
              <a:rPr lang="en-US" dirty="0"/>
            </a:br>
            <a:r>
              <a:rPr lang="en-US" dirty="0"/>
              <a:t>&lt;Run </a:t>
            </a:r>
            <a:r>
              <a:rPr lang="en-US" dirty="0" err="1"/>
              <a:t>namedStyle</a:t>
            </a:r>
            <a:r>
              <a:rPr lang="en-US" dirty="0"/>
              <a:t>="Emphasized Text" </a:t>
            </a:r>
            <a:r>
              <a:rPr lang="en-US" dirty="0" err="1"/>
              <a:t>ws</a:t>
            </a:r>
            <a:r>
              <a:rPr lang="en-US" dirty="0"/>
              <a:t>="</a:t>
            </a:r>
            <a:r>
              <a:rPr lang="en-US" dirty="0" err="1"/>
              <a:t>en</a:t>
            </a:r>
            <a:r>
              <a:rPr lang="en-US" dirty="0"/>
              <a:t>"&gt;</a:t>
            </a:r>
            <a:r>
              <a:rPr lang="en-US" dirty="0">
                <a:highlight>
                  <a:srgbClr val="FFFF00"/>
                </a:highlight>
              </a:rPr>
              <a:t>emphasized</a:t>
            </a:r>
            <a:r>
              <a:rPr lang="en-US" dirty="0"/>
              <a:t>&lt;/Run&gt;</a:t>
            </a:r>
            <a:br>
              <a:rPr lang="en-US" dirty="0"/>
            </a:br>
            <a:r>
              <a:rPr lang="en-US" dirty="0"/>
              <a:t>&lt;Run </a:t>
            </a:r>
            <a:r>
              <a:rPr lang="en-US" dirty="0" err="1"/>
              <a:t>ws</a:t>
            </a:r>
            <a:r>
              <a:rPr lang="en-US" dirty="0"/>
              <a:t>="</a:t>
            </a:r>
            <a:r>
              <a:rPr lang="en-US" dirty="0" err="1"/>
              <a:t>en</a:t>
            </a:r>
            <a:r>
              <a:rPr lang="en-US" dirty="0"/>
              <a:t>"&gt;</a:t>
            </a:r>
            <a:r>
              <a:rPr lang="en-US" dirty="0">
                <a:highlight>
                  <a:srgbClr val="FFFF00"/>
                </a:highlight>
              </a:rPr>
              <a:t> and </a:t>
            </a:r>
            <a:r>
              <a:rPr lang="en-US" dirty="0"/>
              <a:t>&lt;/Run&gt;</a:t>
            </a:r>
            <a:br>
              <a:rPr lang="en-US" dirty="0"/>
            </a:br>
            <a:r>
              <a:rPr lang="en-US" dirty="0"/>
              <a:t>&lt;Run </a:t>
            </a:r>
            <a:r>
              <a:rPr lang="en-US" dirty="0" err="1"/>
              <a:t>namedStyle</a:t>
            </a:r>
            <a:r>
              <a:rPr lang="en-US" dirty="0"/>
              <a:t>="Strong" </a:t>
            </a:r>
            <a:r>
              <a:rPr lang="en-US" dirty="0" err="1"/>
              <a:t>ws</a:t>
            </a:r>
            <a:r>
              <a:rPr lang="en-US" dirty="0"/>
              <a:t>="</a:t>
            </a:r>
            <a:r>
              <a:rPr lang="en-US" dirty="0" err="1"/>
              <a:t>en</a:t>
            </a:r>
            <a:r>
              <a:rPr lang="en-US" dirty="0"/>
              <a:t>"&gt;</a:t>
            </a:r>
            <a:r>
              <a:rPr lang="en-US" dirty="0">
                <a:highlight>
                  <a:srgbClr val="FFFF00"/>
                </a:highlight>
              </a:rPr>
              <a:t>bold</a:t>
            </a:r>
            <a:r>
              <a:rPr lang="en-US" dirty="0"/>
              <a:t>&lt;/Run&gt;</a:t>
            </a:r>
            <a:br>
              <a:rPr lang="en-US" dirty="0"/>
            </a:br>
            <a:r>
              <a:rPr lang="en-US" dirty="0"/>
              <a:t>&lt;Run </a:t>
            </a:r>
            <a:r>
              <a:rPr lang="en-US" dirty="0" err="1"/>
              <a:t>ws</a:t>
            </a:r>
            <a:r>
              <a:rPr lang="en-US" dirty="0"/>
              <a:t>="</a:t>
            </a:r>
            <a:r>
              <a:rPr lang="en-US" dirty="0" err="1"/>
              <a:t>en</a:t>
            </a:r>
            <a:r>
              <a:rPr lang="en-US" dirty="0"/>
              <a:t>"&gt;</a:t>
            </a:r>
            <a:r>
              <a:rPr lang="en-US" dirty="0">
                <a:highlight>
                  <a:srgbClr val="FFFF00"/>
                </a:highlight>
              </a:rPr>
              <a:t> text. (French: </a:t>
            </a:r>
            <a:r>
              <a:rPr lang="en-US" dirty="0"/>
              <a:t>&lt;/Run&gt;</a:t>
            </a:r>
            <a:br>
              <a:rPr lang="en-US" dirty="0"/>
            </a:br>
            <a:r>
              <a:rPr lang="en-US" dirty="0"/>
              <a:t>&lt;Run </a:t>
            </a:r>
            <a:r>
              <a:rPr lang="en-US" dirty="0" err="1"/>
              <a:t>ws</a:t>
            </a:r>
            <a:r>
              <a:rPr lang="en-US" dirty="0"/>
              <a:t>="</a:t>
            </a:r>
            <a:r>
              <a:rPr lang="en-US" dirty="0" err="1"/>
              <a:t>fr</a:t>
            </a:r>
            <a:r>
              <a:rPr lang="en-US" dirty="0"/>
              <a:t>"&gt;</a:t>
            </a:r>
            <a:r>
              <a:rPr lang="en-US" dirty="0" err="1">
                <a:highlight>
                  <a:srgbClr val="FFFF00"/>
                </a:highlight>
              </a:rPr>
              <a:t>français</a:t>
            </a:r>
            <a:r>
              <a:rPr lang="en-US" dirty="0"/>
              <a:t>&lt;/Run&gt;</a:t>
            </a:r>
            <a:br>
              <a:rPr lang="en-US" dirty="0"/>
            </a:br>
            <a:r>
              <a:rPr lang="en-US" dirty="0"/>
              <a:t>&lt;Run </a:t>
            </a:r>
            <a:r>
              <a:rPr lang="en-US" dirty="0" err="1"/>
              <a:t>ws</a:t>
            </a:r>
            <a:r>
              <a:rPr lang="en-US" dirty="0"/>
              <a:t>="</a:t>
            </a:r>
            <a:r>
              <a:rPr lang="en-US" dirty="0" err="1"/>
              <a:t>en</a:t>
            </a:r>
            <a:r>
              <a:rPr lang="en-US" dirty="0"/>
              <a:t>"&gt;</a:t>
            </a:r>
            <a:r>
              <a:rPr lang="en-US" dirty="0">
                <a:highlight>
                  <a:srgbClr val="FFFF00"/>
                </a:highlight>
              </a:rPr>
              <a:t> [</a:t>
            </a:r>
            <a:r>
              <a:rPr lang="en-US" dirty="0"/>
              <a:t>&lt;/Run&gt;</a:t>
            </a:r>
            <a:br>
              <a:rPr lang="en-US" dirty="0"/>
            </a:br>
            <a:r>
              <a:rPr lang="en-US" dirty="0"/>
              <a:t>&lt;Run </a:t>
            </a:r>
            <a:r>
              <a:rPr lang="en-US" dirty="0" err="1"/>
              <a:t>ws</a:t>
            </a:r>
            <a:r>
              <a:rPr lang="en-US" dirty="0"/>
              <a:t>="</a:t>
            </a:r>
            <a:r>
              <a:rPr lang="en-US" dirty="0" err="1"/>
              <a:t>fr-fonipa</a:t>
            </a:r>
            <a:r>
              <a:rPr lang="en-US" dirty="0"/>
              <a:t>"&gt;</a:t>
            </a:r>
            <a:r>
              <a:rPr lang="en-US" dirty="0" err="1">
                <a:highlight>
                  <a:srgbClr val="FFFF00"/>
                </a:highlight>
              </a:rPr>
              <a:t>fʁɑ̃sɛ</a:t>
            </a:r>
            <a:r>
              <a:rPr lang="en-US" dirty="0"/>
              <a:t>&lt;/Run&gt;</a:t>
            </a:r>
            <a:br>
              <a:rPr lang="en-US" dirty="0"/>
            </a:br>
            <a:r>
              <a:rPr lang="en-US" dirty="0"/>
              <a:t>&lt;Run </a:t>
            </a:r>
            <a:r>
              <a:rPr lang="en-US" dirty="0" err="1"/>
              <a:t>ws</a:t>
            </a:r>
            <a:r>
              <a:rPr lang="en-US" dirty="0"/>
              <a:t>="</a:t>
            </a:r>
            <a:r>
              <a:rPr lang="en-US" dirty="0" err="1"/>
              <a:t>en</a:t>
            </a:r>
            <a:r>
              <a:rPr lang="en-US" dirty="0"/>
              <a:t>"&gt;</a:t>
            </a:r>
            <a:r>
              <a:rPr lang="en-US" dirty="0">
                <a:highlight>
                  <a:srgbClr val="FFFF00"/>
                </a:highlight>
              </a:rPr>
              <a:t>]</a:t>
            </a:r>
            <a:r>
              <a:rPr lang="en-US" dirty="0"/>
              <a:t>&lt;/Run&gt;</a:t>
            </a:r>
            <a:br>
              <a:rPr lang="en-US" dirty="0"/>
            </a:br>
            <a:r>
              <a:rPr lang="en-US" dirty="0"/>
              <a:t>&lt;/Str&gt;</a:t>
            </a:r>
            <a:br>
              <a:rPr lang="en-US" dirty="0"/>
            </a:br>
            <a:r>
              <a:rPr lang="en-US" dirty="0"/>
              <a:t>&lt;/Contents&gt;</a:t>
            </a:r>
          </a:p>
          <a:p>
            <a:r>
              <a:rPr lang="en-US" dirty="0"/>
              <a:t>A Run can only have one </a:t>
            </a:r>
            <a:r>
              <a:rPr lang="en-US" dirty="0" err="1"/>
              <a:t>namedStyle</a:t>
            </a:r>
            <a:r>
              <a:rPr lang="en-US" dirty="0"/>
              <a:t> element. If you want strong emphasized, you would need to have a single style that combines both features.</a:t>
            </a:r>
          </a:p>
          <a:p>
            <a:endParaRPr lang="en-US" dirty="0"/>
          </a:p>
        </p:txBody>
      </p:sp>
    </p:spTree>
    <p:extLst>
      <p:ext uri="{BB962C8B-B14F-4D97-AF65-F5344CB8AC3E}">
        <p14:creationId xmlns:p14="http://schemas.microsoft.com/office/powerpoint/2010/main" val="463399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String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77500" lnSpcReduction="20000"/>
          </a:bodyPr>
          <a:lstStyle/>
          <a:p>
            <a:r>
              <a:rPr lang="en-US" dirty="0"/>
              <a:t>The following shows the Contents of a paragraph with a link to an external file named x.html (relative paths start in the project </a:t>
            </a:r>
            <a:r>
              <a:rPr lang="en-US" dirty="0" err="1"/>
              <a:t>LinkedFiles</a:t>
            </a:r>
            <a:r>
              <a:rPr lang="en-US" dirty="0"/>
              <a:t> folder).</a:t>
            </a:r>
            <a:br>
              <a:rPr lang="en-US" dirty="0"/>
            </a:br>
            <a:r>
              <a:rPr lang="en-US" dirty="0"/>
              <a:t>&lt;Contents&gt;</a:t>
            </a:r>
            <a:br>
              <a:rPr lang="en-US" dirty="0"/>
            </a:br>
            <a:r>
              <a:rPr lang="en-US" dirty="0"/>
              <a:t>&lt;Str&gt;</a:t>
            </a:r>
            <a:br>
              <a:rPr lang="en-US" dirty="0"/>
            </a:br>
            <a:r>
              <a:rPr lang="en-US" dirty="0"/>
              <a:t>&lt;Run </a:t>
            </a:r>
            <a:r>
              <a:rPr lang="en-US" dirty="0" err="1"/>
              <a:t>ws</a:t>
            </a:r>
            <a:r>
              <a:rPr lang="en-US" dirty="0"/>
              <a:t>="</a:t>
            </a:r>
            <a:r>
              <a:rPr lang="en-US" dirty="0" err="1"/>
              <a:t>en</a:t>
            </a:r>
            <a:r>
              <a:rPr lang="en-US" dirty="0"/>
              <a:t>"&gt;This is a link to file &lt;/Run&gt;</a:t>
            </a:r>
            <a:br>
              <a:rPr lang="en-US" dirty="0"/>
            </a:br>
            <a:r>
              <a:rPr lang="en-US" dirty="0"/>
              <a:t>&lt;Run </a:t>
            </a:r>
            <a:r>
              <a:rPr lang="en-US" dirty="0" err="1"/>
              <a:t>externalLink</a:t>
            </a:r>
            <a:r>
              <a:rPr lang="en-US" dirty="0"/>
              <a:t>="Others\x.html" </a:t>
            </a:r>
            <a:r>
              <a:rPr lang="en-US" dirty="0" err="1"/>
              <a:t>namedStyle</a:t>
            </a:r>
            <a:r>
              <a:rPr lang="en-US" dirty="0"/>
              <a:t>="Hyperlink" </a:t>
            </a:r>
            <a:r>
              <a:rPr lang="en-US" dirty="0" err="1"/>
              <a:t>ws</a:t>
            </a:r>
            <a:r>
              <a:rPr lang="en-US" dirty="0"/>
              <a:t>="</a:t>
            </a:r>
            <a:r>
              <a:rPr lang="en-US" dirty="0" err="1"/>
              <a:t>en</a:t>
            </a:r>
            <a:r>
              <a:rPr lang="en-US" dirty="0"/>
              <a:t>"&gt;test&lt;/Run&gt;</a:t>
            </a:r>
            <a:br>
              <a:rPr lang="en-US" dirty="0"/>
            </a:br>
            <a:r>
              <a:rPr lang="en-US" dirty="0"/>
              <a:t>&lt;Run </a:t>
            </a:r>
            <a:r>
              <a:rPr lang="en-US" dirty="0" err="1"/>
              <a:t>ws</a:t>
            </a:r>
            <a:r>
              <a:rPr lang="en-US" dirty="0"/>
              <a:t>="</a:t>
            </a:r>
            <a:r>
              <a:rPr lang="en-US" dirty="0" err="1"/>
              <a:t>en</a:t>
            </a:r>
            <a:r>
              <a:rPr lang="en-US" dirty="0"/>
              <a:t>"&gt;. &lt;/Run&gt;</a:t>
            </a:r>
            <a:br>
              <a:rPr lang="en-US" dirty="0"/>
            </a:br>
            <a:r>
              <a:rPr lang="en-US" dirty="0"/>
              <a:t>&lt;/Str&gt;</a:t>
            </a:r>
            <a:br>
              <a:rPr lang="en-US" dirty="0"/>
            </a:br>
            <a:r>
              <a:rPr lang="en-US" dirty="0"/>
              <a:t>&lt;/Contents&gt;</a:t>
            </a:r>
          </a:p>
          <a:p>
            <a:r>
              <a:rPr lang="en-US" dirty="0"/>
              <a:t>The following is a hyperlink to a lexical entry in the current project, but it could be to a different project. The link URL includes the project name, tool, and object guid.</a:t>
            </a:r>
            <a:br>
              <a:rPr lang="en-US" dirty="0"/>
            </a:br>
            <a:r>
              <a:rPr lang="en-US" dirty="0"/>
              <a:t>&lt;Contents&gt;</a:t>
            </a:r>
            <a:br>
              <a:rPr lang="en-US" dirty="0"/>
            </a:br>
            <a:r>
              <a:rPr lang="en-US" dirty="0"/>
              <a:t>&lt;Str&gt;</a:t>
            </a:r>
            <a:br>
              <a:rPr lang="en-US" dirty="0"/>
            </a:br>
            <a:r>
              <a:rPr lang="en-US" dirty="0"/>
              <a:t>&lt;Run </a:t>
            </a:r>
            <a:r>
              <a:rPr lang="en-US" dirty="0" err="1"/>
              <a:t>ws</a:t>
            </a:r>
            <a:r>
              <a:rPr lang="en-US" dirty="0"/>
              <a:t>="</a:t>
            </a:r>
            <a:r>
              <a:rPr lang="en-US" dirty="0" err="1"/>
              <a:t>en</a:t>
            </a:r>
            <a:r>
              <a:rPr lang="en-US" dirty="0"/>
              <a:t>"&gt;This is a link to an entry &lt;/Run&gt;</a:t>
            </a:r>
            <a:br>
              <a:rPr lang="en-US" dirty="0"/>
            </a:br>
            <a:r>
              <a:rPr lang="en-US" dirty="0"/>
              <a:t>&lt;Run </a:t>
            </a:r>
            <a:r>
              <a:rPr lang="en-US" dirty="0" err="1"/>
              <a:t>externalLink</a:t>
            </a:r>
            <a:r>
              <a:rPr lang="en-US" dirty="0"/>
              <a:t>="</a:t>
            </a:r>
            <a:r>
              <a:rPr lang="en-US" dirty="0" err="1"/>
              <a:t>silfw</a:t>
            </a:r>
            <a:r>
              <a:rPr lang="en-US" dirty="0"/>
              <a:t>://localhost/link?database%3dthis%24%26tool%3dlexiconEdit%26guid%3de331fd38-d774-4023-bc56-75e5f4ab818e%26tag%3d" </a:t>
            </a:r>
            <a:r>
              <a:rPr lang="en-US" dirty="0" err="1"/>
              <a:t>namedStyle</a:t>
            </a:r>
            <a:r>
              <a:rPr lang="en-US" dirty="0"/>
              <a:t>="Hyperlink" </a:t>
            </a:r>
            <a:r>
              <a:rPr lang="en-US" dirty="0" err="1"/>
              <a:t>ws</a:t>
            </a:r>
            <a:r>
              <a:rPr lang="en-US" dirty="0"/>
              <a:t>="</a:t>
            </a:r>
            <a:r>
              <a:rPr lang="en-US" dirty="0" err="1"/>
              <a:t>en</a:t>
            </a:r>
            <a:r>
              <a:rPr lang="en-US" dirty="0"/>
              <a:t>"&gt;here&lt;/Run&gt;</a:t>
            </a:r>
            <a:br>
              <a:rPr lang="en-US" dirty="0"/>
            </a:br>
            <a:r>
              <a:rPr lang="en-US" dirty="0"/>
              <a:t>&lt;Run </a:t>
            </a:r>
            <a:r>
              <a:rPr lang="en-US" dirty="0" err="1"/>
              <a:t>ws</a:t>
            </a:r>
            <a:r>
              <a:rPr lang="en-US" dirty="0"/>
              <a:t>="</a:t>
            </a:r>
            <a:r>
              <a:rPr lang="en-US" dirty="0" err="1"/>
              <a:t>en</a:t>
            </a:r>
            <a:r>
              <a:rPr lang="en-US" dirty="0"/>
              <a:t>"&gt;.&lt;/Run&gt;</a:t>
            </a:r>
            <a:br>
              <a:rPr lang="en-US" dirty="0"/>
            </a:br>
            <a:r>
              <a:rPr lang="en-US" dirty="0"/>
              <a:t>&lt;/Str&gt;</a:t>
            </a:r>
            <a:br>
              <a:rPr lang="en-US" dirty="0"/>
            </a:br>
            <a:r>
              <a:rPr lang="en-US" dirty="0"/>
              <a:t>&lt;/Contents&gt;</a:t>
            </a:r>
            <a:br>
              <a:rPr lang="en-US" dirty="0"/>
            </a:br>
            <a:r>
              <a:rPr lang="en-US" dirty="0"/>
              <a:t>These links can be added to documents such as Word and html files.</a:t>
            </a:r>
          </a:p>
          <a:p>
            <a:endParaRPr lang="en-US" dirty="0"/>
          </a:p>
        </p:txBody>
      </p:sp>
    </p:spTree>
    <p:extLst>
      <p:ext uri="{BB962C8B-B14F-4D97-AF65-F5344CB8AC3E}">
        <p14:creationId xmlns:p14="http://schemas.microsoft.com/office/powerpoint/2010/main" val="3380374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MultiUnicode</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a:bodyPr>
          <a:lstStyle/>
          <a:p>
            <a:r>
              <a:rPr lang="en-US" dirty="0"/>
              <a:t>Many properties (fields) in FieldWorks are designed to hold strings that will never have embedding, but may have translations in different languages or writing systems (e.g., lexeme form, gloss, and names and abbreviations for list items). Here is how these MultiUnicode properties are stored in fwdata.</a:t>
            </a:r>
          </a:p>
          <a:p>
            <a:r>
              <a:rPr lang="en-US" dirty="0"/>
              <a:t>&lt;Name&gt;</a:t>
            </a:r>
            <a:br>
              <a:rPr lang="en-US" dirty="0"/>
            </a:br>
            <a:r>
              <a:rPr lang="en-US" dirty="0"/>
              <a:t>&lt;</a:t>
            </a:r>
            <a:r>
              <a:rPr lang="en-US" dirty="0" err="1"/>
              <a:t>AUni</a:t>
            </a:r>
            <a:r>
              <a:rPr lang="en-US" dirty="0"/>
              <a:t> </a:t>
            </a:r>
            <a:r>
              <a:rPr lang="en-US" dirty="0" err="1"/>
              <a:t>ws</a:t>
            </a:r>
            <a:r>
              <a:rPr lang="en-US" dirty="0"/>
              <a:t>="</a:t>
            </a:r>
            <a:r>
              <a:rPr lang="en-US" dirty="0" err="1"/>
              <a:t>en</a:t>
            </a:r>
            <a:r>
              <a:rPr lang="en-US" dirty="0"/>
              <a:t>"&gt;adjunct&lt;/</a:t>
            </a:r>
            <a:r>
              <a:rPr lang="en-US" dirty="0" err="1"/>
              <a:t>AUni</a:t>
            </a:r>
            <a:r>
              <a:rPr lang="en-US" dirty="0"/>
              <a:t>&gt;</a:t>
            </a:r>
            <a:br>
              <a:rPr lang="en-US" dirty="0"/>
            </a:br>
            <a:r>
              <a:rPr lang="en-US" dirty="0"/>
              <a:t>&lt;</a:t>
            </a:r>
            <a:r>
              <a:rPr lang="en-US" dirty="0" err="1"/>
              <a:t>AUni</a:t>
            </a:r>
            <a:r>
              <a:rPr lang="en-US" dirty="0"/>
              <a:t> </a:t>
            </a:r>
            <a:r>
              <a:rPr lang="en-US" dirty="0" err="1"/>
              <a:t>ws</a:t>
            </a:r>
            <a:r>
              <a:rPr lang="en-US" dirty="0"/>
              <a:t>="</a:t>
            </a:r>
            <a:r>
              <a:rPr lang="en-US" dirty="0" err="1"/>
              <a:t>fr</a:t>
            </a:r>
            <a:r>
              <a:rPr lang="en-US" dirty="0"/>
              <a:t>"&gt;</a:t>
            </a:r>
            <a:r>
              <a:rPr lang="en-US" dirty="0" err="1"/>
              <a:t>accessoire</a:t>
            </a:r>
            <a:r>
              <a:rPr lang="en-US" dirty="0"/>
              <a:t>&lt;/</a:t>
            </a:r>
            <a:r>
              <a:rPr lang="en-US" dirty="0" err="1"/>
              <a:t>AUni</a:t>
            </a:r>
            <a:r>
              <a:rPr lang="en-US" dirty="0"/>
              <a:t>&gt;</a:t>
            </a:r>
            <a:br>
              <a:rPr lang="en-US" dirty="0"/>
            </a:br>
            <a:r>
              <a:rPr lang="en-US" dirty="0"/>
              <a:t>&lt;</a:t>
            </a:r>
            <a:r>
              <a:rPr lang="en-US" dirty="0" err="1"/>
              <a:t>AUni</a:t>
            </a:r>
            <a:r>
              <a:rPr lang="en-US" dirty="0"/>
              <a:t> </a:t>
            </a:r>
            <a:r>
              <a:rPr lang="en-US" dirty="0" err="1"/>
              <a:t>ws</a:t>
            </a:r>
            <a:r>
              <a:rPr lang="en-US" dirty="0"/>
              <a:t>="es"&gt;</a:t>
            </a:r>
            <a:r>
              <a:rPr lang="en-US" dirty="0" err="1"/>
              <a:t>adjunto</a:t>
            </a:r>
            <a:r>
              <a:rPr lang="en-US" dirty="0"/>
              <a:t>&lt;/</a:t>
            </a:r>
            <a:r>
              <a:rPr lang="en-US" dirty="0" err="1"/>
              <a:t>AUni</a:t>
            </a:r>
            <a:r>
              <a:rPr lang="en-US" dirty="0"/>
              <a:t>&gt;</a:t>
            </a:r>
            <a:br>
              <a:rPr lang="en-US" dirty="0"/>
            </a:br>
            <a:r>
              <a:rPr lang="en-US" dirty="0"/>
              <a:t>&lt;/Name&gt;</a:t>
            </a:r>
          </a:p>
          <a:p>
            <a:r>
              <a:rPr lang="en-US" dirty="0"/>
              <a:t>This field is the Name for a </a:t>
            </a:r>
            <a:r>
              <a:rPr lang="en-US" dirty="0" err="1"/>
              <a:t>CmPossibility</a:t>
            </a:r>
            <a:r>
              <a:rPr lang="en-US" dirty="0"/>
              <a:t> object. In this case, there are three FieldWorks Unicode strings; English, French, and Spanish.</a:t>
            </a:r>
          </a:p>
          <a:p>
            <a:r>
              <a:rPr lang="en-US" dirty="0"/>
              <a:t>Each FieldWorks Unicode string is stored in an </a:t>
            </a:r>
            <a:r>
              <a:rPr lang="en-US" dirty="0" err="1"/>
              <a:t>AUni</a:t>
            </a:r>
            <a:r>
              <a:rPr lang="en-US" dirty="0"/>
              <a:t> element. The writing system is indicated by the required “</a:t>
            </a:r>
            <a:r>
              <a:rPr lang="en-US" dirty="0" err="1"/>
              <a:t>ws</a:t>
            </a:r>
            <a:r>
              <a:rPr lang="en-US" dirty="0"/>
              <a:t>” attribute of the </a:t>
            </a:r>
            <a:r>
              <a:rPr lang="en-US" dirty="0" err="1"/>
              <a:t>AUni</a:t>
            </a:r>
            <a:r>
              <a:rPr lang="en-US" dirty="0"/>
              <a:t> element.</a:t>
            </a:r>
          </a:p>
          <a:p>
            <a:r>
              <a:rPr lang="en-US" dirty="0"/>
              <a:t>Writing systems in a MultiUnicode </a:t>
            </a:r>
            <a:r>
              <a:rPr lang="en-US" dirty="0" err="1"/>
              <a:t>AUni</a:t>
            </a:r>
            <a:r>
              <a:rPr lang="en-US" dirty="0"/>
              <a:t> element must be unique.</a:t>
            </a:r>
          </a:p>
          <a:p>
            <a:endParaRPr lang="en-US" dirty="0"/>
          </a:p>
        </p:txBody>
      </p:sp>
    </p:spTree>
    <p:extLst>
      <p:ext uri="{BB962C8B-B14F-4D97-AF65-F5344CB8AC3E}">
        <p14:creationId xmlns:p14="http://schemas.microsoft.com/office/powerpoint/2010/main" val="3139472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MultiString</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85000" lnSpcReduction="20000"/>
          </a:bodyPr>
          <a:lstStyle/>
          <a:p>
            <a:r>
              <a:rPr lang="en-US" dirty="0"/>
              <a:t>Other properties (fields) need the ability to store equivalent translations, but also need to allow embedded writing systems and formatting (e.g., definition, example sentence, example translations, all note fields). Here is how these MultiString properties are encoded.</a:t>
            </a:r>
            <a:br>
              <a:rPr lang="en-US" dirty="0"/>
            </a:br>
            <a:r>
              <a:rPr lang="en-US" dirty="0"/>
              <a:t>&lt;Translation&gt;</a:t>
            </a:r>
            <a:br>
              <a:rPr lang="en-US" dirty="0"/>
            </a:br>
            <a:r>
              <a:rPr lang="en-US" dirty="0"/>
              <a:t>&lt;</a:t>
            </a:r>
            <a:r>
              <a:rPr lang="en-US" dirty="0" err="1"/>
              <a:t>AStr</a:t>
            </a:r>
            <a:r>
              <a:rPr lang="en-US" dirty="0"/>
              <a:t> </a:t>
            </a:r>
            <a:r>
              <a:rPr lang="en-US" dirty="0" err="1"/>
              <a:t>ws</a:t>
            </a:r>
            <a:r>
              <a:rPr lang="en-US" dirty="0"/>
              <a:t>="</a:t>
            </a:r>
            <a:r>
              <a:rPr lang="en-US" dirty="0" err="1"/>
              <a:t>en</a:t>
            </a:r>
            <a:r>
              <a:rPr lang="en-US" dirty="0"/>
              <a:t>"&gt;</a:t>
            </a:r>
            <a:br>
              <a:rPr lang="en-US" dirty="0"/>
            </a:br>
            <a:r>
              <a:rPr lang="en-US" dirty="0"/>
              <a:t>&lt;Run </a:t>
            </a:r>
            <a:r>
              <a:rPr lang="en-US" dirty="0" err="1"/>
              <a:t>ws</a:t>
            </a:r>
            <a:r>
              <a:rPr lang="en-US" dirty="0"/>
              <a:t>="</a:t>
            </a:r>
            <a:r>
              <a:rPr lang="en-US" dirty="0" err="1"/>
              <a:t>en</a:t>
            </a:r>
            <a:r>
              <a:rPr lang="en-US" dirty="0"/>
              <a:t>"&gt;You may damage the computer.&lt;/Run&gt;</a:t>
            </a:r>
            <a:br>
              <a:rPr lang="en-US" dirty="0"/>
            </a:br>
            <a:r>
              <a:rPr lang="en-US" dirty="0"/>
              <a:t>&lt;/</a:t>
            </a:r>
            <a:r>
              <a:rPr lang="en-US" dirty="0" err="1"/>
              <a:t>AStr</a:t>
            </a:r>
            <a:r>
              <a:rPr lang="en-US" dirty="0"/>
              <a:t>&gt;</a:t>
            </a:r>
            <a:br>
              <a:rPr lang="en-US" dirty="0"/>
            </a:br>
            <a:r>
              <a:rPr lang="en-US" dirty="0"/>
              <a:t>&lt;</a:t>
            </a:r>
            <a:r>
              <a:rPr lang="en-US" dirty="0" err="1"/>
              <a:t>AStr</a:t>
            </a:r>
            <a:r>
              <a:rPr lang="en-US" dirty="0"/>
              <a:t> </a:t>
            </a:r>
            <a:r>
              <a:rPr lang="en-US" dirty="0" err="1"/>
              <a:t>ws</a:t>
            </a:r>
            <a:r>
              <a:rPr lang="en-US" dirty="0"/>
              <a:t>="</a:t>
            </a:r>
            <a:r>
              <a:rPr lang="en-US" dirty="0" err="1"/>
              <a:t>fr</a:t>
            </a:r>
            <a:r>
              <a:rPr lang="en-US" dirty="0"/>
              <a:t>"&gt;</a:t>
            </a:r>
            <a:br>
              <a:rPr lang="en-US" dirty="0"/>
            </a:br>
            <a:r>
              <a:rPr lang="en-US" dirty="0"/>
              <a:t>&lt;Run </a:t>
            </a:r>
            <a:r>
              <a:rPr lang="en-US" dirty="0" err="1"/>
              <a:t>ws</a:t>
            </a:r>
            <a:r>
              <a:rPr lang="en-US" dirty="0"/>
              <a:t>="</a:t>
            </a:r>
            <a:r>
              <a:rPr lang="en-US" dirty="0" err="1"/>
              <a:t>fr</a:t>
            </a:r>
            <a:r>
              <a:rPr lang="en-US" dirty="0"/>
              <a:t>"&gt;</a:t>
            </a:r>
            <a:r>
              <a:rPr lang="en-US" dirty="0" err="1"/>
              <a:t>Vous</a:t>
            </a:r>
            <a:r>
              <a:rPr lang="en-US" dirty="0"/>
              <a:t> </a:t>
            </a:r>
            <a:r>
              <a:rPr lang="en-US" dirty="0" err="1"/>
              <a:t>risquez</a:t>
            </a:r>
            <a:r>
              <a:rPr lang="en-US" dirty="0"/>
              <a:t> </a:t>
            </a:r>
            <a:r>
              <a:rPr lang="en-US" dirty="0" err="1"/>
              <a:t>d'endommager</a:t>
            </a:r>
            <a:r>
              <a:rPr lang="en-US" dirty="0"/>
              <a:t> </a:t>
            </a:r>
            <a:r>
              <a:rPr lang="en-US" dirty="0" err="1"/>
              <a:t>l'ordinateur</a:t>
            </a:r>
            <a:r>
              <a:rPr lang="en-US" dirty="0"/>
              <a:t>.&lt;/Run&gt;</a:t>
            </a:r>
            <a:br>
              <a:rPr lang="en-US" dirty="0"/>
            </a:br>
            <a:r>
              <a:rPr lang="en-US" dirty="0"/>
              <a:t>&lt;/</a:t>
            </a:r>
            <a:r>
              <a:rPr lang="en-US" dirty="0" err="1"/>
              <a:t>AStr</a:t>
            </a:r>
            <a:r>
              <a:rPr lang="en-US" dirty="0"/>
              <a:t>&gt;</a:t>
            </a:r>
            <a:br>
              <a:rPr lang="en-US" dirty="0"/>
            </a:br>
            <a:r>
              <a:rPr lang="en-US" dirty="0"/>
              <a:t>&lt;/Translation&gt;</a:t>
            </a:r>
          </a:p>
          <a:p>
            <a:r>
              <a:rPr lang="en-US" dirty="0"/>
              <a:t>This field is the Translation property on a </a:t>
            </a:r>
            <a:r>
              <a:rPr lang="en-US" dirty="0" err="1"/>
              <a:t>CmTranslation</a:t>
            </a:r>
            <a:r>
              <a:rPr lang="en-US" dirty="0"/>
              <a:t> object. This example has translations for English and French.</a:t>
            </a:r>
          </a:p>
          <a:p>
            <a:r>
              <a:rPr lang="en-US" dirty="0"/>
              <a:t>Each String is stored in an </a:t>
            </a:r>
            <a:r>
              <a:rPr lang="en-US" dirty="0" err="1"/>
              <a:t>AStr</a:t>
            </a:r>
            <a:r>
              <a:rPr lang="en-US" dirty="0"/>
              <a:t> element which identifies the overall writing system for the String. Normally this is the same writing system as the first run, but it does not have to be. You could have an English string that starts with a French word.</a:t>
            </a:r>
          </a:p>
          <a:p>
            <a:r>
              <a:rPr lang="en-US" dirty="0"/>
              <a:t>Writing systems in a MultiString </a:t>
            </a:r>
            <a:r>
              <a:rPr lang="en-US" dirty="0" err="1"/>
              <a:t>AStr</a:t>
            </a:r>
            <a:r>
              <a:rPr lang="en-US" dirty="0"/>
              <a:t> field must be unique.</a:t>
            </a:r>
          </a:p>
          <a:p>
            <a:endParaRPr lang="en-US" dirty="0"/>
          </a:p>
          <a:p>
            <a:endParaRPr lang="en-US" dirty="0"/>
          </a:p>
        </p:txBody>
      </p:sp>
    </p:spTree>
    <p:extLst>
      <p:ext uri="{BB962C8B-B14F-4D97-AF65-F5344CB8AC3E}">
        <p14:creationId xmlns:p14="http://schemas.microsoft.com/office/powerpoint/2010/main" val="3105833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Binary and Boolean</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Binary properties are represented as follows:</a:t>
            </a:r>
            <a:br>
              <a:rPr lang="en-US" dirty="0"/>
            </a:br>
            <a:r>
              <a:rPr lang="en-US" dirty="0"/>
              <a:t>&lt;Sid&gt;</a:t>
            </a:r>
            <a:br>
              <a:rPr lang="en-US" dirty="0"/>
            </a:br>
            <a:r>
              <a:rPr lang="en-US" dirty="0"/>
              <a:t>&lt;Binary&gt;6400000001000000&lt;/Binary&gt;</a:t>
            </a:r>
            <a:br>
              <a:rPr lang="en-US" dirty="0"/>
            </a:br>
            <a:r>
              <a:rPr lang="en-US" dirty="0"/>
              <a:t>&lt;/Sid&gt;</a:t>
            </a:r>
          </a:p>
          <a:p>
            <a:r>
              <a:rPr lang="en-US" dirty="0"/>
              <a:t>This is the Sid property on </a:t>
            </a:r>
            <a:r>
              <a:rPr lang="en-US" dirty="0" err="1"/>
              <a:t>UserConfigAcct</a:t>
            </a:r>
            <a:r>
              <a:rPr lang="en-US" dirty="0"/>
              <a:t>. Binary data is stored as a sequence of hexadecimal bytes. Our current model only has this one Binary property which is unused.</a:t>
            </a:r>
          </a:p>
          <a:p>
            <a:r>
              <a:rPr lang="en-US" dirty="0"/>
              <a:t>Boolean properties are represented as follows:</a:t>
            </a:r>
            <a:br>
              <a:rPr lang="en-US" dirty="0"/>
            </a:br>
            <a:r>
              <a:rPr lang="en-US" dirty="0"/>
              <a:t>&lt;</a:t>
            </a:r>
            <a:r>
              <a:rPr lang="en-US" dirty="0" err="1"/>
              <a:t>IsSorted</a:t>
            </a:r>
            <a:r>
              <a:rPr lang="en-US" dirty="0"/>
              <a:t> </a:t>
            </a:r>
            <a:r>
              <a:rPr lang="en-US" dirty="0" err="1"/>
              <a:t>val</a:t>
            </a:r>
            <a:r>
              <a:rPr lang="en-US" dirty="0"/>
              <a:t>="true"/&gt;</a:t>
            </a:r>
          </a:p>
          <a:p>
            <a:r>
              <a:rPr lang="en-US" dirty="0"/>
              <a:t>This is the </a:t>
            </a:r>
            <a:r>
              <a:rPr lang="en-US" dirty="0" err="1"/>
              <a:t>IsSorted</a:t>
            </a:r>
            <a:r>
              <a:rPr lang="en-US" dirty="0"/>
              <a:t> property on </a:t>
            </a:r>
            <a:r>
              <a:rPr lang="en-US" dirty="0" err="1"/>
              <a:t>CmPossibilityList</a:t>
            </a:r>
            <a:r>
              <a:rPr lang="en-US" dirty="0"/>
              <a:t>. The value is stored in the “</a:t>
            </a:r>
            <a:r>
              <a:rPr lang="en-US" dirty="0" err="1"/>
              <a:t>val</a:t>
            </a:r>
            <a:r>
              <a:rPr lang="en-US" dirty="0"/>
              <a:t>” attribute as “true” or “false”. The default value for missing properties is false.</a:t>
            </a:r>
          </a:p>
          <a:p>
            <a:endParaRPr lang="en-US" dirty="0"/>
          </a:p>
          <a:p>
            <a:endParaRPr lang="en-US" dirty="0"/>
          </a:p>
        </p:txBody>
      </p:sp>
    </p:spTree>
    <p:extLst>
      <p:ext uri="{BB962C8B-B14F-4D97-AF65-F5344CB8AC3E}">
        <p14:creationId xmlns:p14="http://schemas.microsoft.com/office/powerpoint/2010/main" val="3291629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a:t>
            </a:r>
            <a:r>
              <a:rPr lang="en-US" dirty="0" err="1"/>
              <a:t>GenDate</a:t>
            </a:r>
            <a:endParaRPr lang="en-US" dirty="0"/>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77500" lnSpcReduction="20000"/>
          </a:bodyPr>
          <a:lstStyle/>
          <a:p>
            <a:r>
              <a:rPr lang="en-US" dirty="0" err="1"/>
              <a:t>GenDate</a:t>
            </a:r>
            <a:r>
              <a:rPr lang="en-US" dirty="0"/>
              <a:t> provides a way to store an approximate date without a time (e.g., before March 1200 AD). They are stored as an int (4 bytes). This is a decimal representation of a generic date without a time. It's up to the software to make sure the int is a valid date. The range is 21474 BC through 21474 AD. The format is:</a:t>
            </a:r>
          </a:p>
          <a:p>
            <a:r>
              <a:rPr lang="en-US" dirty="0"/>
              <a:t>[-]YYYYMMDDP</a:t>
            </a:r>
            <a:br>
              <a:rPr lang="en-US" dirty="0"/>
            </a:br>
            <a:r>
              <a:rPr lang="en-US" dirty="0"/>
              <a:t>YYYY is the 1-5 digit year (negative is BC) 0000 is unknown.</a:t>
            </a:r>
            <a:br>
              <a:rPr lang="en-US" dirty="0"/>
            </a:br>
            <a:r>
              <a:rPr lang="en-US" dirty="0"/>
              <a:t>MM is the 2 digit month (for BC months it is 13 - M) 00 is unknown</a:t>
            </a:r>
            <a:br>
              <a:rPr lang="en-US" dirty="0"/>
            </a:br>
            <a:r>
              <a:rPr lang="en-US" dirty="0"/>
              <a:t>DD is the 2 digit day (for BC days it is 32 - D) 00 is unknown</a:t>
            </a:r>
            <a:br>
              <a:rPr lang="en-US" dirty="0"/>
            </a:br>
            <a:r>
              <a:rPr lang="en-US" dirty="0"/>
              <a:t>P is one of the following:</a:t>
            </a:r>
            <a:br>
              <a:rPr lang="en-US" dirty="0"/>
            </a:br>
            <a:r>
              <a:rPr lang="en-US" dirty="0"/>
              <a:t>  0 = Before (If </a:t>
            </a:r>
            <a:r>
              <a:rPr lang="en-US" dirty="0" err="1"/>
              <a:t>GenDate</a:t>
            </a:r>
            <a:r>
              <a:rPr lang="en-US" dirty="0"/>
              <a:t> = 0, it means nothing is entered)</a:t>
            </a:r>
            <a:br>
              <a:rPr lang="en-US" dirty="0"/>
            </a:br>
            <a:r>
              <a:rPr lang="en-US" dirty="0"/>
              <a:t>  1 = Exact</a:t>
            </a:r>
            <a:br>
              <a:rPr lang="en-US" dirty="0"/>
            </a:br>
            <a:r>
              <a:rPr lang="en-US" dirty="0"/>
              <a:t>  2 = Approximate</a:t>
            </a:r>
            <a:br>
              <a:rPr lang="en-US" dirty="0"/>
            </a:br>
            <a:r>
              <a:rPr lang="en-US" dirty="0"/>
              <a:t>  3 = After</a:t>
            </a:r>
          </a:p>
          <a:p>
            <a:r>
              <a:rPr lang="en-US" dirty="0" err="1"/>
              <a:t>GenDate</a:t>
            </a:r>
            <a:r>
              <a:rPr lang="en-US" dirty="0"/>
              <a:t> properties are represented as follows:</a:t>
            </a:r>
            <a:br>
              <a:rPr lang="en-US" dirty="0"/>
            </a:br>
            <a:r>
              <a:rPr lang="en-US" dirty="0"/>
              <a:t>&lt;</a:t>
            </a:r>
            <a:r>
              <a:rPr lang="en-US" dirty="0" err="1"/>
              <a:t>DateOfEvent</a:t>
            </a:r>
            <a:r>
              <a:rPr lang="en-US" dirty="0"/>
              <a:t> </a:t>
            </a:r>
            <a:r>
              <a:rPr lang="en-US" dirty="0" err="1"/>
              <a:t>val</a:t>
            </a:r>
            <a:r>
              <a:rPr lang="en-US" dirty="0"/>
              <a:t>="202404020" /&gt;</a:t>
            </a:r>
          </a:p>
          <a:p>
            <a:r>
              <a:rPr lang="en-US" dirty="0"/>
              <a:t>This is the </a:t>
            </a:r>
            <a:r>
              <a:rPr lang="en-US" dirty="0" err="1"/>
              <a:t>DateOfEvent</a:t>
            </a:r>
            <a:r>
              <a:rPr lang="en-US" dirty="0"/>
              <a:t> property on </a:t>
            </a:r>
            <a:r>
              <a:rPr lang="en-US" dirty="0" err="1"/>
              <a:t>RnGenericRec</a:t>
            </a:r>
            <a:r>
              <a:rPr lang="en-US" dirty="0"/>
              <a:t> representing Before April 2, 2024. The generic date is stored as a decimal number in the “</a:t>
            </a:r>
            <a:r>
              <a:rPr lang="en-US" dirty="0" err="1"/>
              <a:t>val</a:t>
            </a:r>
            <a:r>
              <a:rPr lang="en-US" dirty="0"/>
              <a:t>” attribute.</a:t>
            </a:r>
          </a:p>
          <a:p>
            <a:r>
              <a:rPr lang="en-US" dirty="0" err="1"/>
              <a:t>GenDate</a:t>
            </a:r>
            <a:r>
              <a:rPr lang="en-US" dirty="0"/>
              <a:t> is also available on </a:t>
            </a:r>
            <a:r>
              <a:rPr lang="en-US" dirty="0" err="1"/>
              <a:t>CmPerson</a:t>
            </a:r>
            <a:r>
              <a:rPr lang="en-US" dirty="0"/>
              <a:t> for </a:t>
            </a:r>
            <a:r>
              <a:rPr lang="en-US" dirty="0" err="1"/>
              <a:t>DateOfBirth</a:t>
            </a:r>
            <a:r>
              <a:rPr lang="en-US" dirty="0"/>
              <a:t> and </a:t>
            </a:r>
            <a:r>
              <a:rPr lang="en-US" dirty="0" err="1"/>
              <a:t>DateOfDeath</a:t>
            </a:r>
            <a:r>
              <a:rPr lang="en-US" dirty="0"/>
              <a:t>, but it is not implemented in the current FLEx UI.</a:t>
            </a:r>
          </a:p>
        </p:txBody>
      </p:sp>
    </p:spTree>
    <p:extLst>
      <p:ext uri="{BB962C8B-B14F-4D97-AF65-F5344CB8AC3E}">
        <p14:creationId xmlns:p14="http://schemas.microsoft.com/office/powerpoint/2010/main" val="3042048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Guid and Integer</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dirty="0"/>
              <a:t>GUID (Globally Unique Identifier) properties are represented as follows</a:t>
            </a:r>
            <a:br>
              <a:rPr lang="en-US" dirty="0"/>
            </a:br>
            <a:r>
              <a:rPr lang="en-US" dirty="0"/>
              <a:t>&lt;</a:t>
            </a:r>
            <a:r>
              <a:rPr lang="en-US" dirty="0" err="1"/>
              <a:t>ListVersion</a:t>
            </a:r>
            <a:r>
              <a:rPr lang="en-US" dirty="0"/>
              <a:t> </a:t>
            </a:r>
            <a:r>
              <a:rPr lang="en-US" dirty="0" err="1"/>
              <a:t>val</a:t>
            </a:r>
            <a:r>
              <a:rPr lang="en-US" dirty="0"/>
              <a:t>="b41ff27f-5caf-4eac-92de-0f92acb0caa3"/&gt;</a:t>
            </a:r>
          </a:p>
          <a:p>
            <a:r>
              <a:rPr lang="en-US" dirty="0"/>
              <a:t>This is the </a:t>
            </a:r>
            <a:r>
              <a:rPr lang="en-US" dirty="0" err="1"/>
              <a:t>ListVersion</a:t>
            </a:r>
            <a:r>
              <a:rPr lang="en-US" dirty="0"/>
              <a:t> property on </a:t>
            </a:r>
            <a:r>
              <a:rPr lang="en-US" dirty="0" err="1"/>
              <a:t>CmPossibilityList</a:t>
            </a:r>
            <a:r>
              <a:rPr lang="en-US" dirty="0"/>
              <a:t>. The GUID value is stored in the “</a:t>
            </a:r>
            <a:r>
              <a:rPr lang="en-US" dirty="0" err="1"/>
              <a:t>val</a:t>
            </a:r>
            <a:r>
              <a:rPr lang="en-US" dirty="0"/>
              <a:t>” attribute in this string format using this hex format.</a:t>
            </a:r>
          </a:p>
          <a:p>
            <a:r>
              <a:rPr lang="en-US" dirty="0"/>
              <a:t>HVO: Internal FLEx code often refers to an object using an </a:t>
            </a:r>
            <a:r>
              <a:rPr lang="en-US" dirty="0" err="1"/>
              <a:t>hvo</a:t>
            </a:r>
            <a:r>
              <a:rPr lang="en-US" dirty="0"/>
              <a:t> (handle to a viewable object). This is a single integer that is assigned to each object when it is loaded. While in memory, it is a reliable and quick way to find and reference objects. However, the next time the project is loaded, especially if objects were added or deleted, some or all of the </a:t>
            </a:r>
            <a:r>
              <a:rPr lang="en-US" dirty="0" err="1"/>
              <a:t>hvos</a:t>
            </a:r>
            <a:r>
              <a:rPr lang="en-US" dirty="0"/>
              <a:t> could be different. In debugging it’s often challenging to find a guid for an object when all you have is the </a:t>
            </a:r>
            <a:r>
              <a:rPr lang="en-US" dirty="0" err="1"/>
              <a:t>hvo</a:t>
            </a:r>
            <a:r>
              <a:rPr lang="en-US" dirty="0"/>
              <a:t>, and fwdata only has </a:t>
            </a:r>
            <a:r>
              <a:rPr lang="en-US" dirty="0" err="1"/>
              <a:t>guids</a:t>
            </a:r>
            <a:r>
              <a:rPr lang="en-US" dirty="0"/>
              <a:t>. </a:t>
            </a:r>
            <a:r>
              <a:rPr lang="en-US" dirty="0" err="1"/>
              <a:t>Guids</a:t>
            </a:r>
            <a:r>
              <a:rPr lang="en-US" dirty="0"/>
              <a:t> never change.</a:t>
            </a:r>
          </a:p>
          <a:p>
            <a:r>
              <a:rPr lang="en-US" dirty="0"/>
              <a:t>Integer properties hold positive or negative 64-bit integers and are represented as follows:</a:t>
            </a:r>
            <a:br>
              <a:rPr lang="en-US" dirty="0"/>
            </a:br>
            <a:r>
              <a:rPr lang="en-US" dirty="0"/>
              <a:t>&lt;</a:t>
            </a:r>
            <a:r>
              <a:rPr lang="en-US" dirty="0" err="1"/>
              <a:t>HomographNumber</a:t>
            </a:r>
            <a:r>
              <a:rPr lang="en-US" dirty="0"/>
              <a:t> </a:t>
            </a:r>
            <a:r>
              <a:rPr lang="en-US" dirty="0" err="1"/>
              <a:t>val</a:t>
            </a:r>
            <a:r>
              <a:rPr lang="en-US" dirty="0"/>
              <a:t>="12"/&gt;</a:t>
            </a:r>
          </a:p>
          <a:p>
            <a:r>
              <a:rPr lang="en-US" dirty="0"/>
              <a:t>This is the </a:t>
            </a:r>
            <a:r>
              <a:rPr lang="en-US" dirty="0" err="1"/>
              <a:t>HomographNumber</a:t>
            </a:r>
            <a:r>
              <a:rPr lang="en-US" dirty="0"/>
              <a:t> property on </a:t>
            </a:r>
            <a:r>
              <a:rPr lang="en-US" dirty="0" err="1"/>
              <a:t>LexEntry</a:t>
            </a:r>
            <a:r>
              <a:rPr lang="en-US" dirty="0"/>
              <a:t>. The value of the integer is stored as a decimal “</a:t>
            </a:r>
            <a:r>
              <a:rPr lang="en-US" dirty="0" err="1"/>
              <a:t>val</a:t>
            </a:r>
            <a:r>
              <a:rPr lang="en-US" dirty="0"/>
              <a:t>” attribute. The default value for missing properties is 0.</a:t>
            </a:r>
          </a:p>
          <a:p>
            <a:endParaRPr lang="en-US" dirty="0"/>
          </a:p>
          <a:p>
            <a:endParaRPr lang="en-US" dirty="0"/>
          </a:p>
        </p:txBody>
      </p:sp>
    </p:spTree>
    <p:extLst>
      <p:ext uri="{BB962C8B-B14F-4D97-AF65-F5344CB8AC3E}">
        <p14:creationId xmlns:p14="http://schemas.microsoft.com/office/powerpoint/2010/main" val="2656742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a:t>
            </a:r>
            <a:r>
              <a:rPr lang="en-US" dirty="0" err="1"/>
              <a:t>TextPropBinary</a:t>
            </a:r>
            <a:endParaRPr lang="en-US" dirty="0"/>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err="1"/>
              <a:t>TextPropBinary</a:t>
            </a:r>
            <a:r>
              <a:rPr lang="en-US" dirty="0"/>
              <a:t> is binary data that represents text properties. They are used in Rules and </a:t>
            </a:r>
            <a:r>
              <a:rPr lang="en-US" dirty="0" err="1"/>
              <a:t>StyleRules</a:t>
            </a:r>
            <a:r>
              <a:rPr lang="en-US" dirty="0"/>
              <a:t> in </a:t>
            </a:r>
            <a:r>
              <a:rPr lang="en-US" dirty="0" err="1"/>
              <a:t>StStyle</a:t>
            </a:r>
            <a:r>
              <a:rPr lang="en-US" dirty="0"/>
              <a:t>. In the fwdata file they are stored in a Prop element with label and value pairs.</a:t>
            </a:r>
            <a:br>
              <a:rPr lang="en-US" dirty="0"/>
            </a:br>
            <a:r>
              <a:rPr lang="en-US" dirty="0"/>
              <a:t>&lt;Rules&gt;</a:t>
            </a:r>
            <a:br>
              <a:rPr lang="en-US" dirty="0"/>
            </a:br>
            <a:r>
              <a:rPr lang="en-US" dirty="0"/>
              <a:t>&lt;Prop </a:t>
            </a:r>
            <a:r>
              <a:rPr lang="en-US" dirty="0" err="1"/>
              <a:t>bulNumScheme</a:t>
            </a:r>
            <a:r>
              <a:rPr lang="en-US" dirty="0"/>
              <a:t>="10" </a:t>
            </a:r>
            <a:r>
              <a:rPr lang="en-US" dirty="0" err="1"/>
              <a:t>bulNumStartAt</a:t>
            </a:r>
            <a:r>
              <a:rPr lang="en-US" dirty="0"/>
              <a:t>="1" </a:t>
            </a:r>
            <a:r>
              <a:rPr lang="en-US" dirty="0" err="1"/>
              <a:t>firstIndent</a:t>
            </a:r>
            <a:r>
              <a:rPr lang="en-US" dirty="0"/>
              <a:t>="-9000" </a:t>
            </a:r>
            <a:r>
              <a:rPr lang="en-US" dirty="0" err="1"/>
              <a:t>leadingIndent</a:t>
            </a:r>
            <a:r>
              <a:rPr lang="en-US" dirty="0"/>
              <a:t>="21000"&gt;&lt;/Prop&gt;</a:t>
            </a:r>
            <a:br>
              <a:rPr lang="en-US" dirty="0"/>
            </a:br>
            <a:r>
              <a:rPr lang="en-US" dirty="0"/>
              <a:t>&lt;/Rules&gt;</a:t>
            </a:r>
          </a:p>
          <a:p>
            <a:r>
              <a:rPr lang="en-US" dirty="0"/>
              <a:t>&lt;</a:t>
            </a:r>
            <a:r>
              <a:rPr lang="en-US" dirty="0" err="1"/>
              <a:t>StyleRules</a:t>
            </a:r>
            <a:r>
              <a:rPr lang="en-US" dirty="0"/>
              <a:t>&gt;</a:t>
            </a:r>
            <a:br>
              <a:rPr lang="en-US" dirty="0"/>
            </a:br>
            <a:r>
              <a:rPr lang="en-US" dirty="0"/>
              <a:t>&lt;Prop </a:t>
            </a:r>
            <a:r>
              <a:rPr lang="en-US" dirty="0" err="1"/>
              <a:t>namedStyle</a:t>
            </a:r>
            <a:r>
              <a:rPr lang="en-US" dirty="0"/>
              <a:t>="Normal“ /Prop&gt;</a:t>
            </a:r>
            <a:br>
              <a:rPr lang="en-US" dirty="0"/>
            </a:br>
            <a:r>
              <a:rPr lang="en-US" dirty="0"/>
              <a:t>&lt;/</a:t>
            </a:r>
            <a:r>
              <a:rPr lang="en-US" dirty="0" err="1"/>
              <a:t>StyleRules</a:t>
            </a:r>
            <a:r>
              <a:rPr lang="en-US" dirty="0"/>
              <a:t>&gt;</a:t>
            </a:r>
          </a:p>
          <a:p>
            <a:r>
              <a:rPr lang="en-US" dirty="0"/>
              <a:t>The list of possible </a:t>
            </a:r>
            <a:r>
              <a:rPr lang="en-US" dirty="0" err="1"/>
              <a:t>TextPropTypes</a:t>
            </a:r>
            <a:r>
              <a:rPr lang="en-US" dirty="0"/>
              <a:t> are defined in FwKernelTlb.idl in </a:t>
            </a:r>
            <a:r>
              <a:rPr lang="en-US" dirty="0" err="1"/>
              <a:t>liblcm</a:t>
            </a:r>
            <a:r>
              <a:rPr lang="en-US" dirty="0"/>
              <a:t>. This list is included in the document form of this presentation.</a:t>
            </a:r>
          </a:p>
          <a:p>
            <a:endParaRPr lang="en-US" dirty="0"/>
          </a:p>
        </p:txBody>
      </p:sp>
    </p:spTree>
    <p:extLst>
      <p:ext uri="{BB962C8B-B14F-4D97-AF65-F5344CB8AC3E}">
        <p14:creationId xmlns:p14="http://schemas.microsoft.com/office/powerpoint/2010/main" val="1616937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Basic properties: Time</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Time properties store a date and time and are represented as follows:</a:t>
            </a:r>
            <a:br>
              <a:rPr lang="en-US" dirty="0"/>
            </a:br>
            <a:r>
              <a:rPr lang="en-US" dirty="0"/>
              <a:t>&lt;</a:t>
            </a:r>
            <a:r>
              <a:rPr lang="en-US" dirty="0" err="1"/>
              <a:t>DateModified</a:t>
            </a:r>
            <a:r>
              <a:rPr lang="en-US" dirty="0"/>
              <a:t> </a:t>
            </a:r>
            <a:r>
              <a:rPr lang="en-US" dirty="0" err="1"/>
              <a:t>val</a:t>
            </a:r>
            <a:r>
              <a:rPr lang="en-US" dirty="0"/>
              <a:t>="2009-9-23 20:53:23.390"/&gt;</a:t>
            </a:r>
          </a:p>
          <a:p>
            <a:r>
              <a:rPr lang="en-US" dirty="0"/>
              <a:t>This is the </a:t>
            </a:r>
            <a:r>
              <a:rPr lang="en-US" dirty="0" err="1"/>
              <a:t>DateModified</a:t>
            </a:r>
            <a:r>
              <a:rPr lang="en-US" dirty="0"/>
              <a:t> property on </a:t>
            </a:r>
            <a:r>
              <a:rPr lang="en-US" dirty="0" err="1"/>
              <a:t>CmMajorObject</a:t>
            </a:r>
            <a:r>
              <a:rPr lang="en-US" dirty="0"/>
              <a:t>. The time is stored in the “</a:t>
            </a:r>
            <a:r>
              <a:rPr lang="en-US" dirty="0" err="1"/>
              <a:t>val</a:t>
            </a:r>
            <a:r>
              <a:rPr lang="en-US" dirty="0"/>
              <a:t>” attribute in the format YYYY-MM-DD HH:MM:SS.TTT (TTT is thousandths of a second). This format should be used regardless of the locale of the computer. If the format is incorrect, usually Tools &gt; Utilities &gt; Write Everything will fix them.</a:t>
            </a:r>
          </a:p>
          <a:p>
            <a:endParaRPr lang="en-US" dirty="0"/>
          </a:p>
        </p:txBody>
      </p:sp>
    </p:spTree>
    <p:extLst>
      <p:ext uri="{BB962C8B-B14F-4D97-AF65-F5344CB8AC3E}">
        <p14:creationId xmlns:p14="http://schemas.microsoft.com/office/powerpoint/2010/main" val="3714702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Linking Properties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Each instance of a class (object) has a guid that identifies that object and is used in linking to other objects.</a:t>
            </a:r>
          </a:p>
          <a:p>
            <a:r>
              <a:rPr lang="en-US" dirty="0"/>
              <a:t>There are two basic types of linking:</a:t>
            </a:r>
          </a:p>
          <a:p>
            <a:pPr lvl="1"/>
            <a:r>
              <a:rPr lang="en-US" dirty="0"/>
              <a:t>Owning – most objects are in an ownership hierarchy, normally starting from </a:t>
            </a:r>
            <a:r>
              <a:rPr lang="en-US" dirty="0" err="1"/>
              <a:t>LangProject</a:t>
            </a:r>
            <a:r>
              <a:rPr lang="en-US" dirty="0"/>
              <a:t>. An object can own any number of objects through owning properties, but each object can only have one owner.</a:t>
            </a:r>
          </a:p>
          <a:p>
            <a:pPr lvl="1"/>
            <a:r>
              <a:rPr lang="en-US" dirty="0"/>
              <a:t>Reference – any object can reference other objects through reference properties.</a:t>
            </a:r>
          </a:p>
          <a:p>
            <a:r>
              <a:rPr lang="en-US" dirty="0"/>
              <a:t>In both cases, linking properties can be of three cardinalities:</a:t>
            </a:r>
          </a:p>
          <a:p>
            <a:pPr lvl="1"/>
            <a:r>
              <a:rPr lang="en-US" dirty="0"/>
              <a:t>Atomic – links to zero or one other object.</a:t>
            </a:r>
          </a:p>
          <a:p>
            <a:pPr lvl="1"/>
            <a:r>
              <a:rPr lang="en-US" dirty="0"/>
              <a:t>Collection – links to any number of objects where the order is unspecified at the conceptual model level. They may be sorted by the program during use.</a:t>
            </a:r>
          </a:p>
          <a:p>
            <a:pPr lvl="1"/>
            <a:r>
              <a:rPr lang="en-US" dirty="0"/>
              <a:t>Sequence – links to any number of objects where the order is significant.</a:t>
            </a:r>
          </a:p>
          <a:p>
            <a:endParaRPr lang="en-US" dirty="0"/>
          </a:p>
        </p:txBody>
      </p:sp>
    </p:spTree>
    <p:extLst>
      <p:ext uri="{BB962C8B-B14F-4D97-AF65-F5344CB8AC3E}">
        <p14:creationId xmlns:p14="http://schemas.microsoft.com/office/powerpoint/2010/main" val="2122809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Linking Properties: Owning</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dirty="0"/>
              <a:t>Most objects in FLEx are owned by other objects that eventually lead to </a:t>
            </a:r>
            <a:r>
              <a:rPr lang="en-US" dirty="0" err="1"/>
              <a:t>LangProject</a:t>
            </a:r>
            <a:r>
              <a:rPr lang="en-US" dirty="0"/>
              <a:t> at the top level of the ownership hierarchy.</a:t>
            </a:r>
          </a:p>
          <a:p>
            <a:r>
              <a:rPr lang="en-US" dirty="0"/>
              <a:t>For example, </a:t>
            </a:r>
            <a:r>
              <a:rPr lang="en-US" dirty="0" err="1"/>
              <a:t>LangProject</a:t>
            </a:r>
            <a:r>
              <a:rPr lang="en-US" dirty="0"/>
              <a:t> has a </a:t>
            </a:r>
            <a:r>
              <a:rPr lang="en-US" dirty="0" err="1"/>
              <a:t>PartsOfSpeech</a:t>
            </a:r>
            <a:r>
              <a:rPr lang="en-US" dirty="0"/>
              <a:t> property that owns a </a:t>
            </a:r>
            <a:r>
              <a:rPr lang="en-US" dirty="0" err="1"/>
              <a:t>CmPossibilityList</a:t>
            </a:r>
            <a:r>
              <a:rPr lang="en-US" dirty="0"/>
              <a:t> object and the </a:t>
            </a:r>
            <a:r>
              <a:rPr lang="en-US" dirty="0" err="1"/>
              <a:t>CmPossibilityList</a:t>
            </a:r>
            <a:r>
              <a:rPr lang="en-US" dirty="0"/>
              <a:t> object has a Possibilities property that owns </a:t>
            </a:r>
            <a:r>
              <a:rPr lang="en-US" dirty="0" err="1"/>
              <a:t>PartOfSpeech</a:t>
            </a:r>
            <a:r>
              <a:rPr lang="en-US" dirty="0"/>
              <a:t> objects (a subclass of </a:t>
            </a:r>
            <a:r>
              <a:rPr lang="en-US" dirty="0" err="1"/>
              <a:t>CmPossibility</a:t>
            </a:r>
            <a:r>
              <a:rPr lang="en-US" dirty="0"/>
              <a:t>).</a:t>
            </a:r>
          </a:p>
          <a:p>
            <a:r>
              <a:rPr lang="en-US" dirty="0"/>
              <a:t>These classes do not have owners: </a:t>
            </a:r>
            <a:r>
              <a:rPr lang="en-US" dirty="0" err="1"/>
              <a:t>LangProject</a:t>
            </a:r>
            <a:r>
              <a:rPr lang="en-US" dirty="0"/>
              <a:t>, </a:t>
            </a:r>
            <a:r>
              <a:rPr lang="en-US" dirty="0" err="1"/>
              <a:t>LexEntry</a:t>
            </a:r>
            <a:r>
              <a:rPr lang="en-US" dirty="0"/>
              <a:t>, </a:t>
            </a:r>
            <a:r>
              <a:rPr lang="en-US" dirty="0" err="1"/>
              <a:t>PunctuationForm</a:t>
            </a:r>
            <a:r>
              <a:rPr lang="en-US" dirty="0"/>
              <a:t>, </a:t>
            </a:r>
            <a:r>
              <a:rPr lang="en-US" dirty="0" err="1"/>
              <a:t>ScrRefSystem</a:t>
            </a:r>
            <a:r>
              <a:rPr lang="en-US" dirty="0"/>
              <a:t>, Text, </a:t>
            </a:r>
            <a:r>
              <a:rPr lang="en-US" dirty="0" err="1"/>
              <a:t>VirtualOrdering</a:t>
            </a:r>
            <a:r>
              <a:rPr lang="en-US" dirty="0"/>
              <a:t>, and </a:t>
            </a:r>
            <a:r>
              <a:rPr lang="en-US" dirty="0" err="1"/>
              <a:t>WfiWordform</a:t>
            </a:r>
            <a:r>
              <a:rPr lang="en-US" dirty="0"/>
              <a:t>. </a:t>
            </a:r>
            <a:r>
              <a:rPr lang="en-US" dirty="0" err="1"/>
              <a:t>CmPicture</a:t>
            </a:r>
            <a:r>
              <a:rPr lang="en-US" dirty="0"/>
              <a:t> and </a:t>
            </a:r>
            <a:r>
              <a:rPr lang="en-US" dirty="0" err="1"/>
              <a:t>CmPossibilityList</a:t>
            </a:r>
            <a:r>
              <a:rPr lang="en-US" dirty="0"/>
              <a:t> may or may not have owners.</a:t>
            </a:r>
          </a:p>
          <a:p>
            <a:r>
              <a:rPr lang="en-US" dirty="0"/>
              <a:t>Ownership links always involve two links: one from the owner to the owned object, and the other from the owned object back to the owner.</a:t>
            </a:r>
          </a:p>
          <a:p>
            <a:r>
              <a:rPr lang="en-US" dirty="0"/>
              <a:t>The owning class has an owning property that holds an </a:t>
            </a:r>
            <a:r>
              <a:rPr lang="en-US" dirty="0" err="1"/>
              <a:t>objsur</a:t>
            </a:r>
            <a:r>
              <a:rPr lang="en-US" dirty="0"/>
              <a:t> (object surrogate) element with a ‘t’ type attribute set to “o” specifying an owning relationship. The owned object has an </a:t>
            </a:r>
            <a:r>
              <a:rPr lang="en-US" dirty="0" err="1"/>
              <a:t>ownerguid</a:t>
            </a:r>
            <a:r>
              <a:rPr lang="en-US" dirty="0"/>
              <a:t> attribute in the rt header that holds the guid of the owning class.</a:t>
            </a:r>
          </a:p>
          <a:p>
            <a:r>
              <a:rPr lang="en-US" dirty="0"/>
              <a:t>To find an object in fwdata, search for</a:t>
            </a:r>
            <a:br>
              <a:rPr lang="en-US" dirty="0"/>
            </a:br>
            <a:r>
              <a:rPr lang="en-US" dirty="0"/>
              <a:t>" guid="&lt;first part of guid&gt;</a:t>
            </a:r>
          </a:p>
          <a:p>
            <a:endParaRPr lang="en-US" dirty="0"/>
          </a:p>
        </p:txBody>
      </p:sp>
    </p:spTree>
    <p:extLst>
      <p:ext uri="{BB962C8B-B14F-4D97-AF65-F5344CB8AC3E}">
        <p14:creationId xmlns:p14="http://schemas.microsoft.com/office/powerpoint/2010/main" val="3478236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Linking Properties: Owning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77500" lnSpcReduction="20000"/>
          </a:bodyPr>
          <a:lstStyle/>
          <a:p>
            <a:r>
              <a:rPr lang="en-US" dirty="0"/>
              <a:t>Here is an example from the Discussion owning property in a </a:t>
            </a:r>
            <a:r>
              <a:rPr lang="en-US" dirty="0" err="1"/>
              <a:t>CmPossibility</a:t>
            </a:r>
            <a:r>
              <a:rPr lang="en-US" dirty="0"/>
              <a:t> that owns an </a:t>
            </a:r>
            <a:r>
              <a:rPr lang="en-US" dirty="0" err="1"/>
              <a:t>StText</a:t>
            </a:r>
            <a:r>
              <a:rPr lang="en-US" dirty="0"/>
              <a:t> object which in turn has a Paragraphs owning property that owns one or more </a:t>
            </a:r>
            <a:r>
              <a:rPr lang="en-US" dirty="0" err="1"/>
              <a:t>StTxtPara</a:t>
            </a:r>
            <a:r>
              <a:rPr lang="en-US" dirty="0"/>
              <a:t> objects. The actual text of the paragraph is in the </a:t>
            </a:r>
            <a:r>
              <a:rPr lang="en-US" dirty="0" err="1"/>
              <a:t>StTxtPara</a:t>
            </a:r>
            <a:r>
              <a:rPr lang="en-US" dirty="0"/>
              <a:t> object. In this case, the </a:t>
            </a:r>
            <a:r>
              <a:rPr lang="en-US" dirty="0" err="1"/>
              <a:t>StTxtPara</a:t>
            </a:r>
            <a:r>
              <a:rPr lang="en-US" dirty="0"/>
              <a:t> does not have a Contents property, so it doesn’t have any text.</a:t>
            </a:r>
            <a:br>
              <a:rPr lang="en-US" dirty="0"/>
            </a:br>
            <a:br>
              <a:rPr lang="en-US" dirty="0"/>
            </a:br>
            <a:r>
              <a:rPr lang="en-US" dirty="0"/>
              <a:t>&lt;rt class="</a:t>
            </a:r>
            <a:r>
              <a:rPr lang="en-US" dirty="0" err="1"/>
              <a:t>CmPossibility</a:t>
            </a:r>
            <a:r>
              <a:rPr lang="en-US" dirty="0"/>
              <a:t>" guid="</a:t>
            </a:r>
            <a:r>
              <a:rPr lang="en-US" dirty="0">
                <a:highlight>
                  <a:srgbClr val="FFFF00"/>
                </a:highlight>
              </a:rPr>
              <a:t>80a0dddb-8b4b-4454-b872-88adec6f2aba</a:t>
            </a:r>
            <a:r>
              <a:rPr lang="en-US" dirty="0"/>
              <a:t>" </a:t>
            </a:r>
            <a:r>
              <a:rPr lang="en-US" dirty="0" err="1"/>
              <a:t>ownerguid</a:t>
            </a:r>
            <a:r>
              <a:rPr lang="en-US" dirty="0"/>
              <a:t>="d7f71649-e8cf-11d3-9764-00c04f186933"&gt;</a:t>
            </a:r>
            <a:br>
              <a:rPr lang="en-US" dirty="0"/>
            </a:br>
            <a:r>
              <a:rPr lang="it-IT" dirty="0"/>
              <a:t>&lt;Discussion&gt;</a:t>
            </a:r>
            <a:br>
              <a:rPr lang="it-IT" dirty="0"/>
            </a:br>
            <a:r>
              <a:rPr lang="it-IT" dirty="0"/>
              <a:t>&lt;objsur guid="</a:t>
            </a:r>
            <a:r>
              <a:rPr lang="it-IT" dirty="0">
                <a:highlight>
                  <a:srgbClr val="00FF00"/>
                </a:highlight>
              </a:rPr>
              <a:t>3aeef2e2-9466-41d5-afa7-d569f667fc79</a:t>
            </a:r>
            <a:r>
              <a:rPr lang="it-IT" dirty="0"/>
              <a:t>" t="o" /&gt;</a:t>
            </a:r>
            <a:br>
              <a:rPr lang="it-IT" dirty="0"/>
            </a:br>
            <a:r>
              <a:rPr lang="it-IT" dirty="0"/>
              <a:t>&lt;/Discussion&gt;</a:t>
            </a:r>
            <a:br>
              <a:rPr lang="it-IT" dirty="0"/>
            </a:br>
            <a:r>
              <a:rPr lang="it-IT" dirty="0"/>
              <a:t>&lt;/rt&gt;</a:t>
            </a:r>
            <a:br>
              <a:rPr lang="it-IT" dirty="0"/>
            </a:br>
            <a:br>
              <a:rPr lang="it-IT" dirty="0"/>
            </a:br>
            <a:r>
              <a:rPr lang="it-IT" dirty="0"/>
              <a:t>&lt;rt class="StText" guid="</a:t>
            </a:r>
            <a:r>
              <a:rPr lang="it-IT" dirty="0">
                <a:highlight>
                  <a:srgbClr val="00FF00"/>
                </a:highlight>
              </a:rPr>
              <a:t>3aeef2e2-9466-41d5-afa7-d569f667fc79</a:t>
            </a:r>
            <a:r>
              <a:rPr lang="it-IT" dirty="0"/>
              <a:t>" ownerguid="</a:t>
            </a:r>
            <a:r>
              <a:rPr lang="it-IT" dirty="0">
                <a:highlight>
                  <a:srgbClr val="FFFF00"/>
                </a:highlight>
              </a:rPr>
              <a:t>80a0dddb-8b4b-4454-b872-88adec6f2aba</a:t>
            </a:r>
            <a:r>
              <a:rPr lang="it-IT" dirty="0"/>
              <a:t>"&gt;</a:t>
            </a:r>
            <a:br>
              <a:rPr lang="it-IT" dirty="0"/>
            </a:br>
            <a:r>
              <a:rPr lang="it-IT" dirty="0"/>
              <a:t>&lt;Paragraphs&gt;</a:t>
            </a:r>
            <a:br>
              <a:rPr lang="it-IT" dirty="0"/>
            </a:br>
            <a:r>
              <a:rPr lang="it-IT" dirty="0"/>
              <a:t>&lt;objsur guid="</a:t>
            </a:r>
            <a:r>
              <a:rPr lang="it-IT" dirty="0">
                <a:highlight>
                  <a:srgbClr val="00FFFF"/>
                </a:highlight>
              </a:rPr>
              <a:t>9555b62c-51f6-4b2a-ba51-944c5d69f4c1</a:t>
            </a:r>
            <a:r>
              <a:rPr lang="it-IT" dirty="0"/>
              <a:t>" t="o" /&gt;</a:t>
            </a:r>
            <a:br>
              <a:rPr lang="it-IT" dirty="0"/>
            </a:br>
            <a:r>
              <a:rPr lang="it-IT" dirty="0"/>
              <a:t>&lt;/Paragraphs&gt;</a:t>
            </a:r>
            <a:br>
              <a:rPr lang="it-IT" dirty="0"/>
            </a:br>
            <a:r>
              <a:rPr lang="it-IT" dirty="0"/>
              <a:t>&lt;/rt&gt;</a:t>
            </a:r>
            <a:br>
              <a:rPr lang="it-IT" dirty="0"/>
            </a:br>
            <a:br>
              <a:rPr lang="it-IT" dirty="0"/>
            </a:br>
            <a:r>
              <a:rPr lang="it-IT" dirty="0"/>
              <a:t>&lt;rt class="StTxtPara" guid="</a:t>
            </a:r>
            <a:r>
              <a:rPr lang="it-IT" dirty="0">
                <a:highlight>
                  <a:srgbClr val="00FFFF"/>
                </a:highlight>
              </a:rPr>
              <a:t>9555b62c-51f6-4b2a-ba51-944c5d69f4c1</a:t>
            </a:r>
            <a:r>
              <a:rPr lang="it-IT" dirty="0"/>
              <a:t>" ownerguid="</a:t>
            </a:r>
            <a:r>
              <a:rPr lang="it-IT" dirty="0">
                <a:highlight>
                  <a:srgbClr val="00FF00"/>
                </a:highlight>
              </a:rPr>
              <a:t>3aeef2e2-9466-41d5-afa7-d569f667fc79</a:t>
            </a:r>
            <a:r>
              <a:rPr lang="it-IT" dirty="0"/>
              <a:t>" /&gt;</a:t>
            </a:r>
            <a:endParaRPr lang="en-US" dirty="0"/>
          </a:p>
        </p:txBody>
      </p:sp>
    </p:spTree>
    <p:extLst>
      <p:ext uri="{BB962C8B-B14F-4D97-AF65-F5344CB8AC3E}">
        <p14:creationId xmlns:p14="http://schemas.microsoft.com/office/powerpoint/2010/main" val="17580102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Linking Properties: Owning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lnSpcReduction="10000"/>
          </a:bodyPr>
          <a:lstStyle/>
          <a:p>
            <a:r>
              <a:rPr lang="en-US" dirty="0"/>
              <a:t>When you delete an object from FLEx, </a:t>
            </a:r>
            <a:r>
              <a:rPr lang="en-US" dirty="0" err="1"/>
              <a:t>LcmBrower</a:t>
            </a:r>
            <a:r>
              <a:rPr lang="en-US" dirty="0"/>
              <a:t>, or via LCM code (e.g., </a:t>
            </a:r>
            <a:r>
              <a:rPr lang="en-US" dirty="0" err="1"/>
              <a:t>FlexTools</a:t>
            </a:r>
            <a:r>
              <a:rPr lang="en-US" dirty="0"/>
              <a:t>), it deletes the object and all objects in its ownership hierarchy. This will properly remove the objects plus all owning and reference links to all of the deleted objects.</a:t>
            </a:r>
          </a:p>
          <a:p>
            <a:r>
              <a:rPr lang="en-US" dirty="0"/>
              <a:t>Deleting an rt object in fwdata will leave any owned objects or references still in the file which will likely cause a crash if they are not properly deleted. Since owning relations are two way references, the deleted object needs to be removed from the owning object.</a:t>
            </a:r>
          </a:p>
          <a:p>
            <a:r>
              <a:rPr lang="en-US" dirty="0"/>
              <a:t>One way that usually works is to delete one or more objects and then before opening the project, open another project and run Tools &gt; Utilities &gt; Find and fix… and select the project that needs fixing. This will delete any objects that should have an owner but it’s missing, as well as clearing out all of the orphaned owning and reference </a:t>
            </a:r>
            <a:r>
              <a:rPr lang="en-US" dirty="0" err="1"/>
              <a:t>objsur</a:t>
            </a:r>
            <a:r>
              <a:rPr lang="en-US" dirty="0"/>
              <a:t> elements.</a:t>
            </a:r>
          </a:p>
          <a:p>
            <a:endParaRPr lang="en-US" dirty="0"/>
          </a:p>
        </p:txBody>
      </p:sp>
    </p:spTree>
    <p:extLst>
      <p:ext uri="{BB962C8B-B14F-4D97-AF65-F5344CB8AC3E}">
        <p14:creationId xmlns:p14="http://schemas.microsoft.com/office/powerpoint/2010/main" val="1227345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Linking Properties: Reference</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62500" lnSpcReduction="20000"/>
          </a:bodyPr>
          <a:lstStyle/>
          <a:p>
            <a:r>
              <a:rPr lang="en-US" dirty="0"/>
              <a:t>Reference properties provide links to other objects without involving ownership hierarchy. Reference links are one-way in the model.</a:t>
            </a:r>
          </a:p>
          <a:p>
            <a:r>
              <a:rPr lang="en-US" dirty="0"/>
              <a:t>Reference properties are similar to owning properties in that both use </a:t>
            </a:r>
            <a:r>
              <a:rPr lang="en-US" dirty="0" err="1"/>
              <a:t>objsur</a:t>
            </a:r>
            <a:r>
              <a:rPr lang="en-US" dirty="0"/>
              <a:t> elements. The difference is that reference properties use the ‘t’ attribute set to “r” for reference. The following example demonstrates how senses reference semantic domains through a </a:t>
            </a:r>
            <a:r>
              <a:rPr lang="en-US" dirty="0" err="1"/>
              <a:t>SemanticDomains</a:t>
            </a:r>
            <a:r>
              <a:rPr lang="en-US" dirty="0"/>
              <a:t> reference collection property.</a:t>
            </a:r>
            <a:br>
              <a:rPr lang="en-US" dirty="0"/>
            </a:br>
            <a:br>
              <a:rPr lang="en-US" dirty="0"/>
            </a:br>
            <a:r>
              <a:rPr lang="en-US" dirty="0"/>
              <a:t>&lt;rt class="</a:t>
            </a:r>
            <a:r>
              <a:rPr lang="en-US" dirty="0" err="1"/>
              <a:t>LexSense</a:t>
            </a:r>
            <a:r>
              <a:rPr lang="en-US" dirty="0"/>
              <a:t>" guid="e79c8d25-eb3d-43ec-94b7-ccb4fead1d40" </a:t>
            </a:r>
            <a:r>
              <a:rPr lang="en-US" dirty="0" err="1"/>
              <a:t>ownerguid</a:t>
            </a:r>
            <a:r>
              <a:rPr lang="en-US" dirty="0"/>
              <a:t>="d6e17340-dc0f-458a-9fd6-c8de368918d5"&gt;</a:t>
            </a:r>
            <a:br>
              <a:rPr lang="en-US" dirty="0"/>
            </a:br>
            <a:r>
              <a:rPr lang="en-US" dirty="0"/>
              <a:t>&lt;</a:t>
            </a:r>
            <a:r>
              <a:rPr lang="en-US" dirty="0" err="1"/>
              <a:t>SemanticDomains</a:t>
            </a:r>
            <a:r>
              <a:rPr lang="en-US" dirty="0"/>
              <a:t>&gt;</a:t>
            </a:r>
            <a:br>
              <a:rPr lang="en-US" dirty="0"/>
            </a:br>
            <a:r>
              <a:rPr lang="en-US" dirty="0"/>
              <a:t>&lt;</a:t>
            </a:r>
            <a:r>
              <a:rPr lang="en-US" dirty="0" err="1"/>
              <a:t>objsur</a:t>
            </a:r>
            <a:r>
              <a:rPr lang="en-US" dirty="0"/>
              <a:t> guid="</a:t>
            </a:r>
            <a:r>
              <a:rPr lang="en-US" dirty="0">
                <a:highlight>
                  <a:srgbClr val="FFFF00"/>
                </a:highlight>
              </a:rPr>
              <a:t>ba06de9e-63e1-43e6-ae94-77bea498379a</a:t>
            </a:r>
            <a:r>
              <a:rPr lang="en-US" dirty="0"/>
              <a:t>" t="r" /&gt;</a:t>
            </a:r>
            <a:br>
              <a:rPr lang="en-US" dirty="0"/>
            </a:br>
            <a:r>
              <a:rPr lang="en-US" dirty="0"/>
              <a:t>&lt;</a:t>
            </a:r>
            <a:r>
              <a:rPr lang="en-US" dirty="0" err="1"/>
              <a:t>objsur</a:t>
            </a:r>
            <a:r>
              <a:rPr lang="en-US" dirty="0"/>
              <a:t> guid="</a:t>
            </a:r>
            <a:r>
              <a:rPr lang="en-US" dirty="0">
                <a:highlight>
                  <a:srgbClr val="00FF00"/>
                </a:highlight>
              </a:rPr>
              <a:t>191ca5a5-0a67-426e-adfc-6fdf7c2aaa2c</a:t>
            </a:r>
            <a:r>
              <a:rPr lang="en-US" dirty="0"/>
              <a:t>" t="r" /&gt;</a:t>
            </a:r>
            <a:br>
              <a:rPr lang="en-US" dirty="0"/>
            </a:br>
            <a:r>
              <a:rPr lang="en-US" dirty="0"/>
              <a:t>&lt;/</a:t>
            </a:r>
            <a:r>
              <a:rPr lang="en-US" dirty="0" err="1"/>
              <a:t>SemanticDomains</a:t>
            </a:r>
            <a:r>
              <a:rPr lang="en-US" dirty="0"/>
              <a:t>&gt;</a:t>
            </a:r>
            <a:br>
              <a:rPr lang="en-US" dirty="0"/>
            </a:br>
            <a:r>
              <a:rPr lang="en-US" dirty="0"/>
              <a:t>&lt;/rt&gt;</a:t>
            </a:r>
            <a:br>
              <a:rPr lang="en-US" dirty="0"/>
            </a:br>
            <a:br>
              <a:rPr lang="en-US" dirty="0"/>
            </a:br>
            <a:r>
              <a:rPr lang="en-US" dirty="0"/>
              <a:t>&lt;rt guid="</a:t>
            </a:r>
            <a:r>
              <a:rPr lang="en-US" dirty="0">
                <a:highlight>
                  <a:srgbClr val="00FF00"/>
                </a:highlight>
              </a:rPr>
              <a:t>191ca5a5-0a67-426e-adfc-6fdf7c2aaa2c</a:t>
            </a:r>
            <a:r>
              <a:rPr lang="en-US" dirty="0"/>
              <a:t>" class="</a:t>
            </a:r>
            <a:r>
              <a:rPr lang="en-US" dirty="0" err="1"/>
              <a:t>CmSemanticDomain</a:t>
            </a:r>
            <a:r>
              <a:rPr lang="en-US" dirty="0"/>
              <a:t>" </a:t>
            </a:r>
            <a:r>
              <a:rPr lang="en-US" dirty="0" err="1"/>
              <a:t>ownerguid</a:t>
            </a:r>
            <a:r>
              <a:rPr lang="en-US" dirty="0"/>
              <a:t>="dc177f3c-d0fd-4232-adf1-a77b339cdbb2"&gt;</a:t>
            </a:r>
            <a:br>
              <a:rPr lang="en-US" dirty="0"/>
            </a:br>
            <a:r>
              <a:rPr lang="en-US" dirty="0"/>
              <a:t>&lt;Name&gt;</a:t>
            </a:r>
            <a:br>
              <a:rPr lang="en-US" dirty="0"/>
            </a:br>
            <a:r>
              <a:rPr lang="en-US" dirty="0"/>
              <a:t>&lt;</a:t>
            </a:r>
            <a:r>
              <a:rPr lang="en-US" dirty="0" err="1"/>
              <a:t>AUni</a:t>
            </a:r>
            <a:r>
              <a:rPr lang="en-US" dirty="0"/>
              <a:t> </a:t>
            </a:r>
            <a:r>
              <a:rPr lang="en-US" dirty="0" err="1"/>
              <a:t>ws</a:t>
            </a:r>
            <a:r>
              <a:rPr lang="en-US" dirty="0"/>
              <a:t>="</a:t>
            </a:r>
            <a:r>
              <a:rPr lang="en-US" dirty="0" err="1"/>
              <a:t>en</a:t>
            </a:r>
            <a:r>
              <a:rPr lang="en-US" dirty="0"/>
              <a:t>"&gt;House&lt;/</a:t>
            </a:r>
            <a:r>
              <a:rPr lang="en-US" dirty="0" err="1"/>
              <a:t>AUni</a:t>
            </a:r>
            <a:r>
              <a:rPr lang="en-US" dirty="0"/>
              <a:t>&gt;</a:t>
            </a:r>
            <a:br>
              <a:rPr lang="en-US" dirty="0"/>
            </a:br>
            <a:r>
              <a:rPr lang="en-US" dirty="0"/>
              <a:t>&lt;/Name&gt;</a:t>
            </a:r>
            <a:br>
              <a:rPr lang="en-US" dirty="0"/>
            </a:br>
            <a:r>
              <a:rPr lang="en-US" dirty="0"/>
              <a:t>&lt;/rt&gt;</a:t>
            </a:r>
            <a:br>
              <a:rPr lang="en-US" dirty="0"/>
            </a:br>
            <a:br>
              <a:rPr lang="en-US" dirty="0"/>
            </a:br>
            <a:r>
              <a:rPr lang="en-US" dirty="0"/>
              <a:t>&lt;rt guid="</a:t>
            </a:r>
            <a:r>
              <a:rPr lang="en-US" dirty="0">
                <a:highlight>
                  <a:srgbClr val="FFFF00"/>
                </a:highlight>
              </a:rPr>
              <a:t>ba06de9e-63e1-43e6-ae94-77bea498379a</a:t>
            </a:r>
            <a:r>
              <a:rPr lang="en-US" dirty="0"/>
              <a:t>" class="</a:t>
            </a:r>
            <a:r>
              <a:rPr lang="en-US" dirty="0" err="1"/>
              <a:t>CmSemanticDomain</a:t>
            </a:r>
            <a:r>
              <a:rPr lang="en-US" dirty="0"/>
              <a:t>" </a:t>
            </a:r>
            <a:r>
              <a:rPr lang="en-US" dirty="0" err="1"/>
              <a:t>ownerguid</a:t>
            </a:r>
            <a:r>
              <a:rPr lang="en-US" dirty="0"/>
              <a:t>="c924bfce-beed-4382-95e8-62b54951c83d"&gt;</a:t>
            </a:r>
            <a:br>
              <a:rPr lang="en-US" dirty="0"/>
            </a:br>
            <a:r>
              <a:rPr lang="en-US" dirty="0"/>
              <a:t>&lt;Name&gt;</a:t>
            </a:r>
            <a:br>
              <a:rPr lang="en-US" dirty="0"/>
            </a:br>
            <a:r>
              <a:rPr lang="en-US" dirty="0"/>
              <a:t>&lt;</a:t>
            </a:r>
            <a:r>
              <a:rPr lang="en-US" dirty="0" err="1"/>
              <a:t>AUni</a:t>
            </a:r>
            <a:r>
              <a:rPr lang="en-US" dirty="0"/>
              <a:t> </a:t>
            </a:r>
            <a:r>
              <a:rPr lang="en-US" dirty="0" err="1"/>
              <a:t>ws</a:t>
            </a:r>
            <a:r>
              <a:rPr lang="en-US" dirty="0"/>
              <a:t>="</a:t>
            </a:r>
            <a:r>
              <a:rPr lang="en-US" dirty="0" err="1"/>
              <a:t>en</a:t>
            </a:r>
            <a:r>
              <a:rPr lang="en-US" dirty="0"/>
              <a:t>"&gt;Person&lt;/</a:t>
            </a:r>
            <a:r>
              <a:rPr lang="en-US" dirty="0" err="1"/>
              <a:t>AUni</a:t>
            </a:r>
            <a:r>
              <a:rPr lang="en-US" dirty="0"/>
              <a:t>&gt;</a:t>
            </a:r>
            <a:br>
              <a:rPr lang="en-US" dirty="0"/>
            </a:br>
            <a:r>
              <a:rPr lang="en-US" dirty="0"/>
              <a:t>&lt;/Name&gt;</a:t>
            </a:r>
            <a:br>
              <a:rPr lang="en-US" dirty="0"/>
            </a:br>
            <a:r>
              <a:rPr lang="en-US" dirty="0"/>
              <a:t>&lt;/rt&gt;</a:t>
            </a:r>
          </a:p>
          <a:p>
            <a:endParaRPr lang="en-US" dirty="0"/>
          </a:p>
        </p:txBody>
      </p:sp>
    </p:spTree>
    <p:extLst>
      <p:ext uri="{BB962C8B-B14F-4D97-AF65-F5344CB8AC3E}">
        <p14:creationId xmlns:p14="http://schemas.microsoft.com/office/powerpoint/2010/main" val="3873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Linking Properties: Reference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Unlike an owning property, there is no corresponding link from the </a:t>
            </a:r>
            <a:r>
              <a:rPr lang="en-US" dirty="0" err="1"/>
              <a:t>CmSemanticDomain</a:t>
            </a:r>
            <a:r>
              <a:rPr lang="en-US" dirty="0"/>
              <a:t> back to the </a:t>
            </a:r>
            <a:r>
              <a:rPr lang="en-US" dirty="0" err="1"/>
              <a:t>LexSense</a:t>
            </a:r>
            <a:r>
              <a:rPr lang="en-US" dirty="0"/>
              <a:t> that references it. A reference link is a one-way link.</a:t>
            </a:r>
          </a:p>
          <a:p>
            <a:r>
              <a:rPr lang="en-US" dirty="0"/>
              <a:t>If you want to find all of the senses that reference a particular </a:t>
            </a:r>
            <a:r>
              <a:rPr lang="en-US" dirty="0" err="1"/>
              <a:t>CmSemanticDomain</a:t>
            </a:r>
            <a:r>
              <a:rPr lang="en-US" dirty="0"/>
              <a:t>, you would need to search all </a:t>
            </a:r>
            <a:r>
              <a:rPr lang="en-US" dirty="0" err="1"/>
              <a:t>SemanticDomains</a:t>
            </a:r>
            <a:r>
              <a:rPr lang="en-US" dirty="0"/>
              <a:t> elements on senses looking for ones that have an </a:t>
            </a:r>
            <a:r>
              <a:rPr lang="en-US" dirty="0" err="1"/>
              <a:t>objsur</a:t>
            </a:r>
            <a:r>
              <a:rPr lang="en-US" dirty="0"/>
              <a:t> with a matching guid. In code, </a:t>
            </a:r>
            <a:r>
              <a:rPr lang="en-US" dirty="0" err="1"/>
              <a:t>CmSemanticDomain</a:t>
            </a:r>
            <a:r>
              <a:rPr lang="en-US" dirty="0"/>
              <a:t> has a </a:t>
            </a:r>
            <a:r>
              <a:rPr lang="en-US" dirty="0" err="1"/>
              <a:t>ReferringSenses</a:t>
            </a:r>
            <a:r>
              <a:rPr lang="en-US" dirty="0"/>
              <a:t> virtual method to return these senses.</a:t>
            </a:r>
          </a:p>
          <a:p>
            <a:r>
              <a:rPr lang="en-US" dirty="0"/>
              <a:t>In the fwdata file, to remove a reference link, remove the </a:t>
            </a:r>
            <a:r>
              <a:rPr lang="en-US" dirty="0" err="1"/>
              <a:t>objsur</a:t>
            </a:r>
            <a:r>
              <a:rPr lang="en-US" dirty="0"/>
              <a:t> element. If it’s the only link in the property, it’s best to remove the reference property element as well (e.g., </a:t>
            </a:r>
            <a:r>
              <a:rPr lang="en-US" dirty="0" err="1"/>
              <a:t>SemanticDonains</a:t>
            </a:r>
            <a:r>
              <a:rPr lang="en-US" dirty="0"/>
              <a:t>).</a:t>
            </a:r>
          </a:p>
          <a:p>
            <a:endParaRPr lang="en-US" dirty="0"/>
          </a:p>
        </p:txBody>
      </p:sp>
    </p:spTree>
    <p:extLst>
      <p:ext uri="{BB962C8B-B14F-4D97-AF65-F5344CB8AC3E}">
        <p14:creationId xmlns:p14="http://schemas.microsoft.com/office/powerpoint/2010/main" val="35089611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Styles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Default paragraph and character styles are available in all projects. The master list is in C:\Program Files\SIL\FieldWorks 9\Language Explorer\FlexStyles.xml, but this is mainly used for upgrading styles when changes are needed.</a:t>
            </a:r>
          </a:p>
          <a:p>
            <a:r>
              <a:rPr lang="en-US" dirty="0"/>
              <a:t>Users can add new styles as needed, or modify existing styles. Built-in styles cannot be deleted.</a:t>
            </a:r>
          </a:p>
          <a:p>
            <a:r>
              <a:rPr lang="en-US" dirty="0"/>
              <a:t>Styles are hierarchical, so styles based on another style inherit styles from higher in the hierarchy.</a:t>
            </a:r>
          </a:p>
          <a:p>
            <a:r>
              <a:rPr lang="en-US" dirty="0"/>
              <a:t>Paragraph styles are used in Dictionary Configuration for formatting elements that are treated as a paragraph which includes entries, and some other elements such as senses and examples.</a:t>
            </a:r>
          </a:p>
          <a:p>
            <a:r>
              <a:rPr lang="en-US" dirty="0"/>
              <a:t>Character styles can be embedded in strings. </a:t>
            </a:r>
          </a:p>
        </p:txBody>
      </p:sp>
    </p:spTree>
    <p:extLst>
      <p:ext uri="{BB962C8B-B14F-4D97-AF65-F5344CB8AC3E}">
        <p14:creationId xmlns:p14="http://schemas.microsoft.com/office/powerpoint/2010/main" val="39333594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Styles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85000" lnSpcReduction="20000"/>
          </a:bodyPr>
          <a:lstStyle/>
          <a:p>
            <a:r>
              <a:rPr lang="en-US" dirty="0"/>
              <a:t>Styles are stored in the Styles owning property of </a:t>
            </a:r>
            <a:r>
              <a:rPr lang="en-US" dirty="0" err="1"/>
              <a:t>LangProject</a:t>
            </a:r>
            <a:r>
              <a:rPr lang="en-US" dirty="0"/>
              <a:t> in </a:t>
            </a:r>
            <a:r>
              <a:rPr lang="en-US" dirty="0" err="1"/>
              <a:t>StStyle</a:t>
            </a:r>
            <a:r>
              <a:rPr lang="en-US" dirty="0"/>
              <a:t> classes.</a:t>
            </a:r>
          </a:p>
          <a:p>
            <a:r>
              <a:rPr lang="en-US" dirty="0"/>
              <a:t>This shows some of the elements in </a:t>
            </a:r>
            <a:r>
              <a:rPr lang="en-US" dirty="0" err="1"/>
              <a:t>StStyle</a:t>
            </a:r>
            <a:r>
              <a:rPr lang="en-US" dirty="0"/>
              <a:t>. </a:t>
            </a:r>
            <a:r>
              <a:rPr lang="en-US" dirty="0" err="1"/>
              <a:t>BasedOn</a:t>
            </a:r>
            <a:r>
              <a:rPr lang="en-US" dirty="0"/>
              <a:t> is used for hierarchy. The Name is Unicode, so it is not localizable and is the name that is used in Strings in </a:t>
            </a:r>
            <a:r>
              <a:rPr lang="en-US" dirty="0" err="1"/>
              <a:t>namedStyle</a:t>
            </a:r>
            <a:r>
              <a:rPr lang="en-US" dirty="0"/>
              <a:t> attributes. Type is 0 for Paragraph and 1 for Character styles.</a:t>
            </a:r>
          </a:p>
          <a:p>
            <a:r>
              <a:rPr lang="en-US" dirty="0"/>
              <a:t>&lt;rt class="</a:t>
            </a:r>
            <a:r>
              <a:rPr lang="en-US" dirty="0" err="1"/>
              <a:t>StStyle</a:t>
            </a:r>
            <a:r>
              <a:rPr lang="en-US" dirty="0"/>
              <a:t>" guid="7a194e30-4c8c-4934-83ad-b12ecc47a768" </a:t>
            </a:r>
            <a:r>
              <a:rPr lang="en-US" dirty="0" err="1"/>
              <a:t>ownerguid</a:t>
            </a:r>
            <a:r>
              <a:rPr lang="en-US" dirty="0"/>
              <a:t>="af1d4e34-ea5e-11de-8ec5-0013722f8dec"&gt;</a:t>
            </a:r>
            <a:br>
              <a:rPr lang="en-US" dirty="0"/>
            </a:br>
            <a:r>
              <a:rPr lang="en-US" dirty="0"/>
              <a:t>&lt;</a:t>
            </a:r>
            <a:r>
              <a:rPr lang="en-US" dirty="0" err="1"/>
              <a:t>BasedOn</a:t>
            </a:r>
            <a:r>
              <a:rPr lang="en-US" dirty="0"/>
              <a:t>&gt;</a:t>
            </a:r>
            <a:br>
              <a:rPr lang="en-US" dirty="0"/>
            </a:br>
            <a:r>
              <a:rPr lang="en-US" dirty="0"/>
              <a:t>&lt;</a:t>
            </a:r>
            <a:r>
              <a:rPr lang="en-US" dirty="0" err="1"/>
              <a:t>objsur</a:t>
            </a:r>
            <a:r>
              <a:rPr lang="en-US" dirty="0"/>
              <a:t> guid="7d2c80cd-af87-4d56-8337-cfd389b775bb" t="r" /&gt;</a:t>
            </a:r>
            <a:br>
              <a:rPr lang="en-US" dirty="0"/>
            </a:br>
            <a:r>
              <a:rPr lang="en-US" dirty="0"/>
              <a:t>&lt;/</a:t>
            </a:r>
            <a:r>
              <a:rPr lang="en-US" dirty="0" err="1"/>
              <a:t>BasedOn</a:t>
            </a:r>
            <a:r>
              <a:rPr lang="en-US" dirty="0"/>
              <a:t>&gt;</a:t>
            </a:r>
            <a:br>
              <a:rPr lang="en-US" dirty="0"/>
            </a:br>
            <a:r>
              <a:rPr lang="en-US" dirty="0"/>
              <a:t>&lt;</a:t>
            </a:r>
            <a:r>
              <a:rPr lang="en-US" dirty="0" err="1"/>
              <a:t>IsBuiltIn</a:t>
            </a:r>
            <a:r>
              <a:rPr lang="en-US" dirty="0"/>
              <a:t> </a:t>
            </a:r>
            <a:r>
              <a:rPr lang="en-US" dirty="0" err="1"/>
              <a:t>val</a:t>
            </a:r>
            <a:r>
              <a:rPr lang="en-US" dirty="0"/>
              <a:t>="True" /&gt;</a:t>
            </a:r>
            <a:br>
              <a:rPr lang="en-US" dirty="0"/>
            </a:br>
            <a:r>
              <a:rPr lang="en-US" dirty="0"/>
              <a:t>&lt;Name&gt;</a:t>
            </a:r>
            <a:br>
              <a:rPr lang="en-US" dirty="0"/>
            </a:br>
            <a:r>
              <a:rPr lang="en-US" dirty="0"/>
              <a:t>&lt;Uni&gt;Dictionary-Normal&lt;/Uni&gt;</a:t>
            </a:r>
            <a:br>
              <a:rPr lang="en-US" dirty="0"/>
            </a:br>
            <a:r>
              <a:rPr lang="en-US" dirty="0"/>
              <a:t>&lt;/Name&gt;</a:t>
            </a:r>
            <a:br>
              <a:rPr lang="en-US" dirty="0"/>
            </a:br>
            <a:r>
              <a:rPr lang="en-US" dirty="0"/>
              <a:t>&lt;Rules&gt;</a:t>
            </a:r>
            <a:br>
              <a:rPr lang="en-US" dirty="0"/>
            </a:br>
            <a:r>
              <a:rPr lang="en-US" dirty="0"/>
              <a:t>&lt;Prop </a:t>
            </a:r>
            <a:r>
              <a:rPr lang="en-US" dirty="0" err="1"/>
              <a:t>firstIndent</a:t>
            </a:r>
            <a:r>
              <a:rPr lang="en-US" dirty="0"/>
              <a:t>="-12000" </a:t>
            </a:r>
            <a:r>
              <a:rPr lang="en-US" dirty="0" err="1"/>
              <a:t>leadingIndent</a:t>
            </a:r>
            <a:r>
              <a:rPr lang="en-US" dirty="0"/>
              <a:t>="9000" </a:t>
            </a:r>
            <a:r>
              <a:rPr lang="en-US" dirty="0" err="1"/>
              <a:t>spaceAfter</a:t>
            </a:r>
            <a:r>
              <a:rPr lang="en-US" dirty="0"/>
              <a:t>="2000" </a:t>
            </a:r>
            <a:r>
              <a:rPr lang="en-US" dirty="0" err="1"/>
              <a:t>spaceBefore</a:t>
            </a:r>
            <a:r>
              <a:rPr lang="en-US" dirty="0"/>
              <a:t>="1000"&gt;&lt;/Prop&gt;</a:t>
            </a:r>
            <a:br>
              <a:rPr lang="en-US" dirty="0"/>
            </a:br>
            <a:r>
              <a:rPr lang="en-US" dirty="0"/>
              <a:t>&lt;/Rules&gt;</a:t>
            </a:r>
            <a:br>
              <a:rPr lang="en-US" dirty="0"/>
            </a:br>
            <a:r>
              <a:rPr lang="en-US" dirty="0"/>
              <a:t>&lt;Type </a:t>
            </a:r>
            <a:r>
              <a:rPr lang="en-US" dirty="0" err="1"/>
              <a:t>val</a:t>
            </a:r>
            <a:r>
              <a:rPr lang="en-US" dirty="0"/>
              <a:t>="0" /&gt;</a:t>
            </a:r>
            <a:br>
              <a:rPr lang="en-US" dirty="0"/>
            </a:br>
            <a:r>
              <a:rPr lang="en-US" dirty="0"/>
              <a:t>&lt;/rt&gt;</a:t>
            </a:r>
          </a:p>
          <a:p>
            <a:endParaRPr lang="en-US" dirty="0"/>
          </a:p>
        </p:txBody>
      </p:sp>
    </p:spTree>
    <p:extLst>
      <p:ext uri="{BB962C8B-B14F-4D97-AF65-F5344CB8AC3E}">
        <p14:creationId xmlns:p14="http://schemas.microsoft.com/office/powerpoint/2010/main" val="32628921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Possibility lists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85000" lnSpcReduction="20000"/>
          </a:bodyPr>
          <a:lstStyle/>
          <a:p>
            <a:r>
              <a:rPr lang="en-US" dirty="0"/>
              <a:t>Rather than letting users type (and mistype) fixed lists, FLEx stores many lists to allow users to choose options in various areas, including parts of speech, morpheme types, semantic domains, people, locations, types for complex forms and minor entries, lexical relations, etc.</a:t>
            </a:r>
          </a:p>
          <a:p>
            <a:r>
              <a:rPr lang="en-US" dirty="0"/>
              <a:t>Names and abbreviations of lists and list items are MultiUnicode. Both also have a MultiString Description, among various other properties.</a:t>
            </a:r>
          </a:p>
          <a:p>
            <a:r>
              <a:rPr lang="en-US" dirty="0"/>
              <a:t>The class for these lists is </a:t>
            </a:r>
            <a:r>
              <a:rPr lang="en-US" dirty="0" err="1"/>
              <a:t>CmPossibilityList</a:t>
            </a:r>
            <a:r>
              <a:rPr lang="en-US" dirty="0"/>
              <a:t>, and items in the list can be flat or hierarchical. A user can modify some of the properties of a list in the Lists area by going to Tools &gt; Configure &gt; List. Users can also create custom lists for special purposes.</a:t>
            </a:r>
          </a:p>
          <a:p>
            <a:r>
              <a:rPr lang="en-US" dirty="0"/>
              <a:t>List properties include sorting, whether hierarchy is wanted, and if so, how many levels, the writing system(s) used for display, whether duplicates are allowed, the class of items to include in the list, etc.</a:t>
            </a:r>
          </a:p>
          <a:p>
            <a:r>
              <a:rPr lang="en-US" dirty="0"/>
              <a:t>The base class for list items is </a:t>
            </a:r>
            <a:r>
              <a:rPr lang="en-US" dirty="0" err="1"/>
              <a:t>CmPossibility</a:t>
            </a:r>
            <a:r>
              <a:rPr lang="en-US" dirty="0"/>
              <a:t>. There are 13 subclasses that provide extra properties as needed.</a:t>
            </a:r>
          </a:p>
          <a:p>
            <a:r>
              <a:rPr lang="en-US" dirty="0"/>
              <a:t>Lists are used in various classes through reference relationships, which may allow a single reference or multiple references to </a:t>
            </a:r>
            <a:r>
              <a:rPr lang="en-US" dirty="0" err="1"/>
              <a:t>guids</a:t>
            </a:r>
            <a:r>
              <a:rPr lang="en-US" dirty="0"/>
              <a:t> of a </a:t>
            </a:r>
            <a:r>
              <a:rPr lang="en-US" dirty="0" err="1"/>
              <a:t>CmPossibility</a:t>
            </a:r>
            <a:r>
              <a:rPr lang="en-US" dirty="0"/>
              <a:t>.</a:t>
            </a:r>
          </a:p>
          <a:p>
            <a:endParaRPr lang="en-US" dirty="0"/>
          </a:p>
        </p:txBody>
      </p:sp>
    </p:spTree>
    <p:extLst>
      <p:ext uri="{BB962C8B-B14F-4D97-AF65-F5344CB8AC3E}">
        <p14:creationId xmlns:p14="http://schemas.microsoft.com/office/powerpoint/2010/main" val="38807759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Possibility lists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62500" lnSpcReduction="20000"/>
          </a:bodyPr>
          <a:lstStyle/>
          <a:p>
            <a:r>
              <a:rPr lang="en-US" dirty="0"/>
              <a:t>Here are some key properties for a basic list with 2 nested items.</a:t>
            </a:r>
          </a:p>
          <a:p>
            <a:r>
              <a:rPr lang="en-US" dirty="0"/>
              <a:t>&lt;rt class="</a:t>
            </a:r>
            <a:r>
              <a:rPr lang="en-US" dirty="0" err="1"/>
              <a:t>CmPossibilityList</a:t>
            </a:r>
            <a:r>
              <a:rPr lang="en-US" dirty="0"/>
              <a:t>" guid="</a:t>
            </a:r>
            <a:r>
              <a:rPr lang="en-US" dirty="0">
                <a:highlight>
                  <a:srgbClr val="FFFF00"/>
                </a:highlight>
              </a:rPr>
              <a:t>c06b099c-ea5e-11de-890c-0013722f8dec</a:t>
            </a:r>
            <a:r>
              <a:rPr lang="en-US" dirty="0"/>
              <a:t>" </a:t>
            </a:r>
            <a:r>
              <a:rPr lang="en-US" dirty="0" err="1"/>
              <a:t>ownerguid</a:t>
            </a:r>
            <a:r>
              <a:rPr lang="en-US" dirty="0"/>
              <a:t>="f0065835-afbc-477d-9a7c-131f3fa25139"&gt;</a:t>
            </a:r>
            <a:br>
              <a:rPr lang="en-US" dirty="0"/>
            </a:br>
            <a:r>
              <a:rPr lang="en-US" dirty="0">
                <a:highlight>
                  <a:srgbClr val="FF00FF"/>
                </a:highlight>
              </a:rPr>
              <a:t>&lt;</a:t>
            </a:r>
            <a:r>
              <a:rPr lang="en-US" dirty="0" err="1">
                <a:highlight>
                  <a:srgbClr val="FF00FF"/>
                </a:highlight>
              </a:rPr>
              <a:t>ItemClsid</a:t>
            </a:r>
            <a:r>
              <a:rPr lang="en-US" dirty="0">
                <a:highlight>
                  <a:srgbClr val="FF00FF"/>
                </a:highlight>
              </a:rPr>
              <a:t> </a:t>
            </a:r>
            <a:r>
              <a:rPr lang="en-US" dirty="0" err="1">
                <a:highlight>
                  <a:srgbClr val="FF00FF"/>
                </a:highlight>
              </a:rPr>
              <a:t>val</a:t>
            </a:r>
            <a:r>
              <a:rPr lang="en-US" dirty="0">
                <a:highlight>
                  <a:srgbClr val="FF00FF"/>
                </a:highlight>
              </a:rPr>
              <a:t>="7" /&gt;</a:t>
            </a:r>
            <a:r>
              <a:rPr lang="en-US" dirty="0"/>
              <a:t>		(</a:t>
            </a:r>
            <a:r>
              <a:rPr lang="en-US" dirty="0" err="1"/>
              <a:t>CmPossibility</a:t>
            </a:r>
            <a:r>
              <a:rPr lang="en-US" dirty="0"/>
              <a:t>)</a:t>
            </a:r>
            <a:br>
              <a:rPr lang="en-US" dirty="0"/>
            </a:br>
            <a:r>
              <a:rPr lang="en-US" dirty="0"/>
              <a:t>&lt;Name&gt;</a:t>
            </a:r>
            <a:br>
              <a:rPr lang="en-US" dirty="0"/>
            </a:br>
            <a:r>
              <a:rPr lang="en-US" dirty="0"/>
              <a:t>&lt;</a:t>
            </a:r>
            <a:r>
              <a:rPr lang="en-US" dirty="0" err="1"/>
              <a:t>AUni</a:t>
            </a:r>
            <a:r>
              <a:rPr lang="en-US" dirty="0"/>
              <a:t> </a:t>
            </a:r>
            <a:r>
              <a:rPr lang="en-US" dirty="0" err="1"/>
              <a:t>ws</a:t>
            </a:r>
            <a:r>
              <a:rPr lang="en-US" dirty="0"/>
              <a:t>="</a:t>
            </a:r>
            <a:r>
              <a:rPr lang="en-US" dirty="0" err="1"/>
              <a:t>en</a:t>
            </a:r>
            <a:r>
              <a:rPr lang="en-US" dirty="0"/>
              <a:t>"&gt;Genres&lt;/</a:t>
            </a:r>
            <a:r>
              <a:rPr lang="en-US" dirty="0" err="1"/>
              <a:t>AUni</a:t>
            </a:r>
            <a:r>
              <a:rPr lang="en-US" dirty="0"/>
              <a:t>&gt;</a:t>
            </a:r>
            <a:br>
              <a:rPr lang="en-US" dirty="0"/>
            </a:br>
            <a:r>
              <a:rPr lang="en-US" dirty="0"/>
              <a:t>&lt;/Name&gt;</a:t>
            </a:r>
            <a:br>
              <a:rPr lang="en-US" dirty="0"/>
            </a:br>
            <a:r>
              <a:rPr lang="en-US" dirty="0"/>
              <a:t>&lt;Possibilities&gt;</a:t>
            </a:r>
            <a:br>
              <a:rPr lang="en-US" dirty="0"/>
            </a:br>
            <a:r>
              <a:rPr lang="en-US" dirty="0"/>
              <a:t>&lt;</a:t>
            </a:r>
            <a:r>
              <a:rPr lang="en-US" dirty="0" err="1"/>
              <a:t>objsur</a:t>
            </a:r>
            <a:r>
              <a:rPr lang="en-US" dirty="0"/>
              <a:t> guid="</a:t>
            </a:r>
            <a:r>
              <a:rPr lang="en-US" dirty="0">
                <a:highlight>
                  <a:srgbClr val="00FF00"/>
                </a:highlight>
              </a:rPr>
              <a:t>c076f554-ea5e-11de-9793-0013722f8dec</a:t>
            </a:r>
            <a:r>
              <a:rPr lang="en-US" dirty="0"/>
              <a:t>" t="o" /&gt;</a:t>
            </a:r>
            <a:br>
              <a:rPr lang="en-US" dirty="0"/>
            </a:br>
            <a:r>
              <a:rPr lang="en-US" dirty="0"/>
              <a:t>&lt;/Possibilities&gt;</a:t>
            </a:r>
            <a:br>
              <a:rPr lang="en-US" dirty="0"/>
            </a:br>
            <a:r>
              <a:rPr lang="en-US" dirty="0">
                <a:highlight>
                  <a:srgbClr val="FF00FF"/>
                </a:highlight>
              </a:rPr>
              <a:t>&lt;</a:t>
            </a:r>
            <a:r>
              <a:rPr lang="en-US" dirty="0" err="1">
                <a:highlight>
                  <a:srgbClr val="FF00FF"/>
                </a:highlight>
              </a:rPr>
              <a:t>WsSelector</a:t>
            </a:r>
            <a:r>
              <a:rPr lang="en-US" dirty="0">
                <a:highlight>
                  <a:srgbClr val="FF00FF"/>
                </a:highlight>
              </a:rPr>
              <a:t> </a:t>
            </a:r>
            <a:r>
              <a:rPr lang="en-US" dirty="0" err="1">
                <a:highlight>
                  <a:srgbClr val="FF00FF"/>
                </a:highlight>
              </a:rPr>
              <a:t>val</a:t>
            </a:r>
            <a:r>
              <a:rPr lang="en-US" dirty="0">
                <a:highlight>
                  <a:srgbClr val="FF00FF"/>
                </a:highlight>
              </a:rPr>
              <a:t>="-3" /&gt;</a:t>
            </a:r>
            <a:r>
              <a:rPr lang="en-US" dirty="0"/>
              <a:t>		(All checked analysis writing systems)</a:t>
            </a:r>
            <a:br>
              <a:rPr lang="en-US" dirty="0"/>
            </a:br>
            <a:r>
              <a:rPr lang="en-US" dirty="0"/>
              <a:t>&lt;/rt&gt;</a:t>
            </a:r>
          </a:p>
          <a:p>
            <a:r>
              <a:rPr lang="en-US" dirty="0"/>
              <a:t>&lt;rt class="</a:t>
            </a:r>
            <a:r>
              <a:rPr lang="en-US" dirty="0" err="1"/>
              <a:t>CmPossibility</a:t>
            </a:r>
            <a:r>
              <a:rPr lang="en-US" dirty="0"/>
              <a:t>" guid="</a:t>
            </a:r>
            <a:r>
              <a:rPr lang="en-US" dirty="0">
                <a:highlight>
                  <a:srgbClr val="00FF00"/>
                </a:highlight>
              </a:rPr>
              <a:t>c076f554-ea5e-11de-9793-0013722f8dec</a:t>
            </a:r>
            <a:r>
              <a:rPr lang="en-US" dirty="0"/>
              <a:t>" </a:t>
            </a:r>
            <a:r>
              <a:rPr lang="en-US" dirty="0" err="1"/>
              <a:t>ownerguid</a:t>
            </a:r>
            <a:r>
              <a:rPr lang="en-US" dirty="0"/>
              <a:t>="</a:t>
            </a:r>
            <a:r>
              <a:rPr lang="en-US" dirty="0">
                <a:highlight>
                  <a:srgbClr val="FFFF00"/>
                </a:highlight>
              </a:rPr>
              <a:t>c06b099c-ea5e-11de-890c-0013722f8dec</a:t>
            </a:r>
            <a:r>
              <a:rPr lang="en-US" dirty="0"/>
              <a:t>"&gt;</a:t>
            </a:r>
            <a:br>
              <a:rPr lang="en-US" dirty="0"/>
            </a:br>
            <a:r>
              <a:rPr lang="en-US" dirty="0"/>
              <a:t>&lt;Name&gt;</a:t>
            </a:r>
            <a:br>
              <a:rPr lang="en-US" dirty="0"/>
            </a:br>
            <a:r>
              <a:rPr lang="en-US" dirty="0"/>
              <a:t>&lt;</a:t>
            </a:r>
            <a:r>
              <a:rPr lang="en-US" dirty="0" err="1"/>
              <a:t>AUni</a:t>
            </a:r>
            <a:r>
              <a:rPr lang="en-US" dirty="0"/>
              <a:t> </a:t>
            </a:r>
            <a:r>
              <a:rPr lang="en-US" dirty="0" err="1"/>
              <a:t>ws</a:t>
            </a:r>
            <a:r>
              <a:rPr lang="en-US" dirty="0"/>
              <a:t>="</a:t>
            </a:r>
            <a:r>
              <a:rPr lang="en-US" dirty="0" err="1"/>
              <a:t>en</a:t>
            </a:r>
            <a:r>
              <a:rPr lang="en-US" dirty="0"/>
              <a:t>"&gt;Monologue&lt;/</a:t>
            </a:r>
            <a:r>
              <a:rPr lang="en-US" dirty="0" err="1"/>
              <a:t>AUni</a:t>
            </a:r>
            <a:r>
              <a:rPr lang="en-US" dirty="0"/>
              <a:t>&gt;</a:t>
            </a:r>
            <a:br>
              <a:rPr lang="en-US" dirty="0"/>
            </a:br>
            <a:r>
              <a:rPr lang="en-US" dirty="0"/>
              <a:t>&lt;/Name&gt;</a:t>
            </a:r>
            <a:br>
              <a:rPr lang="en-US" dirty="0"/>
            </a:br>
            <a:r>
              <a:rPr lang="en-US" dirty="0"/>
              <a:t>&lt;</a:t>
            </a:r>
            <a:r>
              <a:rPr lang="en-US" dirty="0" err="1"/>
              <a:t>SubPossibilities</a:t>
            </a:r>
            <a:r>
              <a:rPr lang="en-US" dirty="0"/>
              <a:t>&gt;</a:t>
            </a:r>
            <a:br>
              <a:rPr lang="en-US" dirty="0"/>
            </a:br>
            <a:r>
              <a:rPr lang="en-US" dirty="0"/>
              <a:t>&lt;</a:t>
            </a:r>
            <a:r>
              <a:rPr lang="en-US" dirty="0" err="1"/>
              <a:t>objsur</a:t>
            </a:r>
            <a:r>
              <a:rPr lang="en-US" dirty="0"/>
              <a:t> guid="</a:t>
            </a:r>
            <a:r>
              <a:rPr lang="en-US" dirty="0">
                <a:highlight>
                  <a:srgbClr val="00FFFF"/>
                </a:highlight>
              </a:rPr>
              <a:t>c082e102-ea5e-11de-92f2-0013722f8dec</a:t>
            </a:r>
            <a:r>
              <a:rPr lang="en-US" dirty="0"/>
              <a:t>" t="o" /&gt;</a:t>
            </a:r>
            <a:br>
              <a:rPr lang="en-US" dirty="0"/>
            </a:br>
            <a:r>
              <a:rPr lang="en-US" dirty="0"/>
              <a:t>&lt;/</a:t>
            </a:r>
            <a:r>
              <a:rPr lang="en-US" dirty="0" err="1"/>
              <a:t>SubPossibilities</a:t>
            </a:r>
            <a:r>
              <a:rPr lang="en-US" dirty="0"/>
              <a:t>&gt;</a:t>
            </a:r>
            <a:br>
              <a:rPr lang="en-US" dirty="0"/>
            </a:br>
            <a:r>
              <a:rPr lang="en-US" dirty="0"/>
              <a:t>&lt;/rt&gt;</a:t>
            </a:r>
          </a:p>
          <a:p>
            <a:r>
              <a:rPr lang="en-US" dirty="0"/>
              <a:t>&lt;rt class="</a:t>
            </a:r>
            <a:r>
              <a:rPr lang="en-US" dirty="0" err="1"/>
              <a:t>CmPossibility</a:t>
            </a:r>
            <a:r>
              <a:rPr lang="en-US" dirty="0"/>
              <a:t>" guid="</a:t>
            </a:r>
            <a:r>
              <a:rPr lang="en-US" dirty="0">
                <a:highlight>
                  <a:srgbClr val="00FFFF"/>
                </a:highlight>
              </a:rPr>
              <a:t>c082e102-ea5e-11de-92f2-0013722f8dec</a:t>
            </a:r>
            <a:r>
              <a:rPr lang="en-US" dirty="0"/>
              <a:t>" </a:t>
            </a:r>
            <a:r>
              <a:rPr lang="en-US" dirty="0" err="1"/>
              <a:t>ownerguid</a:t>
            </a:r>
            <a:r>
              <a:rPr lang="en-US" dirty="0"/>
              <a:t>="</a:t>
            </a:r>
            <a:r>
              <a:rPr lang="en-US" dirty="0">
                <a:highlight>
                  <a:srgbClr val="00FF00"/>
                </a:highlight>
              </a:rPr>
              <a:t>c076f554-ea5e-11de-9793-0013722f8dec</a:t>
            </a:r>
            <a:r>
              <a:rPr lang="en-US" dirty="0"/>
              <a:t>"&gt;</a:t>
            </a:r>
            <a:br>
              <a:rPr lang="en-US" dirty="0"/>
            </a:br>
            <a:r>
              <a:rPr lang="en-US" dirty="0"/>
              <a:t>&lt;Name&gt;</a:t>
            </a:r>
            <a:br>
              <a:rPr lang="en-US" dirty="0"/>
            </a:br>
            <a:r>
              <a:rPr lang="en-US" dirty="0"/>
              <a:t>&lt;</a:t>
            </a:r>
            <a:r>
              <a:rPr lang="en-US" dirty="0" err="1"/>
              <a:t>AUni</a:t>
            </a:r>
            <a:r>
              <a:rPr lang="en-US" dirty="0"/>
              <a:t> </a:t>
            </a:r>
            <a:r>
              <a:rPr lang="en-US" dirty="0" err="1"/>
              <a:t>ws</a:t>
            </a:r>
            <a:r>
              <a:rPr lang="en-US" dirty="0"/>
              <a:t>="</a:t>
            </a:r>
            <a:r>
              <a:rPr lang="en-US" dirty="0" err="1"/>
              <a:t>en</a:t>
            </a:r>
            <a:r>
              <a:rPr lang="en-US" dirty="0"/>
              <a:t>"&gt;Narrative&lt;/</a:t>
            </a:r>
            <a:r>
              <a:rPr lang="en-US" dirty="0" err="1"/>
              <a:t>AUni</a:t>
            </a:r>
            <a:r>
              <a:rPr lang="en-US" dirty="0"/>
              <a:t>&gt;</a:t>
            </a:r>
            <a:br>
              <a:rPr lang="en-US" dirty="0"/>
            </a:br>
            <a:r>
              <a:rPr lang="en-US" dirty="0"/>
              <a:t>&lt;/Name&gt;</a:t>
            </a:r>
            <a:br>
              <a:rPr lang="en-US" dirty="0"/>
            </a:br>
            <a:r>
              <a:rPr lang="en-US" dirty="0"/>
              <a:t>&lt;/rt&gt;</a:t>
            </a:r>
          </a:p>
        </p:txBody>
      </p:sp>
    </p:spTree>
    <p:extLst>
      <p:ext uri="{BB962C8B-B14F-4D97-AF65-F5344CB8AC3E}">
        <p14:creationId xmlns:p14="http://schemas.microsoft.com/office/powerpoint/2010/main" val="30989504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Possibility lists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There are two important properties in the </a:t>
            </a:r>
            <a:r>
              <a:rPr lang="en-US" dirty="0" err="1"/>
              <a:t>CmPossibilityList</a:t>
            </a:r>
            <a:endParaRPr lang="en-US" dirty="0"/>
          </a:p>
          <a:p>
            <a:pPr lvl="0"/>
            <a:r>
              <a:rPr lang="en-US" dirty="0" err="1"/>
              <a:t>ItemClsid</a:t>
            </a:r>
            <a:r>
              <a:rPr lang="en-US" dirty="0"/>
              <a:t>: Gives the class ID for the items that can be included in this list. 7 in this case is the class ID for </a:t>
            </a:r>
            <a:r>
              <a:rPr lang="en-US" dirty="0" err="1"/>
              <a:t>CmPossibility</a:t>
            </a:r>
            <a:r>
              <a:rPr lang="en-US" dirty="0"/>
              <a:t>, so this list can only hold </a:t>
            </a:r>
            <a:r>
              <a:rPr lang="en-US" dirty="0" err="1"/>
              <a:t>CmPossibility</a:t>
            </a:r>
            <a:r>
              <a:rPr lang="en-US" dirty="0"/>
              <a:t> objects.</a:t>
            </a:r>
          </a:p>
          <a:p>
            <a:pPr lvl="0"/>
            <a:r>
              <a:rPr lang="en-US" dirty="0" err="1"/>
              <a:t>WsSelector</a:t>
            </a:r>
            <a:r>
              <a:rPr lang="en-US" dirty="0"/>
              <a:t>: This selects the writing systems to use when displaying list items for this list. The possibilities for this property are:</a:t>
            </a:r>
          </a:p>
          <a:p>
            <a:pPr lvl="1"/>
            <a:r>
              <a:rPr lang="en-US" dirty="0"/>
              <a:t>-1 The first analysis writing system.</a:t>
            </a:r>
          </a:p>
          <a:p>
            <a:pPr lvl="1"/>
            <a:r>
              <a:rPr lang="en-US" dirty="0"/>
              <a:t>-2 The first vernacular writing system.</a:t>
            </a:r>
          </a:p>
          <a:p>
            <a:pPr lvl="1"/>
            <a:r>
              <a:rPr lang="en-US" dirty="0"/>
              <a:t>-3 All checked analysis writing systems.</a:t>
            </a:r>
          </a:p>
          <a:p>
            <a:pPr lvl="1"/>
            <a:r>
              <a:rPr lang="en-US" dirty="0"/>
              <a:t>-4 All checked vernacular writing systems.</a:t>
            </a:r>
          </a:p>
          <a:p>
            <a:pPr lvl="1"/>
            <a:r>
              <a:rPr lang="en-US" dirty="0"/>
              <a:t>-5 All checked analysis then all checked vernacular writing systems.</a:t>
            </a:r>
          </a:p>
          <a:p>
            <a:pPr lvl="1"/>
            <a:r>
              <a:rPr lang="en-US" dirty="0"/>
              <a:t>-6 All checked vernacular then all checked analysis writing systems.</a:t>
            </a:r>
          </a:p>
          <a:p>
            <a:endParaRPr lang="en-US" dirty="0"/>
          </a:p>
        </p:txBody>
      </p:sp>
    </p:spTree>
    <p:extLst>
      <p:ext uri="{BB962C8B-B14F-4D97-AF65-F5344CB8AC3E}">
        <p14:creationId xmlns:p14="http://schemas.microsoft.com/office/powerpoint/2010/main" val="31618609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Possibility lists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dirty="0"/>
              <a:t>There are 13 subclasses of </a:t>
            </a:r>
            <a:r>
              <a:rPr lang="en-US" dirty="0" err="1"/>
              <a:t>CmPossibility</a:t>
            </a:r>
            <a:r>
              <a:rPr lang="en-US" dirty="0"/>
              <a:t>, mostly to provide additional properties for certain classes. These are the subclasses with their class ids.</a:t>
            </a:r>
          </a:p>
          <a:p>
            <a:r>
              <a:rPr lang="en-US" dirty="0"/>
              <a:t>5125	  </a:t>
            </a:r>
            <a:r>
              <a:rPr lang="en-US" dirty="0" err="1"/>
              <a:t>ChkTerm</a:t>
            </a:r>
            <a:r>
              <a:rPr lang="en-US" dirty="0"/>
              <a:t> (previously used by Translation Editor)</a:t>
            </a:r>
            <a:br>
              <a:rPr lang="en-US" dirty="0"/>
            </a:br>
            <a:r>
              <a:rPr lang="en-US" dirty="0"/>
              <a:t>35	  </a:t>
            </a:r>
            <a:r>
              <a:rPr lang="en-US" dirty="0" err="1"/>
              <a:t>CmAnnotationDefn</a:t>
            </a:r>
            <a:r>
              <a:rPr lang="en-US" dirty="0"/>
              <a:t> (internal)</a:t>
            </a:r>
            <a:br>
              <a:rPr lang="en-US" dirty="0"/>
            </a:br>
            <a:r>
              <a:rPr lang="en-US" dirty="0"/>
              <a:t>26	  </a:t>
            </a:r>
            <a:r>
              <a:rPr lang="en-US" dirty="0" err="1"/>
              <a:t>CmAnthroItem</a:t>
            </a:r>
            <a:r>
              <a:rPr lang="en-US" dirty="0"/>
              <a:t> (Anthropology Categories list)</a:t>
            </a:r>
            <a:br>
              <a:rPr lang="en-US" dirty="0"/>
            </a:br>
            <a:r>
              <a:rPr lang="en-US" dirty="0"/>
              <a:t>27	  </a:t>
            </a:r>
            <a:r>
              <a:rPr lang="en-US" dirty="0" err="1"/>
              <a:t>CmCustomItem</a:t>
            </a:r>
            <a:r>
              <a:rPr lang="en-US" dirty="0"/>
              <a:t> (Custom lists)</a:t>
            </a:r>
            <a:br>
              <a:rPr lang="en-US" dirty="0"/>
            </a:br>
            <a:r>
              <a:rPr lang="en-US" dirty="0"/>
              <a:t>12	  </a:t>
            </a:r>
            <a:r>
              <a:rPr lang="en-US" dirty="0" err="1"/>
              <a:t>CmLocation</a:t>
            </a:r>
            <a:r>
              <a:rPr lang="en-US" dirty="0"/>
              <a:t> (Locations list)</a:t>
            </a:r>
            <a:br>
              <a:rPr lang="en-US" dirty="0"/>
            </a:br>
            <a:r>
              <a:rPr lang="en-US" dirty="0"/>
              <a:t>13	  </a:t>
            </a:r>
            <a:r>
              <a:rPr lang="en-US" dirty="0" err="1"/>
              <a:t>CmPerson</a:t>
            </a:r>
            <a:r>
              <a:rPr lang="en-US" dirty="0"/>
              <a:t> (People list)</a:t>
            </a:r>
            <a:br>
              <a:rPr lang="en-US" dirty="0"/>
            </a:br>
            <a:r>
              <a:rPr lang="en-US" dirty="0"/>
              <a:t>66	  </a:t>
            </a:r>
            <a:r>
              <a:rPr lang="en-US" dirty="0" err="1"/>
              <a:t>CmSemanticDomain</a:t>
            </a:r>
            <a:r>
              <a:rPr lang="en-US" dirty="0"/>
              <a:t> (Semantic Domain list)</a:t>
            </a:r>
            <a:br>
              <a:rPr lang="en-US" dirty="0"/>
            </a:br>
            <a:r>
              <a:rPr lang="en-US" dirty="0"/>
              <a:t>5118	  </a:t>
            </a:r>
            <a:r>
              <a:rPr lang="en-US" dirty="0" err="1"/>
              <a:t>LexEntryType</a:t>
            </a:r>
            <a:r>
              <a:rPr lang="en-US" dirty="0"/>
              <a:t> (Entry type list)</a:t>
            </a:r>
            <a:br>
              <a:rPr lang="en-US" dirty="0"/>
            </a:br>
            <a:r>
              <a:rPr lang="en-US" dirty="0"/>
              <a:t>5113  </a:t>
            </a:r>
            <a:r>
              <a:rPr lang="en-US" dirty="0" err="1"/>
              <a:t>LexEntryInflType</a:t>
            </a:r>
            <a:r>
              <a:rPr lang="en-US" dirty="0"/>
              <a:t> (Entry type list)</a:t>
            </a:r>
            <a:br>
              <a:rPr lang="en-US" dirty="0"/>
            </a:br>
            <a:r>
              <a:rPr lang="en-US" dirty="0"/>
              <a:t>5119	  </a:t>
            </a:r>
            <a:r>
              <a:rPr lang="en-US" dirty="0" err="1"/>
              <a:t>LexRefType</a:t>
            </a:r>
            <a:r>
              <a:rPr lang="en-US" dirty="0"/>
              <a:t> (Lexical Relations list)</a:t>
            </a:r>
            <a:br>
              <a:rPr lang="en-US" dirty="0"/>
            </a:br>
            <a:r>
              <a:rPr lang="en-US" dirty="0"/>
              <a:t>5042	  </a:t>
            </a:r>
            <a:r>
              <a:rPr lang="en-US" dirty="0" err="1"/>
              <a:t>MoMorphType</a:t>
            </a:r>
            <a:r>
              <a:rPr lang="en-US" dirty="0"/>
              <a:t> (Morpheme Types list)</a:t>
            </a:r>
            <a:br>
              <a:rPr lang="en-US" dirty="0"/>
            </a:br>
            <a:r>
              <a:rPr lang="en-US" dirty="0"/>
              <a:t>5049	  </a:t>
            </a:r>
            <a:r>
              <a:rPr lang="en-US" dirty="0" err="1"/>
              <a:t>PartOfSpeech</a:t>
            </a:r>
            <a:r>
              <a:rPr lang="en-US" dirty="0"/>
              <a:t> (Grammatical Category list)</a:t>
            </a:r>
            <a:br>
              <a:rPr lang="en-US" dirty="0"/>
            </a:br>
            <a:r>
              <a:rPr lang="en-US" dirty="0"/>
              <a:t>5132	  </a:t>
            </a:r>
            <a:r>
              <a:rPr lang="en-US" dirty="0" err="1"/>
              <a:t>PhPhonRuleFeat</a:t>
            </a:r>
            <a:r>
              <a:rPr lang="en-US" dirty="0"/>
              <a:t> (internal Phonological Rule Features list in Grammar, created dynamically based on exception features and inflection classes)</a:t>
            </a:r>
          </a:p>
          <a:p>
            <a:r>
              <a:rPr lang="en-US" dirty="0"/>
              <a:t>See ModelDocumentation.chm for more information on the subclasses.</a:t>
            </a:r>
          </a:p>
          <a:p>
            <a:endParaRPr lang="en-US" dirty="0"/>
          </a:p>
        </p:txBody>
      </p:sp>
    </p:spTree>
    <p:extLst>
      <p:ext uri="{BB962C8B-B14F-4D97-AF65-F5344CB8AC3E}">
        <p14:creationId xmlns:p14="http://schemas.microsoft.com/office/powerpoint/2010/main" val="25409793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Possibility lists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10000"/>
          </a:bodyPr>
          <a:lstStyle/>
          <a:p>
            <a:r>
              <a:rPr lang="en-US" dirty="0"/>
              <a:t>There are some lists that are used internally in the program and do not show up in the Lists area of FLEx.</a:t>
            </a:r>
          </a:p>
          <a:p>
            <a:r>
              <a:rPr lang="en-US" dirty="0"/>
              <a:t>All lists, including the internal ones can be exported using File &gt; Export &gt; All lists XML. This produces one XML file containing all 36 lists, including the internally-used lists and custom lists. The export includes common fields including </a:t>
            </a:r>
            <a:r>
              <a:rPr lang="en-US" dirty="0" err="1"/>
              <a:t>guids</a:t>
            </a:r>
            <a:r>
              <a:rPr lang="en-US" dirty="0"/>
              <a:t> and class ids. Instructions are provided in the Export dialog for converting this file into an htm file for easy viewing in a browser.</a:t>
            </a:r>
          </a:p>
          <a:p>
            <a:r>
              <a:rPr lang="en-US" dirty="0"/>
              <a:t>Three lists listed in the Lists area are unique</a:t>
            </a:r>
          </a:p>
          <a:p>
            <a:pPr lvl="1"/>
            <a:r>
              <a:rPr lang="en-US" dirty="0"/>
              <a:t>Reversal Index Categories. Each reversal index has its own </a:t>
            </a:r>
            <a:r>
              <a:rPr lang="en-US" dirty="0" err="1"/>
              <a:t>PartsOfSpeech</a:t>
            </a:r>
            <a:r>
              <a:rPr lang="en-US" dirty="0"/>
              <a:t> list. This tool in the Lists area lets you pick one of the reversal indices from a chooser in the title bar, and it then displays the items in that list for editing.</a:t>
            </a:r>
          </a:p>
          <a:p>
            <a:pPr lvl="1"/>
            <a:r>
              <a:rPr lang="en-US" dirty="0"/>
              <a:t>Feature Types. This is not really a </a:t>
            </a:r>
            <a:r>
              <a:rPr lang="en-US" dirty="0" err="1"/>
              <a:t>CmPossibilityList</a:t>
            </a:r>
            <a:r>
              <a:rPr lang="en-US" dirty="0"/>
              <a:t>. Instead, it is a list of </a:t>
            </a:r>
            <a:r>
              <a:rPr lang="en-US" dirty="0" err="1"/>
              <a:t>FsFeatStrucType</a:t>
            </a:r>
            <a:r>
              <a:rPr lang="en-US" dirty="0"/>
              <a:t> objects owned in the Types property of the </a:t>
            </a:r>
            <a:r>
              <a:rPr lang="en-US" dirty="0" err="1"/>
              <a:t>FsFeatureSystem</a:t>
            </a:r>
            <a:r>
              <a:rPr lang="en-US" dirty="0"/>
              <a:t> used in the Grammar area.</a:t>
            </a:r>
          </a:p>
          <a:p>
            <a:pPr lvl="1"/>
            <a:r>
              <a:rPr lang="en-US" dirty="0"/>
              <a:t>Lexical Relations. This list defines cross references and lexical relations and holds data for these relations. </a:t>
            </a:r>
          </a:p>
          <a:p>
            <a:endParaRPr lang="en-US" dirty="0"/>
          </a:p>
        </p:txBody>
      </p:sp>
    </p:spTree>
    <p:extLst>
      <p:ext uri="{BB962C8B-B14F-4D97-AF65-F5344CB8AC3E}">
        <p14:creationId xmlns:p14="http://schemas.microsoft.com/office/powerpoint/2010/main" val="30236585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Possibility lists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List names and locations</a:t>
            </a:r>
          </a:p>
        </p:txBody>
      </p:sp>
      <p:pic>
        <p:nvPicPr>
          <p:cNvPr id="7" name="Picture 6">
            <a:extLst>
              <a:ext uri="{FF2B5EF4-FFF2-40B4-BE49-F238E27FC236}">
                <a16:creationId xmlns:a16="http://schemas.microsoft.com/office/drawing/2014/main" id="{22B9B33E-9A0E-455A-A527-1286F9278E94}"/>
              </a:ext>
            </a:extLst>
          </p:cNvPr>
          <p:cNvPicPr>
            <a:picLocks noChangeAspect="1"/>
          </p:cNvPicPr>
          <p:nvPr/>
        </p:nvPicPr>
        <p:blipFill>
          <a:blip r:embed="rId2"/>
          <a:stretch>
            <a:fillRect/>
          </a:stretch>
        </p:blipFill>
        <p:spPr>
          <a:xfrm>
            <a:off x="4839174" y="752714"/>
            <a:ext cx="5420481" cy="5868219"/>
          </a:xfrm>
          <a:prstGeom prst="rect">
            <a:avLst/>
          </a:prstGeom>
        </p:spPr>
      </p:pic>
    </p:spTree>
    <p:extLst>
      <p:ext uri="{BB962C8B-B14F-4D97-AF65-F5344CB8AC3E}">
        <p14:creationId xmlns:p14="http://schemas.microsoft.com/office/powerpoint/2010/main" val="17709494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Custom fields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FLEx allows users to create custom fields in Tools &gt; Configure &gt; Custom Fields for the following classes:</a:t>
            </a:r>
          </a:p>
          <a:p>
            <a:pPr lvl="1"/>
            <a:r>
              <a:rPr lang="en-US" dirty="0" err="1"/>
              <a:t>LexEntry</a:t>
            </a:r>
            <a:endParaRPr lang="en-US" dirty="0"/>
          </a:p>
          <a:p>
            <a:pPr lvl="1"/>
            <a:r>
              <a:rPr lang="en-US" dirty="0" err="1"/>
              <a:t>LexSense</a:t>
            </a:r>
            <a:endParaRPr lang="en-US" dirty="0"/>
          </a:p>
          <a:p>
            <a:pPr lvl="1"/>
            <a:r>
              <a:rPr lang="en-US" dirty="0" err="1"/>
              <a:t>LexExampleSentence</a:t>
            </a:r>
            <a:endParaRPr lang="en-US" dirty="0"/>
          </a:p>
          <a:p>
            <a:pPr lvl="1"/>
            <a:r>
              <a:rPr lang="en-US" dirty="0" err="1"/>
              <a:t>MoForm</a:t>
            </a:r>
            <a:r>
              <a:rPr lang="en-US" dirty="0"/>
              <a:t> used in </a:t>
            </a:r>
            <a:r>
              <a:rPr lang="en-US" dirty="0" err="1"/>
              <a:t>AllomorphIndex</a:t>
            </a:r>
            <a:r>
              <a:rPr lang="en-US" dirty="0"/>
              <a:t> on </a:t>
            </a:r>
            <a:r>
              <a:rPr lang="en-US" dirty="0" err="1"/>
              <a:t>LexDb</a:t>
            </a:r>
            <a:r>
              <a:rPr lang="en-US" dirty="0"/>
              <a:t> shown in the Allomorphs section of an entry.</a:t>
            </a:r>
          </a:p>
          <a:p>
            <a:pPr lvl="1"/>
            <a:r>
              <a:rPr lang="en-US" dirty="0"/>
              <a:t>Segment in interlinear text</a:t>
            </a:r>
          </a:p>
          <a:p>
            <a:pPr lvl="1"/>
            <a:r>
              <a:rPr lang="en-US" dirty="0" err="1"/>
              <a:t>RnGenericRec</a:t>
            </a:r>
            <a:r>
              <a:rPr lang="en-US" dirty="0"/>
              <a:t> in data notebook</a:t>
            </a:r>
          </a:p>
          <a:p>
            <a:r>
              <a:rPr lang="en-US" dirty="0"/>
              <a:t>When a user deletes a custom field, all the data will also be deleted.</a:t>
            </a:r>
          </a:p>
          <a:p>
            <a:pPr lvl="1"/>
            <a:endParaRPr lang="en-US" dirty="0"/>
          </a:p>
          <a:p>
            <a:endParaRPr lang="en-US" dirty="0"/>
          </a:p>
        </p:txBody>
      </p:sp>
    </p:spTree>
    <p:extLst>
      <p:ext uri="{BB962C8B-B14F-4D97-AF65-F5344CB8AC3E}">
        <p14:creationId xmlns:p14="http://schemas.microsoft.com/office/powerpoint/2010/main" val="36614793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Custom fields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dirty="0"/>
              <a:t>When custom fields are defined, an </a:t>
            </a:r>
            <a:r>
              <a:rPr lang="en-US" dirty="0" err="1"/>
              <a:t>AdditionalFields</a:t>
            </a:r>
            <a:r>
              <a:rPr lang="en-US" dirty="0"/>
              <a:t> element is added to the </a:t>
            </a:r>
            <a:r>
              <a:rPr lang="en-US" dirty="0" err="1"/>
              <a:t>languageproject</a:t>
            </a:r>
            <a:r>
              <a:rPr lang="en-US" dirty="0"/>
              <a:t> element if not already there. </a:t>
            </a:r>
            <a:r>
              <a:rPr lang="en-US" dirty="0" err="1"/>
              <a:t>AdditionalFields</a:t>
            </a:r>
            <a:r>
              <a:rPr lang="en-US" dirty="0"/>
              <a:t> holds </a:t>
            </a:r>
            <a:r>
              <a:rPr lang="en-US" dirty="0" err="1"/>
              <a:t>CustomField</a:t>
            </a:r>
            <a:r>
              <a:rPr lang="en-US" dirty="0"/>
              <a:t> elements, each one defining a custom field defined by the user that is unique to this project. Here are some possibilities.</a:t>
            </a:r>
          </a:p>
          <a:p>
            <a:r>
              <a:rPr lang="en-US" dirty="0"/>
              <a:t>&lt;</a:t>
            </a:r>
            <a:r>
              <a:rPr lang="en-US" dirty="0" err="1"/>
              <a:t>AdditionalFields</a:t>
            </a:r>
            <a:r>
              <a:rPr lang="en-US" dirty="0"/>
              <a:t>&gt;</a:t>
            </a:r>
            <a:br>
              <a:rPr lang="en-US" dirty="0"/>
            </a:br>
            <a:r>
              <a:rPr lang="en-US" dirty="0"/>
              <a:t>&lt;</a:t>
            </a:r>
            <a:r>
              <a:rPr lang="en-US" dirty="0" err="1"/>
              <a:t>CustomField</a:t>
            </a:r>
            <a:r>
              <a:rPr lang="en-US" dirty="0"/>
              <a:t> name="Weather" class="</a:t>
            </a:r>
            <a:r>
              <a:rPr lang="en-US" dirty="0" err="1"/>
              <a:t>RnGenericRec</a:t>
            </a:r>
            <a:r>
              <a:rPr lang="en-US" dirty="0"/>
              <a:t>" </a:t>
            </a:r>
            <a:r>
              <a:rPr lang="en-US" dirty="0" err="1"/>
              <a:t>destclass</a:t>
            </a:r>
            <a:r>
              <a:rPr lang="en-US" dirty="0"/>
              <a:t>="7" type="RC" </a:t>
            </a:r>
            <a:r>
              <a:rPr lang="en-US" dirty="0" err="1"/>
              <a:t>wsSelector</a:t>
            </a:r>
            <a:r>
              <a:rPr lang="en-US" dirty="0"/>
              <a:t>="-3" </a:t>
            </a:r>
            <a:r>
              <a:rPr lang="en-US" dirty="0" err="1"/>
              <a:t>helpString</a:t>
            </a:r>
            <a:r>
              <a:rPr lang="en-US" dirty="0"/>
              <a:t>="originally a standard part of Data Notebook records" </a:t>
            </a:r>
            <a:r>
              <a:rPr lang="en-US" dirty="0" err="1"/>
              <a:t>listRoot</a:t>
            </a:r>
            <a:r>
              <a:rPr lang="en-US" dirty="0"/>
              <a:t>="2bdd1159-f9b2-11d3-977b-00c04f186933" /&gt;</a:t>
            </a:r>
            <a:br>
              <a:rPr lang="en-US" dirty="0"/>
            </a:br>
            <a:r>
              <a:rPr lang="en-US" dirty="0"/>
              <a:t>&lt;</a:t>
            </a:r>
            <a:r>
              <a:rPr lang="en-US" dirty="0" err="1"/>
              <a:t>CustomField</a:t>
            </a:r>
            <a:r>
              <a:rPr lang="en-US" dirty="0"/>
              <a:t> name=" My Complex String" class="</a:t>
            </a:r>
            <a:r>
              <a:rPr lang="en-US" dirty="0" err="1"/>
              <a:t>LexEntry</a:t>
            </a:r>
            <a:r>
              <a:rPr lang="en-US" dirty="0"/>
              <a:t>" type="String" </a:t>
            </a:r>
            <a:r>
              <a:rPr lang="en-US" dirty="0" err="1"/>
              <a:t>wsSelector</a:t>
            </a:r>
            <a:r>
              <a:rPr lang="en-US" dirty="0"/>
              <a:t>="-1" /&gt;</a:t>
            </a:r>
            <a:br>
              <a:rPr lang="en-US" dirty="0"/>
            </a:br>
            <a:r>
              <a:rPr lang="en-US" dirty="0"/>
              <a:t>&lt;</a:t>
            </a:r>
            <a:r>
              <a:rPr lang="en-US" dirty="0" err="1"/>
              <a:t>CustomField</a:t>
            </a:r>
            <a:r>
              <a:rPr lang="en-US" dirty="0"/>
              <a:t> name=" My Simple Strings" class="</a:t>
            </a:r>
            <a:r>
              <a:rPr lang="en-US" dirty="0" err="1"/>
              <a:t>LexEntry</a:t>
            </a:r>
            <a:r>
              <a:rPr lang="en-US" dirty="0"/>
              <a:t>" type="MultiUnicode" </a:t>
            </a:r>
            <a:r>
              <a:rPr lang="en-US" dirty="0" err="1"/>
              <a:t>wsSelector</a:t>
            </a:r>
            <a:r>
              <a:rPr lang="en-US" dirty="0"/>
              <a:t>="-3" /&gt;</a:t>
            </a:r>
            <a:br>
              <a:rPr lang="en-US" dirty="0"/>
            </a:br>
            <a:r>
              <a:rPr lang="en-US" dirty="0"/>
              <a:t>&lt;</a:t>
            </a:r>
            <a:r>
              <a:rPr lang="en-US" dirty="0" err="1"/>
              <a:t>CustomField</a:t>
            </a:r>
            <a:r>
              <a:rPr lang="en-US" dirty="0"/>
              <a:t> name=" My Paragraphs" class="</a:t>
            </a:r>
            <a:r>
              <a:rPr lang="en-US" dirty="0" err="1"/>
              <a:t>LexEntry</a:t>
            </a:r>
            <a:r>
              <a:rPr lang="en-US" dirty="0"/>
              <a:t>" </a:t>
            </a:r>
            <a:r>
              <a:rPr lang="en-US" dirty="0" err="1"/>
              <a:t>destclass</a:t>
            </a:r>
            <a:r>
              <a:rPr lang="en-US" dirty="0"/>
              <a:t>="14" type="OA" /&gt;</a:t>
            </a:r>
            <a:br>
              <a:rPr lang="en-US" dirty="0"/>
            </a:br>
            <a:r>
              <a:rPr lang="en-US" dirty="0"/>
              <a:t>&lt;</a:t>
            </a:r>
            <a:r>
              <a:rPr lang="en-US" dirty="0" err="1"/>
              <a:t>CustomField</a:t>
            </a:r>
            <a:r>
              <a:rPr lang="en-US" dirty="0"/>
              <a:t> name=" My List Items " class="</a:t>
            </a:r>
            <a:r>
              <a:rPr lang="en-US" dirty="0" err="1"/>
              <a:t>LexEntry</a:t>
            </a:r>
            <a:r>
              <a:rPr lang="en-US" dirty="0"/>
              <a:t>" </a:t>
            </a:r>
            <a:r>
              <a:rPr lang="en-US" dirty="0" err="1"/>
              <a:t>destclass</a:t>
            </a:r>
            <a:r>
              <a:rPr lang="en-US" dirty="0"/>
              <a:t>="7" type="RC" </a:t>
            </a:r>
            <a:r>
              <a:rPr lang="en-US" dirty="0" err="1"/>
              <a:t>listRoot</a:t>
            </a:r>
            <a:r>
              <a:rPr lang="en-US" dirty="0"/>
              <a:t>="d7f713a0-e8cf-11d3-9764-00c04f186933" /&gt;</a:t>
            </a:r>
            <a:br>
              <a:rPr lang="en-US" dirty="0"/>
            </a:br>
            <a:r>
              <a:rPr lang="en-US" dirty="0"/>
              <a:t>&lt;</a:t>
            </a:r>
            <a:r>
              <a:rPr lang="en-US" dirty="0" err="1"/>
              <a:t>CustomField</a:t>
            </a:r>
            <a:r>
              <a:rPr lang="en-US" dirty="0"/>
              <a:t> name="My Date" class="</a:t>
            </a:r>
            <a:r>
              <a:rPr lang="en-US" dirty="0" err="1"/>
              <a:t>LexEntry</a:t>
            </a:r>
            <a:r>
              <a:rPr lang="en-US" dirty="0"/>
              <a:t>" type="</a:t>
            </a:r>
            <a:r>
              <a:rPr lang="en-US" dirty="0" err="1"/>
              <a:t>GenDate</a:t>
            </a:r>
            <a:r>
              <a:rPr lang="en-US" dirty="0"/>
              <a:t>" /&gt;</a:t>
            </a:r>
            <a:br>
              <a:rPr lang="en-US" dirty="0"/>
            </a:br>
            <a:r>
              <a:rPr lang="en-US" dirty="0"/>
              <a:t>&lt;</a:t>
            </a:r>
            <a:r>
              <a:rPr lang="en-US" dirty="0" err="1"/>
              <a:t>CustomField</a:t>
            </a:r>
            <a:r>
              <a:rPr lang="en-US" dirty="0"/>
              <a:t> name="My Number" class="</a:t>
            </a:r>
            <a:r>
              <a:rPr lang="en-US" dirty="0" err="1"/>
              <a:t>LexEntry</a:t>
            </a:r>
            <a:r>
              <a:rPr lang="en-US" dirty="0"/>
              <a:t>" type="Integer" /&gt;</a:t>
            </a:r>
            <a:br>
              <a:rPr lang="en-US" dirty="0"/>
            </a:br>
            <a:r>
              <a:rPr lang="en-US" dirty="0"/>
              <a:t>&lt;/</a:t>
            </a:r>
            <a:r>
              <a:rPr lang="en-US" dirty="0" err="1"/>
              <a:t>AdditionalFields</a:t>
            </a:r>
            <a:r>
              <a:rPr lang="en-US" dirty="0"/>
              <a:t>&gt;</a:t>
            </a:r>
          </a:p>
          <a:p>
            <a:endParaRPr lang="en-US" dirty="0"/>
          </a:p>
        </p:txBody>
      </p:sp>
    </p:spTree>
    <p:extLst>
      <p:ext uri="{BB962C8B-B14F-4D97-AF65-F5344CB8AC3E}">
        <p14:creationId xmlns:p14="http://schemas.microsoft.com/office/powerpoint/2010/main" val="1742344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Custom fields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10000"/>
          </a:bodyPr>
          <a:lstStyle/>
          <a:p>
            <a:r>
              <a:rPr lang="en-US" dirty="0"/>
              <a:t>Possible attributes of the </a:t>
            </a:r>
            <a:r>
              <a:rPr lang="en-US" dirty="0" err="1"/>
              <a:t>CustomField</a:t>
            </a:r>
            <a:r>
              <a:rPr lang="en-US" dirty="0"/>
              <a:t> element are</a:t>
            </a:r>
          </a:p>
          <a:p>
            <a:pPr lvl="1"/>
            <a:r>
              <a:rPr lang="en-US" dirty="0"/>
              <a:t>name—Stores the original user-defined name of the custom field. A custom name is not allowed if there is already a built-in or custom field with that name.</a:t>
            </a:r>
          </a:p>
          <a:p>
            <a:pPr lvl="1"/>
            <a:r>
              <a:rPr lang="en-US" dirty="0"/>
              <a:t>label—Added when a user modifies a custom field name. </a:t>
            </a:r>
            <a:r>
              <a:rPr lang="en-US" dirty="0">
                <a:highlight>
                  <a:srgbClr val="FFFF00"/>
                </a:highlight>
              </a:rPr>
              <a:t>The label is shown in the UI, but data in fwdata still uses the original name.</a:t>
            </a:r>
          </a:p>
          <a:p>
            <a:pPr lvl="1"/>
            <a:r>
              <a:rPr lang="en-US" dirty="0"/>
              <a:t>class—Specifies the class name to which the custom field applies.</a:t>
            </a:r>
          </a:p>
          <a:p>
            <a:pPr lvl="1"/>
            <a:r>
              <a:rPr lang="en-US" dirty="0" err="1"/>
              <a:t>destclass</a:t>
            </a:r>
            <a:r>
              <a:rPr lang="en-US" dirty="0"/>
              <a:t>—(optional) Specifies the class number of the object owned or referenced by this field.</a:t>
            </a:r>
          </a:p>
          <a:p>
            <a:pPr lvl="1"/>
            <a:r>
              <a:rPr lang="en-US" dirty="0" err="1"/>
              <a:t>wsSelector</a:t>
            </a:r>
            <a:r>
              <a:rPr lang="en-US" dirty="0"/>
              <a:t>—(optional) This number determines the default writing system(s) for this field.</a:t>
            </a:r>
            <a:br>
              <a:rPr lang="en-US" dirty="0"/>
            </a:br>
            <a:r>
              <a:rPr lang="en-US" dirty="0"/>
              <a:t>Possibilities are</a:t>
            </a:r>
          </a:p>
          <a:p>
            <a:pPr lvl="2"/>
            <a:r>
              <a:rPr lang="en-US" dirty="0"/>
              <a:t>-1—The first analysis writing system.</a:t>
            </a:r>
          </a:p>
          <a:p>
            <a:pPr lvl="2"/>
            <a:r>
              <a:rPr lang="en-US" dirty="0"/>
              <a:t>-2—The first vernacular writing system.</a:t>
            </a:r>
          </a:p>
          <a:p>
            <a:pPr lvl="2"/>
            <a:r>
              <a:rPr lang="en-US" dirty="0"/>
              <a:t>-3—All checked analysis writing systems.</a:t>
            </a:r>
          </a:p>
          <a:p>
            <a:pPr lvl="2"/>
            <a:r>
              <a:rPr lang="en-US" dirty="0"/>
              <a:t>-4—All checked vernacular writing systems.</a:t>
            </a:r>
          </a:p>
          <a:p>
            <a:pPr lvl="2"/>
            <a:r>
              <a:rPr lang="en-US" dirty="0"/>
              <a:t>-5—All checked analysis then all checked vernacular writing systems.</a:t>
            </a:r>
          </a:p>
          <a:p>
            <a:pPr lvl="2"/>
            <a:r>
              <a:rPr lang="en-US" dirty="0"/>
              <a:t>-6—All checked vernacular then all checked analysis writing systems.</a:t>
            </a:r>
          </a:p>
          <a:p>
            <a:pPr lvl="2"/>
            <a:r>
              <a:rPr lang="en-US" dirty="0"/>
              <a:t>Note: Segment only offers Single-line Text with first analysis or vernacular.</a:t>
            </a:r>
          </a:p>
          <a:p>
            <a:endParaRPr lang="en-US" dirty="0"/>
          </a:p>
        </p:txBody>
      </p:sp>
    </p:spTree>
    <p:extLst>
      <p:ext uri="{BB962C8B-B14F-4D97-AF65-F5344CB8AC3E}">
        <p14:creationId xmlns:p14="http://schemas.microsoft.com/office/powerpoint/2010/main" val="17815870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Custom fields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10000"/>
          </a:bodyPr>
          <a:lstStyle/>
          <a:p>
            <a:r>
              <a:rPr lang="en-US" dirty="0"/>
              <a:t>Possible attributes continued</a:t>
            </a:r>
          </a:p>
          <a:p>
            <a:pPr lvl="1"/>
            <a:r>
              <a:rPr lang="en-US" dirty="0" err="1"/>
              <a:t>listRoot</a:t>
            </a:r>
            <a:r>
              <a:rPr lang="en-US" dirty="0"/>
              <a:t>—For reference properties this holds the guid of the </a:t>
            </a:r>
            <a:r>
              <a:rPr lang="en-US" dirty="0" err="1"/>
              <a:t>CmPossibilityList</a:t>
            </a:r>
            <a:r>
              <a:rPr lang="en-US" dirty="0"/>
              <a:t> (including custom lists) that owns the items that can be held in this reference property.</a:t>
            </a:r>
          </a:p>
          <a:p>
            <a:pPr lvl="1"/>
            <a:r>
              <a:rPr lang="en-US" dirty="0" err="1"/>
              <a:t>helpString</a:t>
            </a:r>
            <a:r>
              <a:rPr lang="en-US" dirty="0"/>
              <a:t>—(optional) This is a user-defined description of how the field is used</a:t>
            </a:r>
          </a:p>
          <a:p>
            <a:pPr lvl="1"/>
            <a:r>
              <a:rPr lang="en-US" dirty="0"/>
              <a:t>type—Specifies the kind of field. These are the options currently supported in the UI.</a:t>
            </a:r>
          </a:p>
          <a:p>
            <a:pPr lvl="2"/>
            <a:r>
              <a:rPr lang="en-US" dirty="0"/>
              <a:t>String—Single-line Text (first analysis or vernacular). This field stores a String allowing embedding (It actually stores MultiString, but the UI limits it to one writing system.)</a:t>
            </a:r>
          </a:p>
          <a:p>
            <a:pPr lvl="2"/>
            <a:r>
              <a:rPr lang="en-US" dirty="0"/>
              <a:t>MultiUnicode—Single-line Text (all analysis and/or vernacular). This field stores a MultiUnicode with no embedding.</a:t>
            </a:r>
          </a:p>
          <a:p>
            <a:pPr lvl="2"/>
            <a:r>
              <a:rPr lang="en-US" dirty="0"/>
              <a:t>OA—</a:t>
            </a:r>
            <a:r>
              <a:rPr lang="en-US" dirty="0" err="1"/>
              <a:t>Multiparagraph</a:t>
            </a:r>
            <a:r>
              <a:rPr lang="en-US" dirty="0"/>
              <a:t> Text. This field stores an owning atomic </a:t>
            </a:r>
            <a:r>
              <a:rPr lang="en-US" dirty="0" err="1"/>
              <a:t>StText</a:t>
            </a:r>
            <a:r>
              <a:rPr lang="en-US" dirty="0"/>
              <a:t> allowing multiple paragraphs. It works well for Data Notebook, but should probably not be used in the lexicon (use </a:t>
            </a:r>
            <a:r>
              <a:rPr lang="en-US" dirty="0" err="1"/>
              <a:t>Shift+Enter</a:t>
            </a:r>
            <a:r>
              <a:rPr lang="en-US" dirty="0"/>
              <a:t> instead).</a:t>
            </a:r>
          </a:p>
          <a:p>
            <a:pPr lvl="2"/>
            <a:r>
              <a:rPr lang="en-US" dirty="0" err="1"/>
              <a:t>GenDate</a:t>
            </a:r>
            <a:r>
              <a:rPr lang="en-US" dirty="0"/>
              <a:t>—Date. The field holds a generic date stored as an integer.</a:t>
            </a:r>
          </a:p>
          <a:p>
            <a:pPr lvl="2"/>
            <a:r>
              <a:rPr lang="en-US" dirty="0"/>
              <a:t>RC—List Reference (multiple items). This field holds a reference collection to multiple list items.</a:t>
            </a:r>
          </a:p>
          <a:p>
            <a:pPr lvl="2"/>
            <a:r>
              <a:rPr lang="en-US" dirty="0"/>
              <a:t>RA—List Reference (single item). This field holds an atomic reference to a single list item.</a:t>
            </a:r>
          </a:p>
          <a:p>
            <a:pPr lvl="2"/>
            <a:r>
              <a:rPr lang="en-US" dirty="0"/>
              <a:t>Integer—Number. The field holds an integer value</a:t>
            </a:r>
          </a:p>
          <a:p>
            <a:pPr lvl="2"/>
            <a:endParaRPr lang="en-US" dirty="0"/>
          </a:p>
          <a:p>
            <a:endParaRPr lang="en-US" dirty="0"/>
          </a:p>
        </p:txBody>
      </p:sp>
    </p:spTree>
    <p:extLst>
      <p:ext uri="{BB962C8B-B14F-4D97-AF65-F5344CB8AC3E}">
        <p14:creationId xmlns:p14="http://schemas.microsoft.com/office/powerpoint/2010/main" val="384304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Custom fields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85000" lnSpcReduction="20000"/>
          </a:bodyPr>
          <a:lstStyle/>
          <a:p>
            <a:r>
              <a:rPr lang="en-US" dirty="0"/>
              <a:t>The following examples show how data is stored in custom fields. The name attribute matches the name attribute of the custom field (</a:t>
            </a:r>
            <a:r>
              <a:rPr lang="en-US" dirty="0">
                <a:highlight>
                  <a:srgbClr val="FFFF00"/>
                </a:highlight>
              </a:rPr>
              <a:t>not the label that the user sees in the UI</a:t>
            </a:r>
            <a:r>
              <a:rPr lang="en-US" dirty="0"/>
              <a:t>).</a:t>
            </a:r>
          </a:p>
          <a:p>
            <a:r>
              <a:rPr lang="en-US" dirty="0"/>
              <a:t>This is an example of a custom Single-line Text field set to First Analysis or First Vernacular writing system. The underlying type is a MultiString field, although the UI does not enable more than one writing system. The string itself can have embedded information.</a:t>
            </a:r>
          </a:p>
          <a:p>
            <a:r>
              <a:rPr lang="en-US" dirty="0"/>
              <a:t>&lt;Custom name="My Complex String"&gt;</a:t>
            </a:r>
            <a:br>
              <a:rPr lang="en-US" dirty="0"/>
            </a:br>
            <a:r>
              <a:rPr lang="en-US" dirty="0"/>
              <a:t>&lt;</a:t>
            </a:r>
            <a:r>
              <a:rPr lang="en-US" dirty="0" err="1"/>
              <a:t>AStr</a:t>
            </a:r>
            <a:r>
              <a:rPr lang="en-US" dirty="0"/>
              <a:t> </a:t>
            </a:r>
            <a:r>
              <a:rPr lang="en-US" dirty="0" err="1"/>
              <a:t>ws</a:t>
            </a:r>
            <a:r>
              <a:rPr lang="en-US" dirty="0"/>
              <a:t>="</a:t>
            </a:r>
            <a:r>
              <a:rPr lang="en-US" dirty="0" err="1"/>
              <a:t>en</a:t>
            </a:r>
            <a:r>
              <a:rPr lang="en-US" dirty="0"/>
              <a:t>"&gt;</a:t>
            </a:r>
            <a:br>
              <a:rPr lang="en-US" dirty="0"/>
            </a:br>
            <a:r>
              <a:rPr lang="en-US" dirty="0"/>
              <a:t>&lt;Run </a:t>
            </a:r>
            <a:r>
              <a:rPr lang="en-US" dirty="0" err="1"/>
              <a:t>ws</a:t>
            </a:r>
            <a:r>
              <a:rPr lang="en-US" dirty="0"/>
              <a:t>="</a:t>
            </a:r>
            <a:r>
              <a:rPr lang="en-US" dirty="0" err="1"/>
              <a:t>en</a:t>
            </a:r>
            <a:r>
              <a:rPr lang="en-US" dirty="0"/>
              <a:t>"&gt;This is the field content.&lt;/Run&gt;</a:t>
            </a:r>
            <a:br>
              <a:rPr lang="en-US" dirty="0"/>
            </a:br>
            <a:r>
              <a:rPr lang="en-US" dirty="0"/>
              <a:t>&lt;/</a:t>
            </a:r>
            <a:r>
              <a:rPr lang="en-US" dirty="0" err="1"/>
              <a:t>AStr</a:t>
            </a:r>
            <a:r>
              <a:rPr lang="en-US" dirty="0"/>
              <a:t>&gt;</a:t>
            </a:r>
            <a:br>
              <a:rPr lang="en-US" dirty="0"/>
            </a:br>
            <a:r>
              <a:rPr lang="en-US" dirty="0"/>
              <a:t>&lt;/Custom&gt;</a:t>
            </a:r>
          </a:p>
          <a:p>
            <a:r>
              <a:rPr lang="en-US" dirty="0"/>
              <a:t>This is an example of a custom Single-line Text field set to All ... writing systems. The underlying type is a MultiUnicode field, so it cannot have embedded information. The UI follows normal writing system rules for MultiUnicode fields.</a:t>
            </a:r>
          </a:p>
          <a:p>
            <a:r>
              <a:rPr lang="en-US" dirty="0"/>
              <a:t>&lt;Custom name="My Simple Strings"&gt;</a:t>
            </a:r>
            <a:br>
              <a:rPr lang="en-US" dirty="0"/>
            </a:br>
            <a:r>
              <a:rPr lang="en-US" dirty="0"/>
              <a:t>&lt;</a:t>
            </a:r>
            <a:r>
              <a:rPr lang="en-US" dirty="0" err="1"/>
              <a:t>AUni</a:t>
            </a:r>
            <a:r>
              <a:rPr lang="en-US" dirty="0"/>
              <a:t> </a:t>
            </a:r>
            <a:r>
              <a:rPr lang="en-US" dirty="0" err="1"/>
              <a:t>ws</a:t>
            </a:r>
            <a:r>
              <a:rPr lang="en-US" dirty="0"/>
              <a:t>="</a:t>
            </a:r>
            <a:r>
              <a:rPr lang="en-US" dirty="0" err="1"/>
              <a:t>en</a:t>
            </a:r>
            <a:r>
              <a:rPr lang="en-US" dirty="0"/>
              <a:t>"&gt;house&lt;/</a:t>
            </a:r>
            <a:r>
              <a:rPr lang="en-US" dirty="0" err="1"/>
              <a:t>AUni</a:t>
            </a:r>
            <a:r>
              <a:rPr lang="en-US" dirty="0"/>
              <a:t>&gt;</a:t>
            </a:r>
            <a:br>
              <a:rPr lang="en-US" dirty="0"/>
            </a:br>
            <a:r>
              <a:rPr lang="en-US" dirty="0"/>
              <a:t>&lt;</a:t>
            </a:r>
            <a:r>
              <a:rPr lang="en-US" dirty="0" err="1"/>
              <a:t>AUni</a:t>
            </a:r>
            <a:r>
              <a:rPr lang="en-US" dirty="0"/>
              <a:t> </a:t>
            </a:r>
            <a:r>
              <a:rPr lang="en-US" dirty="0" err="1"/>
              <a:t>ws</a:t>
            </a:r>
            <a:r>
              <a:rPr lang="en-US" dirty="0"/>
              <a:t>="</a:t>
            </a:r>
            <a:r>
              <a:rPr lang="en-US" dirty="0" err="1"/>
              <a:t>fr</a:t>
            </a:r>
            <a:r>
              <a:rPr lang="en-US" dirty="0"/>
              <a:t>"&gt;</a:t>
            </a:r>
            <a:r>
              <a:rPr lang="en-US" dirty="0" err="1"/>
              <a:t>maison</a:t>
            </a:r>
            <a:r>
              <a:rPr lang="en-US" dirty="0"/>
              <a:t>&lt;/</a:t>
            </a:r>
            <a:r>
              <a:rPr lang="en-US" dirty="0" err="1"/>
              <a:t>AUni</a:t>
            </a:r>
            <a:r>
              <a:rPr lang="en-US" dirty="0"/>
              <a:t>&gt;</a:t>
            </a:r>
            <a:br>
              <a:rPr lang="en-US" dirty="0"/>
            </a:br>
            <a:r>
              <a:rPr lang="en-US" dirty="0"/>
              <a:t>&lt;/Custom&gt;</a:t>
            </a:r>
          </a:p>
          <a:p>
            <a:pPr lvl="2"/>
            <a:endParaRPr lang="en-US" dirty="0"/>
          </a:p>
          <a:p>
            <a:endParaRPr lang="en-US" dirty="0"/>
          </a:p>
        </p:txBody>
      </p:sp>
    </p:spTree>
    <p:extLst>
      <p:ext uri="{BB962C8B-B14F-4D97-AF65-F5344CB8AC3E}">
        <p14:creationId xmlns:p14="http://schemas.microsoft.com/office/powerpoint/2010/main" val="30039959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Custom fields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77500" lnSpcReduction="20000"/>
          </a:bodyPr>
          <a:lstStyle/>
          <a:p>
            <a:r>
              <a:rPr lang="en-US" dirty="0"/>
              <a:t>This is an example of a </a:t>
            </a:r>
            <a:r>
              <a:rPr lang="en-US" dirty="0" err="1"/>
              <a:t>Multiparagraph</a:t>
            </a:r>
            <a:r>
              <a:rPr lang="en-US" dirty="0"/>
              <a:t> Text custom field. This is always an owning atomic property that holds one </a:t>
            </a:r>
            <a:r>
              <a:rPr lang="en-US" dirty="0" err="1"/>
              <a:t>StText</a:t>
            </a:r>
            <a:r>
              <a:rPr lang="en-US" dirty="0"/>
              <a:t>. This example only shows the </a:t>
            </a:r>
            <a:r>
              <a:rPr lang="en-US" dirty="0" err="1"/>
              <a:t>StText</a:t>
            </a:r>
            <a:r>
              <a:rPr lang="en-US" dirty="0"/>
              <a:t> guid. The rest of the objects would be defined as normal &lt;rt&gt; elements.</a:t>
            </a:r>
          </a:p>
          <a:p>
            <a:r>
              <a:rPr lang="en-US" dirty="0"/>
              <a:t>&lt;Custom name="My Paragraphs"&gt;</a:t>
            </a:r>
            <a:br>
              <a:rPr lang="en-US" dirty="0"/>
            </a:br>
            <a:r>
              <a:rPr lang="en-US" dirty="0"/>
              <a:t>&lt;</a:t>
            </a:r>
            <a:r>
              <a:rPr lang="en-US" dirty="0" err="1"/>
              <a:t>objsur</a:t>
            </a:r>
            <a:r>
              <a:rPr lang="en-US" dirty="0"/>
              <a:t> guid="c2ac5444-26cf-4318-9e08-1f12d64e173e" t="o" /&gt;</a:t>
            </a:r>
            <a:br>
              <a:rPr lang="en-US" dirty="0"/>
            </a:br>
            <a:r>
              <a:rPr lang="en-US" dirty="0"/>
              <a:t>&lt;/Custom&gt;</a:t>
            </a:r>
          </a:p>
          <a:p>
            <a:r>
              <a:rPr lang="en-US" dirty="0"/>
              <a:t>This is an example of a List Reference (multiple items) custom field. The underlying type is a reference collection field which holds references to objects. The (single item) type would be the same except the UI only allows it to hold one item.</a:t>
            </a:r>
          </a:p>
          <a:p>
            <a:r>
              <a:rPr lang="en-US" dirty="0"/>
              <a:t>&lt;Custom name="My List Items"&gt;</a:t>
            </a:r>
            <a:br>
              <a:rPr lang="en-US" dirty="0"/>
            </a:br>
            <a:r>
              <a:rPr lang="en-US" dirty="0"/>
              <a:t>&lt;</a:t>
            </a:r>
            <a:r>
              <a:rPr lang="en-US" dirty="0" err="1"/>
              <a:t>objsur</a:t>
            </a:r>
            <a:r>
              <a:rPr lang="en-US" dirty="0"/>
              <a:t> guid="d7f713a5-e8cf-11d3-9764-00c04f186933" t="r" /&gt;</a:t>
            </a:r>
            <a:br>
              <a:rPr lang="en-US" dirty="0"/>
            </a:br>
            <a:r>
              <a:rPr lang="en-US" dirty="0"/>
              <a:t>&lt;</a:t>
            </a:r>
            <a:r>
              <a:rPr lang="en-US" dirty="0" err="1"/>
              <a:t>objsur</a:t>
            </a:r>
            <a:r>
              <a:rPr lang="en-US" dirty="0"/>
              <a:t> guid="d7f713a6-e8cf-11d3-9764-00c04f186933" t="r" /&gt;</a:t>
            </a:r>
            <a:br>
              <a:rPr lang="en-US" dirty="0"/>
            </a:br>
            <a:r>
              <a:rPr lang="en-US" dirty="0"/>
              <a:t>&lt;/Custom&gt;</a:t>
            </a:r>
          </a:p>
          <a:p>
            <a:r>
              <a:rPr lang="en-US" dirty="0"/>
              <a:t>This is an example of a date custom field. The underlying type is a </a:t>
            </a:r>
            <a:r>
              <a:rPr lang="en-US" dirty="0" err="1"/>
              <a:t>GenDate</a:t>
            </a:r>
            <a:r>
              <a:rPr lang="en-US" dirty="0"/>
              <a:t> field.</a:t>
            </a:r>
          </a:p>
          <a:p>
            <a:r>
              <a:rPr lang="en-US" dirty="0"/>
              <a:t>&lt;Custom name="My Date" </a:t>
            </a:r>
            <a:r>
              <a:rPr lang="en-US" dirty="0" err="1"/>
              <a:t>val</a:t>
            </a:r>
            <a:r>
              <a:rPr lang="en-US" dirty="0"/>
              <a:t>="201011171" /&gt;</a:t>
            </a:r>
          </a:p>
          <a:p>
            <a:r>
              <a:rPr lang="en-US" dirty="0"/>
              <a:t>This is an example of a number custom field. The underlying type is an integer field.</a:t>
            </a:r>
          </a:p>
          <a:p>
            <a:r>
              <a:rPr lang="en-US" dirty="0"/>
              <a:t>&lt;Custom name="Number" </a:t>
            </a:r>
            <a:r>
              <a:rPr lang="en-US" dirty="0" err="1"/>
              <a:t>val</a:t>
            </a:r>
            <a:r>
              <a:rPr lang="en-US" dirty="0"/>
              <a:t>="45" /&gt;</a:t>
            </a:r>
          </a:p>
          <a:p>
            <a:pPr lvl="2"/>
            <a:endParaRPr lang="en-US" dirty="0"/>
          </a:p>
          <a:p>
            <a:endParaRPr lang="en-US" dirty="0"/>
          </a:p>
        </p:txBody>
      </p:sp>
    </p:spTree>
    <p:extLst>
      <p:ext uri="{BB962C8B-B14F-4D97-AF65-F5344CB8AC3E}">
        <p14:creationId xmlns:p14="http://schemas.microsoft.com/office/powerpoint/2010/main" val="36536017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Send/Receive Data</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dirty="0"/>
              <a:t>Send/Receive allows users to collaborate in a single FLEx project. For full information on Send/Receive see </a:t>
            </a:r>
            <a:r>
              <a:rPr lang="en-US" u="sng" dirty="0">
                <a:hlinkClick r:id="rId2"/>
              </a:rPr>
              <a:t>https://downloads.languagetechnology.org/fieldworks/Documentation/Technical%20Notes%20on%20FieldWorks%20Send-Receive.pdf</a:t>
            </a:r>
            <a:r>
              <a:rPr lang="en-US" dirty="0"/>
              <a:t>.</a:t>
            </a:r>
          </a:p>
          <a:p>
            <a:r>
              <a:rPr lang="en-US" dirty="0"/>
              <a:t>Although designed for Send/Receive, the format used in Send/Receive may prove more useful than fwdata for certain purposes. It’s always possible to do a Send/Receive to USB to provide the Send/Receive format even if you are not normally using Send/Receive to collaborate with others. With appropriate mercurial commands, it’s possible to make changes to the files and then load those changes into your FLEx project. This is one way to import a possibility list. See section 4.8 in the above linked file for details on this.</a:t>
            </a:r>
          </a:p>
          <a:p>
            <a:r>
              <a:rPr lang="en-US" dirty="0"/>
              <a:t>Before sending to a repository, the fwdata file is split into numerous files based on domains. This is done to reduce the size of files that need to be merged, and to provide appropriate merge logic for different kinds of files. In general, the format of the split files is similar to fwdata, however the significant difference is that instead of each object being a separate rt record as in fwdata, the files are based on certain objects, and owned objects within those objects.</a:t>
            </a:r>
          </a:p>
          <a:p>
            <a:endParaRPr lang="en-US" dirty="0"/>
          </a:p>
        </p:txBody>
      </p:sp>
    </p:spTree>
    <p:extLst>
      <p:ext uri="{BB962C8B-B14F-4D97-AF65-F5344CB8AC3E}">
        <p14:creationId xmlns:p14="http://schemas.microsoft.com/office/powerpoint/2010/main" val="12681761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Send/Receive Data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77500" lnSpcReduction="20000"/>
          </a:bodyPr>
          <a:lstStyle/>
          <a:p>
            <a:r>
              <a:rPr lang="en-US" dirty="0"/>
              <a:t>The fwdata file gets split into these directories, with file extensions for the files in that directory.</a:t>
            </a:r>
          </a:p>
          <a:p>
            <a:r>
              <a:rPr lang="en-US" dirty="0"/>
              <a:t>Anthropology (.</a:t>
            </a:r>
            <a:r>
              <a:rPr lang="en-US" dirty="0" err="1"/>
              <a:t>ntbk</a:t>
            </a:r>
            <a:r>
              <a:rPr lang="en-US" dirty="0"/>
              <a:t>, .list)</a:t>
            </a:r>
            <a:br>
              <a:rPr lang="en-US" dirty="0"/>
            </a:br>
            <a:r>
              <a:rPr lang="en-US" dirty="0"/>
              <a:t>General (.filter, .style, .</a:t>
            </a:r>
            <a:r>
              <a:rPr lang="en-US" dirty="0" err="1"/>
              <a:t>langproj</a:t>
            </a:r>
            <a:r>
              <a:rPr lang="en-US" dirty="0"/>
              <a:t>, .pictures, .orderings, .list)</a:t>
            </a:r>
            <a:br>
              <a:rPr lang="en-US" dirty="0"/>
            </a:br>
            <a:r>
              <a:rPr lang="en-US" dirty="0" err="1"/>
              <a:t>Lexicon.fwstub</a:t>
            </a:r>
            <a:br>
              <a:rPr lang="en-US" dirty="0"/>
            </a:br>
            <a:r>
              <a:rPr lang="en-US" dirty="0" err="1"/>
              <a:t>Lexicon.fwstub.ChorusNotes</a:t>
            </a:r>
            <a:r>
              <a:rPr lang="en-US" dirty="0"/>
              <a:t>		(Messages in entries)</a:t>
            </a:r>
            <a:br>
              <a:rPr lang="en-US" dirty="0"/>
            </a:br>
            <a:r>
              <a:rPr lang="en-US" dirty="0"/>
              <a:t>Linguistics</a:t>
            </a:r>
            <a:br>
              <a:rPr lang="en-US" dirty="0"/>
            </a:br>
            <a:r>
              <a:rPr lang="en-US" dirty="0"/>
              <a:t>	Discourse (.discourse, .list)</a:t>
            </a:r>
            <a:br>
              <a:rPr lang="en-US" dirty="0"/>
            </a:br>
            <a:r>
              <a:rPr lang="en-US" dirty="0"/>
              <a:t>	Inventory (.inventory 10 files)</a:t>
            </a:r>
            <a:br>
              <a:rPr lang="en-US" dirty="0"/>
            </a:br>
            <a:r>
              <a:rPr lang="en-US" dirty="0"/>
              <a:t>	Lexicon (.</a:t>
            </a:r>
            <a:r>
              <a:rPr lang="en-US" dirty="0" err="1"/>
              <a:t>lexdb</a:t>
            </a:r>
            <a:r>
              <a:rPr lang="en-US" dirty="0"/>
              <a:t> 10 files, .list)</a:t>
            </a:r>
            <a:br>
              <a:rPr lang="en-US" dirty="0"/>
            </a:br>
            <a:r>
              <a:rPr lang="en-US" dirty="0"/>
              <a:t>	</a:t>
            </a:r>
            <a:r>
              <a:rPr lang="en-US" dirty="0" err="1"/>
              <a:t>MorphologyAndSyntax</a:t>
            </a:r>
            <a:r>
              <a:rPr lang="en-US" dirty="0"/>
              <a:t> (.agents, .</a:t>
            </a:r>
            <a:r>
              <a:rPr lang="en-US" dirty="0" err="1"/>
              <a:t>morphdata</a:t>
            </a:r>
            <a:r>
              <a:rPr lang="en-US" dirty="0"/>
              <a:t>, .</a:t>
            </a:r>
            <a:r>
              <a:rPr lang="en-US" dirty="0" err="1"/>
              <a:t>feasys</a:t>
            </a:r>
            <a:r>
              <a:rPr lang="en-US" dirty="0"/>
              <a:t>, .list)</a:t>
            </a:r>
            <a:br>
              <a:rPr lang="en-US" dirty="0"/>
            </a:br>
            <a:r>
              <a:rPr lang="en-US" dirty="0"/>
              <a:t>	Phonology (.</a:t>
            </a:r>
            <a:r>
              <a:rPr lang="en-US" dirty="0" err="1"/>
              <a:t>phondata</a:t>
            </a:r>
            <a:r>
              <a:rPr lang="en-US" dirty="0"/>
              <a:t>, .</a:t>
            </a:r>
            <a:r>
              <a:rPr lang="en-US" dirty="0" err="1"/>
              <a:t>featsys</a:t>
            </a:r>
            <a:r>
              <a:rPr lang="en-US" dirty="0"/>
              <a:t>, .list)</a:t>
            </a:r>
            <a:br>
              <a:rPr lang="en-US" dirty="0"/>
            </a:br>
            <a:r>
              <a:rPr lang="en-US" dirty="0"/>
              <a:t>	Reversals</a:t>
            </a:r>
            <a:br>
              <a:rPr lang="en-US" dirty="0"/>
            </a:br>
            <a:r>
              <a:rPr lang="en-US" dirty="0"/>
              <a:t>		</a:t>
            </a:r>
            <a:r>
              <a:rPr lang="en-US" dirty="0" err="1"/>
              <a:t>en</a:t>
            </a:r>
            <a:r>
              <a:rPr lang="en-US" dirty="0"/>
              <a:t> (.reversal, .list)</a:t>
            </a:r>
            <a:br>
              <a:rPr lang="en-US" dirty="0"/>
            </a:br>
            <a:r>
              <a:rPr lang="en-US" dirty="0"/>
              <a:t>		&lt;separate directory for each index&gt;</a:t>
            </a:r>
          </a:p>
          <a:p>
            <a:r>
              <a:rPr lang="en-US" dirty="0"/>
              <a:t>Here is a simple entry in FLEx with an example sentence and a translation.</a:t>
            </a:r>
            <a:br>
              <a:rPr lang="en-US" dirty="0"/>
            </a:br>
            <a:endParaRPr lang="en-US" dirty="0"/>
          </a:p>
          <a:p>
            <a:r>
              <a:rPr lang="en-US" dirty="0"/>
              <a:t>The next slide shows how this entry would be stored in .fwdata with some extra fields removed. The rt objects are sorted by guid, so this is the order they would occur, with many other classes mixed between these classes. For links to possibilities, I’ve just added the string in {} rather than adding the actual possibility classes. I’ve also highlighted in green the actual text that appears in the entry display.</a:t>
            </a:r>
          </a:p>
          <a:p>
            <a:endParaRPr lang="en-US" dirty="0"/>
          </a:p>
          <a:p>
            <a:endParaRPr lang="en-US" dirty="0"/>
          </a:p>
          <a:p>
            <a:endParaRPr lang="en-US" dirty="0"/>
          </a:p>
          <a:p>
            <a:endParaRPr lang="en-US" dirty="0"/>
          </a:p>
          <a:p>
            <a:endParaRPr lang="en-US" dirty="0"/>
          </a:p>
          <a:p>
            <a:endParaRPr lang="en-US" dirty="0"/>
          </a:p>
        </p:txBody>
      </p:sp>
      <p:pic>
        <p:nvPicPr>
          <p:cNvPr id="8" name="Picture 7">
            <a:extLst>
              <a:ext uri="{FF2B5EF4-FFF2-40B4-BE49-F238E27FC236}">
                <a16:creationId xmlns:a16="http://schemas.microsoft.com/office/drawing/2014/main" id="{B1D2FC96-5AA8-47F4-ACA6-C18A58C0B154}"/>
              </a:ext>
            </a:extLst>
          </p:cNvPr>
          <p:cNvPicPr/>
          <p:nvPr/>
        </p:nvPicPr>
        <p:blipFill>
          <a:blip r:embed="rId2"/>
          <a:stretch>
            <a:fillRect/>
          </a:stretch>
        </p:blipFill>
        <p:spPr>
          <a:xfrm>
            <a:off x="1068970" y="5054646"/>
            <a:ext cx="8320690" cy="227037"/>
          </a:xfrm>
          <a:prstGeom prst="rect">
            <a:avLst/>
          </a:prstGeom>
        </p:spPr>
      </p:pic>
    </p:spTree>
    <p:extLst>
      <p:ext uri="{BB962C8B-B14F-4D97-AF65-F5344CB8AC3E}">
        <p14:creationId xmlns:p14="http://schemas.microsoft.com/office/powerpoint/2010/main" val="35514445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Send/Receive Data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25000" lnSpcReduction="20000"/>
          </a:bodyPr>
          <a:lstStyle/>
          <a:p>
            <a:r>
              <a:rPr lang="en-US" dirty="0"/>
              <a:t>&lt;rt class="</a:t>
            </a:r>
            <a:r>
              <a:rPr lang="en-US" dirty="0" err="1"/>
              <a:t>MoStemMsa</a:t>
            </a:r>
            <a:r>
              <a:rPr lang="en-US" dirty="0"/>
              <a:t>" guid="3619197f-1bb1-4fc3-93bb-207561a14137" </a:t>
            </a:r>
            <a:r>
              <a:rPr lang="en-US" dirty="0" err="1"/>
              <a:t>ownerguid</a:t>
            </a:r>
            <a:r>
              <a:rPr lang="en-US" dirty="0"/>
              <a:t>="acc2031e-4ee4-4532-b151-a0b3eae8ece3"&gt;</a:t>
            </a:r>
            <a:br>
              <a:rPr lang="en-US" dirty="0"/>
            </a:br>
            <a:r>
              <a:rPr lang="en-US" dirty="0"/>
              <a:t>&lt;</a:t>
            </a:r>
            <a:r>
              <a:rPr lang="en-US" dirty="0" err="1"/>
              <a:t>PartOfSpeech</a:t>
            </a:r>
            <a:r>
              <a:rPr lang="en-US" dirty="0"/>
              <a:t>&gt;</a:t>
            </a:r>
            <a:br>
              <a:rPr lang="en-US" dirty="0"/>
            </a:br>
            <a:r>
              <a:rPr lang="en-US" dirty="0"/>
              <a:t>&lt;</a:t>
            </a:r>
            <a:r>
              <a:rPr lang="en-US" dirty="0" err="1"/>
              <a:t>objsur</a:t>
            </a:r>
            <a:r>
              <a:rPr lang="en-US" dirty="0"/>
              <a:t> guid="a8e41fd3-e343-4c7c-aa05-01ea3dd5cfb5" t="r" /&gt;		{</a:t>
            </a:r>
            <a:r>
              <a:rPr lang="en-US" dirty="0">
                <a:highlight>
                  <a:srgbClr val="00FF00"/>
                </a:highlight>
              </a:rPr>
              <a:t>n</a:t>
            </a:r>
            <a:r>
              <a:rPr lang="en-US" dirty="0"/>
              <a:t>}</a:t>
            </a:r>
            <a:br>
              <a:rPr lang="en-US" dirty="0"/>
            </a:br>
            <a:r>
              <a:rPr lang="en-US" dirty="0"/>
              <a:t>&lt;/</a:t>
            </a:r>
            <a:r>
              <a:rPr lang="en-US" dirty="0" err="1"/>
              <a:t>PartOfSpeech</a:t>
            </a:r>
            <a:r>
              <a:rPr lang="en-US" dirty="0"/>
              <a:t>&gt;</a:t>
            </a:r>
            <a:br>
              <a:rPr lang="en-US" dirty="0"/>
            </a:br>
            <a:r>
              <a:rPr lang="en-US" dirty="0"/>
              <a:t>&lt;/rt&gt;</a:t>
            </a:r>
          </a:p>
          <a:p>
            <a:r>
              <a:rPr lang="en-US" dirty="0"/>
              <a:t>&lt;rt class="</a:t>
            </a:r>
            <a:r>
              <a:rPr lang="en-US" dirty="0" err="1"/>
              <a:t>LexSense</a:t>
            </a:r>
            <a:r>
              <a:rPr lang="en-US" dirty="0"/>
              <a:t>" guid="5721a00b-2e17-451b-a004-ba02dfb0a761" </a:t>
            </a:r>
            <a:r>
              <a:rPr lang="en-US" dirty="0" err="1"/>
              <a:t>ownerguid</a:t>
            </a:r>
            <a:r>
              <a:rPr lang="en-US" dirty="0"/>
              <a:t>="acc2031e-4ee4-4532-b151-a0b3eae8ece3"&gt;</a:t>
            </a:r>
            <a:br>
              <a:rPr lang="en-US" dirty="0"/>
            </a:br>
            <a:r>
              <a:rPr lang="en-US" dirty="0"/>
              <a:t>&lt;Definition&gt;</a:t>
            </a:r>
            <a:br>
              <a:rPr lang="en-US" dirty="0"/>
            </a:br>
            <a:r>
              <a:rPr lang="en-US" dirty="0"/>
              <a:t>&lt;</a:t>
            </a:r>
            <a:r>
              <a:rPr lang="en-US" dirty="0" err="1"/>
              <a:t>AStr</a:t>
            </a:r>
            <a:r>
              <a:rPr lang="en-US" dirty="0"/>
              <a:t> </a:t>
            </a:r>
            <a:r>
              <a:rPr lang="en-US" dirty="0" err="1"/>
              <a:t>ws</a:t>
            </a:r>
            <a:r>
              <a:rPr lang="en-US" dirty="0"/>
              <a:t>="</a:t>
            </a:r>
            <a:r>
              <a:rPr lang="en-US" dirty="0" err="1"/>
              <a:t>en</a:t>
            </a:r>
            <a:r>
              <a:rPr lang="en-US" dirty="0"/>
              <a:t>"&gt;</a:t>
            </a:r>
            <a:br>
              <a:rPr lang="en-US" dirty="0"/>
            </a:br>
            <a:r>
              <a:rPr lang="en-US" dirty="0"/>
              <a:t>&lt;Run </a:t>
            </a:r>
            <a:r>
              <a:rPr lang="en-US" dirty="0" err="1"/>
              <a:t>ws</a:t>
            </a:r>
            <a:r>
              <a:rPr lang="en-US" dirty="0"/>
              <a:t>="</a:t>
            </a:r>
            <a:r>
              <a:rPr lang="en-US" dirty="0" err="1"/>
              <a:t>en</a:t>
            </a:r>
            <a:r>
              <a:rPr lang="en-US" dirty="0"/>
              <a:t>"&gt;</a:t>
            </a:r>
            <a:r>
              <a:rPr lang="en-US" dirty="0">
                <a:highlight>
                  <a:srgbClr val="00FF00"/>
                </a:highlight>
              </a:rPr>
              <a:t>A house or dwelling.</a:t>
            </a:r>
            <a:r>
              <a:rPr lang="en-US" dirty="0"/>
              <a:t>&lt;/Run&gt;</a:t>
            </a:r>
            <a:br>
              <a:rPr lang="en-US" dirty="0"/>
            </a:br>
            <a:r>
              <a:rPr lang="en-US" dirty="0"/>
              <a:t>&lt;/</a:t>
            </a:r>
            <a:r>
              <a:rPr lang="en-US" dirty="0" err="1"/>
              <a:t>AStr</a:t>
            </a:r>
            <a:r>
              <a:rPr lang="en-US" dirty="0"/>
              <a:t>&gt;</a:t>
            </a:r>
            <a:br>
              <a:rPr lang="en-US" dirty="0"/>
            </a:br>
            <a:r>
              <a:rPr lang="en-US" dirty="0"/>
              <a:t>&lt;/Definition&gt;</a:t>
            </a:r>
            <a:br>
              <a:rPr lang="en-US" dirty="0"/>
            </a:br>
            <a:r>
              <a:rPr lang="en-US" dirty="0"/>
              <a:t>&lt;Examples&gt;</a:t>
            </a:r>
            <a:br>
              <a:rPr lang="en-US" dirty="0"/>
            </a:br>
            <a:r>
              <a:rPr lang="en-US" dirty="0"/>
              <a:t>&lt;</a:t>
            </a:r>
            <a:r>
              <a:rPr lang="en-US" dirty="0" err="1"/>
              <a:t>objsur</a:t>
            </a:r>
            <a:r>
              <a:rPr lang="en-US" dirty="0"/>
              <a:t> guid="a389fd40-0cc0-440a-b25f-14f54df2c968" t="o" /&gt;</a:t>
            </a:r>
            <a:br>
              <a:rPr lang="en-US" dirty="0"/>
            </a:br>
            <a:r>
              <a:rPr lang="en-US" dirty="0"/>
              <a:t>&lt;/Examples&gt;</a:t>
            </a:r>
            <a:br>
              <a:rPr lang="en-US" dirty="0"/>
            </a:br>
            <a:r>
              <a:rPr lang="en-US" dirty="0"/>
              <a:t>&lt;</a:t>
            </a:r>
            <a:r>
              <a:rPr lang="en-US" dirty="0" err="1"/>
              <a:t>MorphoSyntaxAnalysis</a:t>
            </a:r>
            <a:r>
              <a:rPr lang="en-US" dirty="0"/>
              <a:t>&gt;</a:t>
            </a:r>
            <a:br>
              <a:rPr lang="en-US" dirty="0"/>
            </a:br>
            <a:r>
              <a:rPr lang="en-US" dirty="0"/>
              <a:t>&lt;</a:t>
            </a:r>
            <a:r>
              <a:rPr lang="en-US" dirty="0" err="1"/>
              <a:t>objsur</a:t>
            </a:r>
            <a:r>
              <a:rPr lang="en-US" dirty="0"/>
              <a:t> guid="3619197f-1bb1-4fc3-93bb-207561a14137" t="r" /&gt;</a:t>
            </a:r>
            <a:br>
              <a:rPr lang="en-US" dirty="0"/>
            </a:br>
            <a:r>
              <a:rPr lang="en-US" dirty="0"/>
              <a:t>&lt;/</a:t>
            </a:r>
            <a:r>
              <a:rPr lang="en-US" dirty="0" err="1"/>
              <a:t>MorphoSyntaxAnalysis</a:t>
            </a:r>
            <a:r>
              <a:rPr lang="en-US" dirty="0"/>
              <a:t>&gt;</a:t>
            </a:r>
            <a:br>
              <a:rPr lang="en-US" dirty="0"/>
            </a:br>
            <a:r>
              <a:rPr lang="en-US" dirty="0"/>
              <a:t>&lt;/rt&gt;</a:t>
            </a:r>
          </a:p>
          <a:p>
            <a:r>
              <a:rPr lang="en-US" dirty="0"/>
              <a:t>&lt;rt class="</a:t>
            </a:r>
            <a:r>
              <a:rPr lang="en-US" dirty="0" err="1"/>
              <a:t>LexExampleSentence</a:t>
            </a:r>
            <a:r>
              <a:rPr lang="en-US" dirty="0"/>
              <a:t>" guid="a389fd40-0cc0-440a-b25f-14f54df2c968" </a:t>
            </a:r>
            <a:r>
              <a:rPr lang="en-US" dirty="0" err="1"/>
              <a:t>ownerguid</a:t>
            </a:r>
            <a:r>
              <a:rPr lang="en-US" dirty="0"/>
              <a:t>="5721a00b-2e17-451b-a004-ba02dfb0a761"&gt;</a:t>
            </a:r>
            <a:br>
              <a:rPr lang="en-US" dirty="0"/>
            </a:br>
            <a:r>
              <a:rPr lang="en-US" dirty="0"/>
              <a:t>&lt;Example&gt;</a:t>
            </a:r>
            <a:br>
              <a:rPr lang="en-US" dirty="0"/>
            </a:br>
            <a:r>
              <a:rPr lang="en-US" dirty="0"/>
              <a:t>&lt;</a:t>
            </a:r>
            <a:r>
              <a:rPr lang="en-US" dirty="0" err="1"/>
              <a:t>AStr</a:t>
            </a:r>
            <a:r>
              <a:rPr lang="en-US" dirty="0"/>
              <a:t> </a:t>
            </a:r>
            <a:r>
              <a:rPr lang="en-US" dirty="0" err="1"/>
              <a:t>ws</a:t>
            </a:r>
            <a:r>
              <a:rPr lang="en-US" dirty="0"/>
              <a:t>="</a:t>
            </a:r>
            <a:r>
              <a:rPr lang="en-US" dirty="0" err="1"/>
              <a:t>fr</a:t>
            </a:r>
            <a:r>
              <a:rPr lang="en-US" dirty="0"/>
              <a:t>"&gt;</a:t>
            </a:r>
            <a:br>
              <a:rPr lang="en-US" dirty="0"/>
            </a:br>
            <a:r>
              <a:rPr lang="en-US" dirty="0"/>
              <a:t>&lt;Run </a:t>
            </a:r>
            <a:r>
              <a:rPr lang="en-US" dirty="0" err="1"/>
              <a:t>ws</a:t>
            </a:r>
            <a:r>
              <a:rPr lang="en-US" dirty="0"/>
              <a:t>="</a:t>
            </a:r>
            <a:r>
              <a:rPr lang="en-US" dirty="0" err="1"/>
              <a:t>fr</a:t>
            </a:r>
            <a:r>
              <a:rPr lang="en-US" dirty="0"/>
              <a:t>"&gt;</a:t>
            </a:r>
            <a:r>
              <a:rPr lang="en-US" dirty="0">
                <a:highlight>
                  <a:srgbClr val="00FF00"/>
                </a:highlight>
              </a:rPr>
              <a:t>Il a </a:t>
            </a:r>
            <a:r>
              <a:rPr lang="en-US" dirty="0" err="1">
                <a:highlight>
                  <a:srgbClr val="00FF00"/>
                </a:highlight>
              </a:rPr>
              <a:t>quitté</a:t>
            </a:r>
            <a:r>
              <a:rPr lang="en-US" dirty="0">
                <a:highlight>
                  <a:srgbClr val="00FF00"/>
                </a:highlight>
              </a:rPr>
              <a:t> la </a:t>
            </a:r>
            <a:r>
              <a:rPr lang="en-US" dirty="0" err="1">
                <a:highlight>
                  <a:srgbClr val="00FF00"/>
                </a:highlight>
              </a:rPr>
              <a:t>maison</a:t>
            </a:r>
            <a:r>
              <a:rPr lang="en-US" dirty="0">
                <a:highlight>
                  <a:srgbClr val="00FF00"/>
                </a:highlight>
              </a:rPr>
              <a:t> à 21 ans.</a:t>
            </a:r>
            <a:r>
              <a:rPr lang="en-US" dirty="0"/>
              <a:t>&lt;/Run&gt;</a:t>
            </a:r>
            <a:br>
              <a:rPr lang="en-US" dirty="0"/>
            </a:br>
            <a:r>
              <a:rPr lang="en-US" dirty="0"/>
              <a:t>&lt;/</a:t>
            </a:r>
            <a:r>
              <a:rPr lang="en-US" dirty="0" err="1"/>
              <a:t>AStr</a:t>
            </a:r>
            <a:r>
              <a:rPr lang="en-US" dirty="0"/>
              <a:t>&gt;</a:t>
            </a:r>
            <a:br>
              <a:rPr lang="en-US" dirty="0"/>
            </a:br>
            <a:r>
              <a:rPr lang="en-US" dirty="0"/>
              <a:t>&lt;/Example&gt;</a:t>
            </a:r>
            <a:br>
              <a:rPr lang="en-US" dirty="0"/>
            </a:br>
            <a:r>
              <a:rPr lang="en-US" dirty="0"/>
              <a:t>&lt;Translations&gt;</a:t>
            </a:r>
            <a:br>
              <a:rPr lang="en-US" dirty="0"/>
            </a:br>
            <a:r>
              <a:rPr lang="en-US" dirty="0"/>
              <a:t>&lt;</a:t>
            </a:r>
            <a:r>
              <a:rPr lang="en-US" dirty="0" err="1"/>
              <a:t>objsur</a:t>
            </a:r>
            <a:r>
              <a:rPr lang="en-US" dirty="0"/>
              <a:t> guid="f046a4dc-ae1f-4fbe-89cc-41e8d2ca31f6" t="o" /&gt;</a:t>
            </a:r>
            <a:br>
              <a:rPr lang="en-US" dirty="0"/>
            </a:br>
            <a:r>
              <a:rPr lang="en-US" dirty="0"/>
              <a:t>&lt;/Translations&gt;</a:t>
            </a:r>
            <a:br>
              <a:rPr lang="en-US" dirty="0"/>
            </a:br>
            <a:r>
              <a:rPr lang="en-US" dirty="0"/>
              <a:t>&lt;/rt&gt;</a:t>
            </a:r>
          </a:p>
          <a:p>
            <a:r>
              <a:rPr lang="en-US" dirty="0"/>
              <a:t>&lt;rt class="</a:t>
            </a:r>
            <a:r>
              <a:rPr lang="en-US" dirty="0" err="1"/>
              <a:t>LexEntry</a:t>
            </a:r>
            <a:r>
              <a:rPr lang="en-US" dirty="0"/>
              <a:t>" guid="acc2031e-4ee4-4532-b151-a0b3eae8ece3"&gt;</a:t>
            </a:r>
            <a:br>
              <a:rPr lang="en-US" dirty="0"/>
            </a:br>
            <a:r>
              <a:rPr lang="en-US" dirty="0"/>
              <a:t>&lt;Custom name="Date" </a:t>
            </a:r>
            <a:r>
              <a:rPr lang="en-US" dirty="0" err="1"/>
              <a:t>val</a:t>
            </a:r>
            <a:r>
              <a:rPr lang="en-US" dirty="0"/>
              <a:t>="0" /&gt;</a:t>
            </a:r>
            <a:br>
              <a:rPr lang="en-US" dirty="0"/>
            </a:br>
            <a:r>
              <a:rPr lang="en-US" dirty="0"/>
              <a:t>&lt;</a:t>
            </a:r>
            <a:r>
              <a:rPr lang="en-US" dirty="0" err="1"/>
              <a:t>LexemeForm</a:t>
            </a:r>
            <a:r>
              <a:rPr lang="en-US" dirty="0"/>
              <a:t>&gt;</a:t>
            </a:r>
            <a:br>
              <a:rPr lang="en-US" dirty="0"/>
            </a:br>
            <a:r>
              <a:rPr lang="en-US" dirty="0"/>
              <a:t>&lt;</a:t>
            </a:r>
            <a:r>
              <a:rPr lang="en-US" dirty="0" err="1"/>
              <a:t>objsur</a:t>
            </a:r>
            <a:r>
              <a:rPr lang="en-US" dirty="0"/>
              <a:t> guid="dd9a2fcf-28b9-451b-aad9-5ff92837549e" t="o" /&gt;</a:t>
            </a:r>
            <a:br>
              <a:rPr lang="en-US" dirty="0"/>
            </a:br>
            <a:r>
              <a:rPr lang="en-US" dirty="0"/>
              <a:t>&lt;/</a:t>
            </a:r>
            <a:r>
              <a:rPr lang="en-US" dirty="0" err="1"/>
              <a:t>LexemeForm</a:t>
            </a:r>
            <a:r>
              <a:rPr lang="en-US" dirty="0"/>
              <a:t>&gt;</a:t>
            </a:r>
            <a:br>
              <a:rPr lang="en-US" dirty="0"/>
            </a:br>
            <a:r>
              <a:rPr lang="en-US" dirty="0"/>
              <a:t>&lt;</a:t>
            </a:r>
            <a:r>
              <a:rPr lang="en-US" dirty="0" err="1"/>
              <a:t>MorphoSyntaxAnalyses</a:t>
            </a:r>
            <a:r>
              <a:rPr lang="en-US" dirty="0"/>
              <a:t>&gt;</a:t>
            </a:r>
            <a:br>
              <a:rPr lang="en-US" dirty="0"/>
            </a:br>
            <a:r>
              <a:rPr lang="en-US" dirty="0"/>
              <a:t>&lt;</a:t>
            </a:r>
            <a:r>
              <a:rPr lang="en-US" dirty="0" err="1"/>
              <a:t>objsur</a:t>
            </a:r>
            <a:r>
              <a:rPr lang="en-US" dirty="0"/>
              <a:t> guid="3619197f-1bb1-4fc3-93bb-207561a14137" t="o" /&gt;</a:t>
            </a:r>
            <a:br>
              <a:rPr lang="en-US" dirty="0"/>
            </a:br>
            <a:r>
              <a:rPr lang="en-US" dirty="0"/>
              <a:t>&lt;/</a:t>
            </a:r>
            <a:r>
              <a:rPr lang="en-US" dirty="0" err="1"/>
              <a:t>MorphoSyntaxAnalyses</a:t>
            </a:r>
            <a:r>
              <a:rPr lang="en-US" dirty="0"/>
              <a:t>&gt;</a:t>
            </a:r>
            <a:br>
              <a:rPr lang="en-US" dirty="0"/>
            </a:br>
            <a:r>
              <a:rPr lang="en-US" dirty="0"/>
              <a:t>&lt;Senses&gt;</a:t>
            </a:r>
            <a:br>
              <a:rPr lang="en-US" dirty="0"/>
            </a:br>
            <a:r>
              <a:rPr lang="en-US" dirty="0"/>
              <a:t>&lt;</a:t>
            </a:r>
            <a:r>
              <a:rPr lang="en-US" dirty="0" err="1"/>
              <a:t>objsur</a:t>
            </a:r>
            <a:r>
              <a:rPr lang="en-US" dirty="0"/>
              <a:t> guid="5721a00b-2e17-451b-a004-ba02dfb0a761" t="o" /&gt;</a:t>
            </a:r>
            <a:br>
              <a:rPr lang="en-US" dirty="0"/>
            </a:br>
            <a:r>
              <a:rPr lang="en-US" dirty="0"/>
              <a:t>&lt;/Senses&gt;</a:t>
            </a:r>
            <a:br>
              <a:rPr lang="en-US" dirty="0"/>
            </a:br>
            <a:r>
              <a:rPr lang="en-US" dirty="0"/>
              <a:t>&lt;/rt&gt;</a:t>
            </a:r>
          </a:p>
          <a:p>
            <a:r>
              <a:rPr lang="en-US" dirty="0"/>
              <a:t>&lt;rt class="</a:t>
            </a:r>
            <a:r>
              <a:rPr lang="en-US" dirty="0" err="1"/>
              <a:t>MoStemAllomorph</a:t>
            </a:r>
            <a:r>
              <a:rPr lang="en-US" dirty="0"/>
              <a:t>" guid="dd9a2fcf-28b9-451b-aad9-5ff92837549e" </a:t>
            </a:r>
            <a:r>
              <a:rPr lang="en-US" dirty="0" err="1"/>
              <a:t>ownerguid</a:t>
            </a:r>
            <a:r>
              <a:rPr lang="en-US" dirty="0"/>
              <a:t>="acc2031e-4ee4-4532-b151-a0b3eae8ece3"&gt;</a:t>
            </a:r>
            <a:br>
              <a:rPr lang="en-US" dirty="0"/>
            </a:br>
            <a:r>
              <a:rPr lang="en-US" dirty="0"/>
              <a:t>&lt;Form&gt;</a:t>
            </a:r>
            <a:br>
              <a:rPr lang="en-US" dirty="0"/>
            </a:br>
            <a:r>
              <a:rPr lang="en-US" dirty="0"/>
              <a:t>&lt;</a:t>
            </a:r>
            <a:r>
              <a:rPr lang="en-US" dirty="0" err="1"/>
              <a:t>AUni</a:t>
            </a:r>
            <a:r>
              <a:rPr lang="en-US" dirty="0"/>
              <a:t> </a:t>
            </a:r>
            <a:r>
              <a:rPr lang="en-US" dirty="0" err="1"/>
              <a:t>ws</a:t>
            </a:r>
            <a:r>
              <a:rPr lang="en-US" dirty="0"/>
              <a:t>="</a:t>
            </a:r>
            <a:r>
              <a:rPr lang="en-US" dirty="0" err="1"/>
              <a:t>fr</a:t>
            </a:r>
            <a:r>
              <a:rPr lang="en-US" dirty="0"/>
              <a:t>"&gt;</a:t>
            </a:r>
            <a:r>
              <a:rPr lang="en-US" dirty="0" err="1">
                <a:highlight>
                  <a:srgbClr val="00FF00"/>
                </a:highlight>
              </a:rPr>
              <a:t>maison</a:t>
            </a:r>
            <a:r>
              <a:rPr lang="en-US" dirty="0"/>
              <a:t>&lt;/</a:t>
            </a:r>
            <a:r>
              <a:rPr lang="en-US" dirty="0" err="1"/>
              <a:t>AUni</a:t>
            </a:r>
            <a:r>
              <a:rPr lang="en-US" dirty="0"/>
              <a:t>&gt;</a:t>
            </a:r>
            <a:br>
              <a:rPr lang="en-US" dirty="0"/>
            </a:br>
            <a:r>
              <a:rPr lang="en-US" dirty="0"/>
              <a:t>&lt;/Form&gt;</a:t>
            </a:r>
            <a:br>
              <a:rPr lang="en-US" dirty="0"/>
            </a:br>
            <a:r>
              <a:rPr lang="en-US" dirty="0"/>
              <a:t>&lt;</a:t>
            </a:r>
            <a:r>
              <a:rPr lang="en-US" dirty="0" err="1"/>
              <a:t>MorphType</a:t>
            </a:r>
            <a:r>
              <a:rPr lang="en-US" dirty="0"/>
              <a:t>&gt;</a:t>
            </a:r>
            <a:br>
              <a:rPr lang="en-US" dirty="0"/>
            </a:br>
            <a:r>
              <a:rPr lang="en-US" dirty="0"/>
              <a:t>&lt;</a:t>
            </a:r>
            <a:r>
              <a:rPr lang="en-US" dirty="0" err="1"/>
              <a:t>objsur</a:t>
            </a:r>
            <a:r>
              <a:rPr lang="en-US" dirty="0"/>
              <a:t> guid="d7f713e8-e8cf-11d3-9764-00c04f186933" t="r" /&gt;		{stem}</a:t>
            </a:r>
            <a:br>
              <a:rPr lang="en-US" dirty="0"/>
            </a:br>
            <a:r>
              <a:rPr lang="en-US" dirty="0"/>
              <a:t>&lt;/</a:t>
            </a:r>
            <a:r>
              <a:rPr lang="en-US" dirty="0" err="1"/>
              <a:t>MorphType</a:t>
            </a:r>
            <a:r>
              <a:rPr lang="en-US" dirty="0"/>
              <a:t>&gt;</a:t>
            </a:r>
            <a:br>
              <a:rPr lang="en-US" dirty="0"/>
            </a:br>
            <a:r>
              <a:rPr lang="en-US" dirty="0"/>
              <a:t>&lt;/rt&gt;</a:t>
            </a:r>
          </a:p>
          <a:p>
            <a:r>
              <a:rPr lang="en-US" dirty="0"/>
              <a:t>&lt;rt class="</a:t>
            </a:r>
            <a:r>
              <a:rPr lang="en-US" dirty="0" err="1"/>
              <a:t>CmTranslation</a:t>
            </a:r>
            <a:r>
              <a:rPr lang="en-US" dirty="0"/>
              <a:t>" guid="f046a4dc-ae1f-4fbe-89cc-41e8d2ca31f6" </a:t>
            </a:r>
            <a:r>
              <a:rPr lang="en-US" dirty="0" err="1"/>
              <a:t>ownerguid</a:t>
            </a:r>
            <a:r>
              <a:rPr lang="en-US" dirty="0"/>
              <a:t>="a389fd40-0cc0-440a-b25f-14f54df2c968"&gt;</a:t>
            </a:r>
            <a:br>
              <a:rPr lang="en-US" dirty="0"/>
            </a:br>
            <a:r>
              <a:rPr lang="en-US" dirty="0"/>
              <a:t>&lt;Translation&gt;</a:t>
            </a:r>
            <a:br>
              <a:rPr lang="en-US" dirty="0"/>
            </a:br>
            <a:r>
              <a:rPr lang="en-US" dirty="0"/>
              <a:t>&lt;</a:t>
            </a:r>
            <a:r>
              <a:rPr lang="en-US" dirty="0" err="1"/>
              <a:t>AStr</a:t>
            </a:r>
            <a:r>
              <a:rPr lang="en-US" dirty="0"/>
              <a:t> </a:t>
            </a:r>
            <a:r>
              <a:rPr lang="en-US" dirty="0" err="1"/>
              <a:t>ws</a:t>
            </a:r>
            <a:r>
              <a:rPr lang="en-US" dirty="0"/>
              <a:t>="</a:t>
            </a:r>
            <a:r>
              <a:rPr lang="en-US" dirty="0" err="1"/>
              <a:t>en</a:t>
            </a:r>
            <a:r>
              <a:rPr lang="en-US" dirty="0"/>
              <a:t>"&gt;</a:t>
            </a:r>
            <a:br>
              <a:rPr lang="en-US" dirty="0"/>
            </a:br>
            <a:r>
              <a:rPr lang="en-US" dirty="0"/>
              <a:t>&lt;Run </a:t>
            </a:r>
            <a:r>
              <a:rPr lang="en-US" dirty="0" err="1"/>
              <a:t>ws</a:t>
            </a:r>
            <a:r>
              <a:rPr lang="en-US" dirty="0"/>
              <a:t>="</a:t>
            </a:r>
            <a:r>
              <a:rPr lang="en-US" dirty="0" err="1"/>
              <a:t>en</a:t>
            </a:r>
            <a:r>
              <a:rPr lang="en-US" dirty="0"/>
              <a:t>"&gt;</a:t>
            </a:r>
            <a:r>
              <a:rPr lang="en-US" dirty="0">
                <a:highlight>
                  <a:srgbClr val="00FF00"/>
                </a:highlight>
              </a:rPr>
              <a:t>He left home when he was 21</a:t>
            </a:r>
            <a:r>
              <a:rPr lang="en-US" dirty="0"/>
              <a:t>.&lt;/Run&gt;</a:t>
            </a:r>
            <a:br>
              <a:rPr lang="en-US" dirty="0"/>
            </a:br>
            <a:r>
              <a:rPr lang="en-US" dirty="0"/>
              <a:t>&lt;/</a:t>
            </a:r>
            <a:r>
              <a:rPr lang="en-US" dirty="0" err="1"/>
              <a:t>AStr</a:t>
            </a:r>
            <a:r>
              <a:rPr lang="en-US" dirty="0"/>
              <a:t>&gt;</a:t>
            </a:r>
            <a:br>
              <a:rPr lang="en-US" dirty="0"/>
            </a:br>
            <a:r>
              <a:rPr lang="en-US" dirty="0"/>
              <a:t>&lt;/Translation&gt;</a:t>
            </a:r>
            <a:br>
              <a:rPr lang="en-US" dirty="0"/>
            </a:br>
            <a:r>
              <a:rPr lang="en-US" dirty="0"/>
              <a:t>&lt;Type&gt;</a:t>
            </a:r>
            <a:br>
              <a:rPr lang="en-US" dirty="0"/>
            </a:br>
            <a:r>
              <a:rPr lang="en-US" dirty="0"/>
              <a:t>&lt;</a:t>
            </a:r>
            <a:r>
              <a:rPr lang="en-US" dirty="0" err="1"/>
              <a:t>objsur</a:t>
            </a:r>
            <a:r>
              <a:rPr lang="en-US" dirty="0"/>
              <a:t> guid="d7f7164a-e8cf-11d3-9764-00c04f186933" t="r" /&gt;		{ Free translation}</a:t>
            </a:r>
            <a:br>
              <a:rPr lang="en-US" dirty="0"/>
            </a:br>
            <a:r>
              <a:rPr lang="en-US" dirty="0"/>
              <a:t>&lt;/Type&gt;</a:t>
            </a:r>
            <a:br>
              <a:rPr lang="en-US" dirty="0"/>
            </a:br>
            <a:r>
              <a:rPr lang="en-US" dirty="0"/>
              <a:t>&lt;/rt&gt;</a:t>
            </a:r>
          </a:p>
          <a:p>
            <a:endParaRPr lang="en-US" dirty="0"/>
          </a:p>
        </p:txBody>
      </p:sp>
    </p:spTree>
    <p:extLst>
      <p:ext uri="{BB962C8B-B14F-4D97-AF65-F5344CB8AC3E}">
        <p14:creationId xmlns:p14="http://schemas.microsoft.com/office/powerpoint/2010/main" val="41584168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Send/Receive Data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The next slide shows the same sample in a .</a:t>
            </a:r>
            <a:r>
              <a:rPr lang="en-US" dirty="0" err="1"/>
              <a:t>lexdb</a:t>
            </a:r>
            <a:r>
              <a:rPr lang="en-US" dirty="0"/>
              <a:t> file used in Send/Receive. In this format, all of the owned objects for the entry and sense are included inside the owned objects rather than scattered around in fwdata, thus </a:t>
            </a:r>
            <a:r>
              <a:rPr lang="en-US" dirty="0" err="1"/>
              <a:t>ownerguid</a:t>
            </a:r>
            <a:r>
              <a:rPr lang="en-US" dirty="0"/>
              <a:t> is not needed. It’s also indented to see the hierarchy. Deleting an entry is much easier because you just need to delete everything between &lt;</a:t>
            </a:r>
            <a:r>
              <a:rPr lang="en-US" dirty="0" err="1"/>
              <a:t>LexEntry</a:t>
            </a:r>
            <a:r>
              <a:rPr lang="en-US" dirty="0"/>
              <a:t> and &lt;/</a:t>
            </a:r>
            <a:r>
              <a:rPr lang="en-US" dirty="0" err="1"/>
              <a:t>LexEntry</a:t>
            </a:r>
            <a:r>
              <a:rPr lang="en-US" dirty="0"/>
              <a:t>&gt;.</a:t>
            </a:r>
          </a:p>
          <a:p>
            <a:endParaRPr lang="en-US" dirty="0"/>
          </a:p>
        </p:txBody>
      </p:sp>
    </p:spTree>
    <p:extLst>
      <p:ext uri="{BB962C8B-B14F-4D97-AF65-F5344CB8AC3E}">
        <p14:creationId xmlns:p14="http://schemas.microsoft.com/office/powerpoint/2010/main" val="42148551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Send/Receive Data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25000" lnSpcReduction="20000"/>
          </a:bodyPr>
          <a:lstStyle/>
          <a:p>
            <a:r>
              <a:rPr lang="en-US" dirty="0"/>
              <a:t>&lt;</a:t>
            </a:r>
            <a:r>
              <a:rPr lang="en-US" dirty="0" err="1"/>
              <a:t>LexEntry</a:t>
            </a:r>
            <a:br>
              <a:rPr lang="en-US" dirty="0"/>
            </a:br>
            <a:r>
              <a:rPr lang="en-US" dirty="0"/>
              <a:t>      guid="acc2031e-4ee4-4532-b151-a0b3eae8ece3"&gt;</a:t>
            </a:r>
            <a:br>
              <a:rPr lang="en-US" dirty="0"/>
            </a:br>
            <a:r>
              <a:rPr lang="en-US" dirty="0"/>
              <a:t>      &lt;</a:t>
            </a:r>
            <a:r>
              <a:rPr lang="en-US" dirty="0" err="1"/>
              <a:t>LexemeForm</a:t>
            </a:r>
            <a:r>
              <a:rPr lang="en-US" dirty="0"/>
              <a:t>&gt;</a:t>
            </a:r>
            <a:br>
              <a:rPr lang="en-US" dirty="0"/>
            </a:br>
            <a:r>
              <a:rPr lang="en-US" dirty="0"/>
              <a:t>         &lt;</a:t>
            </a:r>
            <a:r>
              <a:rPr lang="en-US" dirty="0" err="1"/>
              <a:t>MoStemAllomorph</a:t>
            </a:r>
            <a:br>
              <a:rPr lang="en-US" dirty="0"/>
            </a:br>
            <a:r>
              <a:rPr lang="en-US" dirty="0"/>
              <a:t>            guid="dd9a2fcf-28b9-451b-aad9-5ff92837549e"&gt;</a:t>
            </a:r>
            <a:br>
              <a:rPr lang="en-US" dirty="0"/>
            </a:br>
            <a:r>
              <a:rPr lang="en-US" dirty="0"/>
              <a:t>            &lt;Form&gt;</a:t>
            </a:r>
            <a:br>
              <a:rPr lang="en-US" dirty="0"/>
            </a:br>
            <a:r>
              <a:rPr lang="en-US" dirty="0"/>
              <a:t>               &lt;</a:t>
            </a:r>
            <a:r>
              <a:rPr lang="en-US" dirty="0" err="1"/>
              <a:t>AUni</a:t>
            </a:r>
            <a:br>
              <a:rPr lang="en-US" dirty="0"/>
            </a:br>
            <a:r>
              <a:rPr lang="en-US" dirty="0"/>
              <a:t>                  </a:t>
            </a:r>
            <a:r>
              <a:rPr lang="en-US" dirty="0" err="1"/>
              <a:t>ws</a:t>
            </a:r>
            <a:r>
              <a:rPr lang="en-US" dirty="0"/>
              <a:t>="</a:t>
            </a:r>
            <a:r>
              <a:rPr lang="en-US" dirty="0" err="1"/>
              <a:t>fr</a:t>
            </a:r>
            <a:r>
              <a:rPr lang="en-US" dirty="0"/>
              <a:t>"&gt;</a:t>
            </a:r>
            <a:r>
              <a:rPr lang="en-US" dirty="0" err="1">
                <a:highlight>
                  <a:srgbClr val="00FF00"/>
                </a:highlight>
              </a:rPr>
              <a:t>maison</a:t>
            </a:r>
            <a:r>
              <a:rPr lang="en-US" dirty="0"/>
              <a:t>&lt;/</a:t>
            </a:r>
            <a:r>
              <a:rPr lang="en-US" dirty="0" err="1"/>
              <a:t>AUni</a:t>
            </a:r>
            <a:r>
              <a:rPr lang="en-US" dirty="0"/>
              <a:t>&gt;</a:t>
            </a:r>
            <a:br>
              <a:rPr lang="en-US" dirty="0"/>
            </a:br>
            <a:r>
              <a:rPr lang="en-US" dirty="0"/>
              <a:t>            &lt;/Form&gt;</a:t>
            </a:r>
            <a:br>
              <a:rPr lang="en-US" dirty="0"/>
            </a:br>
            <a:r>
              <a:rPr lang="en-US" dirty="0"/>
              <a:t>            &lt;</a:t>
            </a:r>
            <a:r>
              <a:rPr lang="en-US" dirty="0" err="1"/>
              <a:t>MorphType</a:t>
            </a:r>
            <a:r>
              <a:rPr lang="en-US" dirty="0"/>
              <a:t>&gt;</a:t>
            </a:r>
            <a:br>
              <a:rPr lang="en-US" dirty="0"/>
            </a:br>
            <a:r>
              <a:rPr lang="en-US" dirty="0"/>
              <a:t>               &lt;</a:t>
            </a:r>
            <a:r>
              <a:rPr lang="en-US" dirty="0" err="1"/>
              <a:t>objsur</a:t>
            </a:r>
            <a:br>
              <a:rPr lang="en-US" dirty="0"/>
            </a:br>
            <a:r>
              <a:rPr lang="en-US" dirty="0"/>
              <a:t>                  guid="d7f713e8-e8cf-11d3-9764-00c04f186933"		{stem}</a:t>
            </a:r>
            <a:br>
              <a:rPr lang="en-US" dirty="0"/>
            </a:br>
            <a:r>
              <a:rPr lang="en-US" dirty="0"/>
              <a:t>                  t="r" /&gt;</a:t>
            </a:r>
            <a:br>
              <a:rPr lang="en-US" dirty="0"/>
            </a:br>
            <a:r>
              <a:rPr lang="en-US" dirty="0"/>
              <a:t>            &lt;/</a:t>
            </a:r>
            <a:r>
              <a:rPr lang="en-US" dirty="0" err="1"/>
              <a:t>MorphType</a:t>
            </a:r>
            <a:r>
              <a:rPr lang="en-US" dirty="0"/>
              <a:t>&gt;</a:t>
            </a:r>
            <a:br>
              <a:rPr lang="en-US" dirty="0"/>
            </a:br>
            <a:r>
              <a:rPr lang="en-US" dirty="0"/>
              <a:t>         &lt;/</a:t>
            </a:r>
            <a:r>
              <a:rPr lang="en-US" dirty="0" err="1"/>
              <a:t>MoStemAllomorph</a:t>
            </a:r>
            <a:r>
              <a:rPr lang="en-US" dirty="0"/>
              <a:t>&gt;</a:t>
            </a:r>
            <a:br>
              <a:rPr lang="en-US" dirty="0"/>
            </a:br>
            <a:r>
              <a:rPr lang="en-US" dirty="0"/>
              <a:t>      &lt;/</a:t>
            </a:r>
            <a:r>
              <a:rPr lang="en-US" dirty="0" err="1"/>
              <a:t>LexemeForm</a:t>
            </a:r>
            <a:r>
              <a:rPr lang="en-US" dirty="0"/>
              <a:t>&gt;</a:t>
            </a:r>
            <a:br>
              <a:rPr lang="en-US" dirty="0"/>
            </a:br>
            <a:r>
              <a:rPr lang="en-US" dirty="0"/>
              <a:t>      &lt;</a:t>
            </a:r>
            <a:r>
              <a:rPr lang="en-US" dirty="0" err="1"/>
              <a:t>MorphoSyntaxAnalyses</a:t>
            </a:r>
            <a:r>
              <a:rPr lang="en-US" dirty="0"/>
              <a:t>&gt;</a:t>
            </a:r>
            <a:br>
              <a:rPr lang="en-US" dirty="0"/>
            </a:br>
            <a:r>
              <a:rPr lang="en-US" dirty="0"/>
              <a:t>         &lt;</a:t>
            </a:r>
            <a:r>
              <a:rPr lang="en-US" dirty="0" err="1"/>
              <a:t>MoStemMsa</a:t>
            </a:r>
            <a:br>
              <a:rPr lang="en-US" dirty="0"/>
            </a:br>
            <a:r>
              <a:rPr lang="en-US" dirty="0"/>
              <a:t>            guid="3619197f-1bb1-4fc3-93bb-207561a14137"&gt;</a:t>
            </a:r>
            <a:br>
              <a:rPr lang="en-US" dirty="0"/>
            </a:br>
            <a:r>
              <a:rPr lang="en-US" dirty="0"/>
              <a:t>            &lt;</a:t>
            </a:r>
            <a:r>
              <a:rPr lang="en-US" dirty="0" err="1"/>
              <a:t>PartOfSpeech</a:t>
            </a:r>
            <a:r>
              <a:rPr lang="en-US" dirty="0"/>
              <a:t>&gt;</a:t>
            </a:r>
            <a:br>
              <a:rPr lang="en-US" dirty="0"/>
            </a:br>
            <a:r>
              <a:rPr lang="en-US" dirty="0"/>
              <a:t>               &lt;</a:t>
            </a:r>
            <a:r>
              <a:rPr lang="en-US" dirty="0" err="1"/>
              <a:t>objsur</a:t>
            </a:r>
            <a:br>
              <a:rPr lang="en-US" dirty="0"/>
            </a:br>
            <a:r>
              <a:rPr lang="en-US" dirty="0"/>
              <a:t>                  guid="a8e41fd3-e343-4c7c-aa05-01ea3dd5cfb5"		{</a:t>
            </a:r>
            <a:r>
              <a:rPr lang="en-US" dirty="0">
                <a:highlight>
                  <a:srgbClr val="00FF00"/>
                </a:highlight>
              </a:rPr>
              <a:t>n</a:t>
            </a:r>
            <a:r>
              <a:rPr lang="en-US" dirty="0"/>
              <a:t>}</a:t>
            </a:r>
            <a:br>
              <a:rPr lang="en-US" dirty="0"/>
            </a:br>
            <a:r>
              <a:rPr lang="en-US" dirty="0"/>
              <a:t>                  t="r" /&gt;</a:t>
            </a:r>
            <a:br>
              <a:rPr lang="en-US" dirty="0"/>
            </a:br>
            <a:r>
              <a:rPr lang="en-US" dirty="0"/>
              <a:t>            &lt;/</a:t>
            </a:r>
            <a:r>
              <a:rPr lang="en-US" dirty="0" err="1"/>
              <a:t>PartOfSpeech</a:t>
            </a:r>
            <a:r>
              <a:rPr lang="en-US" dirty="0"/>
              <a:t>&gt;</a:t>
            </a:r>
            <a:br>
              <a:rPr lang="en-US" dirty="0"/>
            </a:br>
            <a:r>
              <a:rPr lang="en-US" dirty="0"/>
              <a:t>         &lt;/</a:t>
            </a:r>
            <a:r>
              <a:rPr lang="en-US" dirty="0" err="1"/>
              <a:t>MoStemMsa</a:t>
            </a:r>
            <a:r>
              <a:rPr lang="en-US" dirty="0"/>
              <a:t>&gt;</a:t>
            </a:r>
            <a:br>
              <a:rPr lang="en-US" dirty="0"/>
            </a:br>
            <a:r>
              <a:rPr lang="en-US" dirty="0"/>
              <a:t>      &lt;/</a:t>
            </a:r>
            <a:r>
              <a:rPr lang="en-US" dirty="0" err="1"/>
              <a:t>MorphoSyntaxAnalyses</a:t>
            </a:r>
            <a:r>
              <a:rPr lang="en-US" dirty="0"/>
              <a:t>&gt;</a:t>
            </a:r>
            <a:br>
              <a:rPr lang="en-US" dirty="0"/>
            </a:br>
            <a:r>
              <a:rPr lang="en-US" dirty="0"/>
              <a:t>      &lt;Senses&gt;</a:t>
            </a:r>
            <a:br>
              <a:rPr lang="en-US" dirty="0"/>
            </a:br>
            <a:r>
              <a:rPr lang="en-US" dirty="0"/>
              <a:t>         &lt;</a:t>
            </a:r>
            <a:r>
              <a:rPr lang="en-US" dirty="0" err="1"/>
              <a:t>ownseq</a:t>
            </a:r>
            <a:br>
              <a:rPr lang="en-US" dirty="0"/>
            </a:br>
            <a:r>
              <a:rPr lang="en-US" dirty="0"/>
              <a:t>            class="</a:t>
            </a:r>
            <a:r>
              <a:rPr lang="en-US" dirty="0" err="1"/>
              <a:t>LexSense</a:t>
            </a:r>
            <a:r>
              <a:rPr lang="en-US" dirty="0"/>
              <a:t>"</a:t>
            </a:r>
            <a:br>
              <a:rPr lang="en-US" dirty="0"/>
            </a:br>
            <a:r>
              <a:rPr lang="en-US" dirty="0"/>
              <a:t>            guid="5721a00b-2e17-451b-a004-ba02dfb0a761"&gt;</a:t>
            </a:r>
            <a:br>
              <a:rPr lang="en-US" dirty="0"/>
            </a:br>
            <a:r>
              <a:rPr lang="en-US" dirty="0"/>
              <a:t>            &lt;Definition&gt;</a:t>
            </a:r>
            <a:br>
              <a:rPr lang="en-US" dirty="0"/>
            </a:br>
            <a:r>
              <a:rPr lang="en-US" dirty="0"/>
              <a:t>               &lt;</a:t>
            </a:r>
            <a:r>
              <a:rPr lang="en-US" dirty="0" err="1"/>
              <a:t>AStr</a:t>
            </a:r>
            <a:br>
              <a:rPr lang="en-US" dirty="0"/>
            </a:br>
            <a:r>
              <a:rPr lang="en-US" dirty="0"/>
              <a:t>                  </a:t>
            </a:r>
            <a:r>
              <a:rPr lang="en-US" dirty="0" err="1"/>
              <a:t>ws</a:t>
            </a:r>
            <a:r>
              <a:rPr lang="en-US" dirty="0"/>
              <a:t>="</a:t>
            </a:r>
            <a:r>
              <a:rPr lang="en-US" dirty="0" err="1"/>
              <a:t>en</a:t>
            </a:r>
            <a:r>
              <a:rPr lang="en-US" dirty="0"/>
              <a:t>"&gt;</a:t>
            </a:r>
            <a:br>
              <a:rPr lang="en-US" dirty="0"/>
            </a:br>
            <a:r>
              <a:rPr lang="en-US" dirty="0"/>
              <a:t>                  &lt;Run</a:t>
            </a:r>
            <a:br>
              <a:rPr lang="en-US" dirty="0"/>
            </a:br>
            <a:r>
              <a:rPr lang="en-US" dirty="0"/>
              <a:t>                     </a:t>
            </a:r>
            <a:r>
              <a:rPr lang="en-US" dirty="0" err="1"/>
              <a:t>ws</a:t>
            </a:r>
            <a:r>
              <a:rPr lang="en-US" dirty="0"/>
              <a:t>="</a:t>
            </a:r>
            <a:r>
              <a:rPr lang="en-US" dirty="0" err="1"/>
              <a:t>en</a:t>
            </a:r>
            <a:r>
              <a:rPr lang="en-US" dirty="0"/>
              <a:t>"&gt;</a:t>
            </a:r>
            <a:r>
              <a:rPr lang="en-US" dirty="0">
                <a:highlight>
                  <a:srgbClr val="00FF00"/>
                </a:highlight>
              </a:rPr>
              <a:t>A house or dwelling.</a:t>
            </a:r>
            <a:r>
              <a:rPr lang="en-US" dirty="0"/>
              <a:t>&lt;/Run&gt;</a:t>
            </a:r>
            <a:br>
              <a:rPr lang="en-US" dirty="0"/>
            </a:br>
            <a:r>
              <a:rPr lang="en-US" dirty="0"/>
              <a:t>               &lt;/</a:t>
            </a:r>
            <a:r>
              <a:rPr lang="en-US" dirty="0" err="1"/>
              <a:t>AStr</a:t>
            </a:r>
            <a:r>
              <a:rPr lang="en-US" dirty="0"/>
              <a:t>&gt;</a:t>
            </a:r>
            <a:br>
              <a:rPr lang="en-US" dirty="0"/>
            </a:br>
            <a:r>
              <a:rPr lang="en-US" dirty="0"/>
              <a:t>            &lt;/Definition&gt;</a:t>
            </a:r>
            <a:br>
              <a:rPr lang="en-US" dirty="0"/>
            </a:br>
            <a:r>
              <a:rPr lang="en-US" dirty="0"/>
              <a:t>            &lt;Examples&gt;</a:t>
            </a:r>
            <a:br>
              <a:rPr lang="en-US" dirty="0"/>
            </a:br>
            <a:r>
              <a:rPr lang="en-US" dirty="0"/>
              <a:t>               &lt;</a:t>
            </a:r>
            <a:r>
              <a:rPr lang="en-US" dirty="0" err="1"/>
              <a:t>ownseq</a:t>
            </a:r>
            <a:br>
              <a:rPr lang="en-US" dirty="0"/>
            </a:br>
            <a:r>
              <a:rPr lang="en-US" dirty="0"/>
              <a:t>                  class="</a:t>
            </a:r>
            <a:r>
              <a:rPr lang="en-US" dirty="0" err="1"/>
              <a:t>LexExampleSentence</a:t>
            </a:r>
            <a:r>
              <a:rPr lang="en-US" dirty="0"/>
              <a:t>"</a:t>
            </a:r>
            <a:br>
              <a:rPr lang="en-US" dirty="0"/>
            </a:br>
            <a:r>
              <a:rPr lang="en-US" dirty="0"/>
              <a:t>                  guid="a389fd40-0cc0-440a-b25f-14f54df2c968"&gt;</a:t>
            </a:r>
            <a:br>
              <a:rPr lang="en-US" dirty="0"/>
            </a:br>
            <a:r>
              <a:rPr lang="en-US" dirty="0"/>
              <a:t>                  &lt;Example&gt;</a:t>
            </a:r>
            <a:br>
              <a:rPr lang="en-US" dirty="0"/>
            </a:br>
            <a:r>
              <a:rPr lang="en-US" dirty="0"/>
              <a:t>                     &lt;</a:t>
            </a:r>
            <a:r>
              <a:rPr lang="en-US" dirty="0" err="1"/>
              <a:t>AStr</a:t>
            </a:r>
            <a:br>
              <a:rPr lang="en-US" dirty="0"/>
            </a:br>
            <a:r>
              <a:rPr lang="en-US" dirty="0"/>
              <a:t>                        </a:t>
            </a:r>
            <a:r>
              <a:rPr lang="en-US" dirty="0" err="1"/>
              <a:t>ws</a:t>
            </a:r>
            <a:r>
              <a:rPr lang="en-US" dirty="0"/>
              <a:t>="</a:t>
            </a:r>
            <a:r>
              <a:rPr lang="en-US" dirty="0" err="1"/>
              <a:t>fr</a:t>
            </a:r>
            <a:r>
              <a:rPr lang="en-US" dirty="0"/>
              <a:t>"&gt;</a:t>
            </a:r>
            <a:br>
              <a:rPr lang="en-US" dirty="0"/>
            </a:br>
            <a:r>
              <a:rPr lang="en-US" dirty="0"/>
              <a:t>                        &lt;Run</a:t>
            </a:r>
            <a:br>
              <a:rPr lang="en-US" dirty="0"/>
            </a:br>
            <a:r>
              <a:rPr lang="en-US" dirty="0"/>
              <a:t>                           </a:t>
            </a:r>
            <a:r>
              <a:rPr lang="en-US" dirty="0" err="1"/>
              <a:t>ws</a:t>
            </a:r>
            <a:r>
              <a:rPr lang="en-US" dirty="0"/>
              <a:t>="</a:t>
            </a:r>
            <a:r>
              <a:rPr lang="en-US" dirty="0" err="1"/>
              <a:t>fr</a:t>
            </a:r>
            <a:r>
              <a:rPr lang="en-US" dirty="0"/>
              <a:t>"&gt;</a:t>
            </a:r>
            <a:r>
              <a:rPr lang="en-US" dirty="0">
                <a:highlight>
                  <a:srgbClr val="00FF00"/>
                </a:highlight>
              </a:rPr>
              <a:t>Il a </a:t>
            </a:r>
            <a:r>
              <a:rPr lang="en-US" dirty="0" err="1">
                <a:highlight>
                  <a:srgbClr val="00FF00"/>
                </a:highlight>
              </a:rPr>
              <a:t>quitté</a:t>
            </a:r>
            <a:r>
              <a:rPr lang="en-US" dirty="0">
                <a:highlight>
                  <a:srgbClr val="00FF00"/>
                </a:highlight>
              </a:rPr>
              <a:t> la </a:t>
            </a:r>
            <a:r>
              <a:rPr lang="en-US" dirty="0" err="1">
                <a:highlight>
                  <a:srgbClr val="00FF00"/>
                </a:highlight>
              </a:rPr>
              <a:t>maison</a:t>
            </a:r>
            <a:r>
              <a:rPr lang="en-US" dirty="0">
                <a:highlight>
                  <a:srgbClr val="00FF00"/>
                </a:highlight>
              </a:rPr>
              <a:t> à 21 ans.</a:t>
            </a:r>
            <a:r>
              <a:rPr lang="en-US" dirty="0"/>
              <a:t>&lt;/Run&gt;</a:t>
            </a:r>
            <a:br>
              <a:rPr lang="en-US" dirty="0"/>
            </a:br>
            <a:r>
              <a:rPr lang="en-US" dirty="0"/>
              <a:t>                     &lt;/</a:t>
            </a:r>
            <a:r>
              <a:rPr lang="en-US" dirty="0" err="1"/>
              <a:t>AStr</a:t>
            </a:r>
            <a:r>
              <a:rPr lang="en-US" dirty="0"/>
              <a:t>&gt;</a:t>
            </a:r>
            <a:br>
              <a:rPr lang="en-US" dirty="0"/>
            </a:br>
            <a:r>
              <a:rPr lang="en-US" dirty="0"/>
              <a:t>                  &lt;/Example&gt;</a:t>
            </a:r>
            <a:br>
              <a:rPr lang="en-US" dirty="0"/>
            </a:br>
            <a:r>
              <a:rPr lang="en-US" dirty="0"/>
              <a:t>                  &lt;Translations&gt;</a:t>
            </a:r>
            <a:br>
              <a:rPr lang="en-US" dirty="0"/>
            </a:br>
            <a:r>
              <a:rPr lang="en-US" dirty="0"/>
              <a:t>                     &lt;</a:t>
            </a:r>
            <a:r>
              <a:rPr lang="en-US" dirty="0" err="1"/>
              <a:t>CmTranslation</a:t>
            </a:r>
            <a:br>
              <a:rPr lang="en-US" dirty="0"/>
            </a:br>
            <a:r>
              <a:rPr lang="en-US" dirty="0"/>
              <a:t>                        guid="f046a4dc-ae1f-4fbe-89cc-41e8d2ca31f6"&gt;</a:t>
            </a:r>
            <a:br>
              <a:rPr lang="en-US" dirty="0"/>
            </a:br>
            <a:r>
              <a:rPr lang="en-US" dirty="0"/>
              <a:t>                        &lt;Translation&gt;</a:t>
            </a:r>
            <a:br>
              <a:rPr lang="en-US" dirty="0"/>
            </a:br>
            <a:r>
              <a:rPr lang="en-US" dirty="0"/>
              <a:t>                           &lt;</a:t>
            </a:r>
            <a:r>
              <a:rPr lang="en-US" dirty="0" err="1"/>
              <a:t>AStr</a:t>
            </a:r>
            <a:br>
              <a:rPr lang="en-US" dirty="0"/>
            </a:br>
            <a:r>
              <a:rPr lang="en-US" dirty="0"/>
              <a:t>                              </a:t>
            </a:r>
            <a:r>
              <a:rPr lang="en-US" dirty="0" err="1"/>
              <a:t>ws</a:t>
            </a:r>
            <a:r>
              <a:rPr lang="en-US" dirty="0"/>
              <a:t>="</a:t>
            </a:r>
            <a:r>
              <a:rPr lang="en-US" dirty="0" err="1"/>
              <a:t>en</a:t>
            </a:r>
            <a:r>
              <a:rPr lang="en-US" dirty="0"/>
              <a:t>"&gt;</a:t>
            </a:r>
            <a:br>
              <a:rPr lang="en-US" dirty="0"/>
            </a:br>
            <a:r>
              <a:rPr lang="en-US" dirty="0"/>
              <a:t>                              &lt;Run</a:t>
            </a:r>
            <a:br>
              <a:rPr lang="en-US" dirty="0"/>
            </a:br>
            <a:r>
              <a:rPr lang="en-US" dirty="0"/>
              <a:t>                                 </a:t>
            </a:r>
            <a:r>
              <a:rPr lang="en-US" dirty="0" err="1"/>
              <a:t>ws</a:t>
            </a:r>
            <a:r>
              <a:rPr lang="en-US" dirty="0"/>
              <a:t>="</a:t>
            </a:r>
            <a:r>
              <a:rPr lang="en-US" dirty="0" err="1"/>
              <a:t>en</a:t>
            </a:r>
            <a:r>
              <a:rPr lang="en-US" dirty="0"/>
              <a:t>"&gt;</a:t>
            </a:r>
            <a:r>
              <a:rPr lang="en-US" dirty="0">
                <a:highlight>
                  <a:srgbClr val="00FF00"/>
                </a:highlight>
              </a:rPr>
              <a:t>He left home when he was 21.</a:t>
            </a:r>
            <a:r>
              <a:rPr lang="en-US" dirty="0"/>
              <a:t>&lt;/Run&gt;</a:t>
            </a:r>
            <a:br>
              <a:rPr lang="en-US" dirty="0"/>
            </a:br>
            <a:r>
              <a:rPr lang="en-US" dirty="0"/>
              <a:t>                           &lt;/</a:t>
            </a:r>
            <a:r>
              <a:rPr lang="en-US" dirty="0" err="1"/>
              <a:t>AStr</a:t>
            </a:r>
            <a:r>
              <a:rPr lang="en-US" dirty="0"/>
              <a:t>&gt;</a:t>
            </a:r>
            <a:br>
              <a:rPr lang="en-US" dirty="0"/>
            </a:br>
            <a:r>
              <a:rPr lang="en-US" dirty="0"/>
              <a:t>                        &lt;/Translation&gt;</a:t>
            </a:r>
            <a:br>
              <a:rPr lang="en-US" dirty="0"/>
            </a:br>
            <a:r>
              <a:rPr lang="en-US" dirty="0"/>
              <a:t>                        &lt;Type&gt;</a:t>
            </a:r>
            <a:br>
              <a:rPr lang="en-US" dirty="0"/>
            </a:br>
            <a:r>
              <a:rPr lang="en-US" dirty="0"/>
              <a:t>                           &lt;</a:t>
            </a:r>
            <a:r>
              <a:rPr lang="en-US" dirty="0" err="1"/>
              <a:t>objsur</a:t>
            </a:r>
            <a:br>
              <a:rPr lang="en-US" dirty="0"/>
            </a:br>
            <a:r>
              <a:rPr lang="en-US" dirty="0"/>
              <a:t>                              guid="d7f7164a-e8cf-11d3-9764-00c04f186933"		{Free translation}</a:t>
            </a:r>
            <a:br>
              <a:rPr lang="en-US" dirty="0"/>
            </a:br>
            <a:r>
              <a:rPr lang="en-US" dirty="0"/>
              <a:t>                              t="r" /&gt;</a:t>
            </a:r>
            <a:br>
              <a:rPr lang="en-US" dirty="0"/>
            </a:br>
            <a:r>
              <a:rPr lang="en-US" dirty="0"/>
              <a:t>                        &lt;/Type&gt;</a:t>
            </a:r>
            <a:br>
              <a:rPr lang="en-US" dirty="0"/>
            </a:br>
            <a:r>
              <a:rPr lang="en-US" dirty="0"/>
              <a:t>                     &lt;/</a:t>
            </a:r>
            <a:r>
              <a:rPr lang="en-US" dirty="0" err="1"/>
              <a:t>CmTranslation</a:t>
            </a:r>
            <a:r>
              <a:rPr lang="en-US" dirty="0"/>
              <a:t>&gt;</a:t>
            </a:r>
            <a:br>
              <a:rPr lang="en-US" dirty="0"/>
            </a:br>
            <a:r>
              <a:rPr lang="en-US" dirty="0"/>
              <a:t>                  &lt;/Translations&gt;</a:t>
            </a:r>
            <a:br>
              <a:rPr lang="en-US" dirty="0"/>
            </a:br>
            <a:r>
              <a:rPr lang="en-US" dirty="0"/>
              <a:t>               &lt;/</a:t>
            </a:r>
            <a:r>
              <a:rPr lang="en-US" dirty="0" err="1"/>
              <a:t>ownseq</a:t>
            </a:r>
            <a:r>
              <a:rPr lang="en-US" dirty="0"/>
              <a:t>&gt;</a:t>
            </a:r>
            <a:br>
              <a:rPr lang="en-US" dirty="0"/>
            </a:br>
            <a:r>
              <a:rPr lang="en-US" dirty="0"/>
              <a:t>            &lt;/Examples&gt;</a:t>
            </a:r>
            <a:br>
              <a:rPr lang="en-US" dirty="0"/>
            </a:br>
            <a:r>
              <a:rPr lang="en-US" dirty="0"/>
              <a:t>            &lt;</a:t>
            </a:r>
            <a:r>
              <a:rPr lang="en-US" dirty="0" err="1"/>
              <a:t>MorphoSyntaxAnalysis</a:t>
            </a:r>
            <a:r>
              <a:rPr lang="en-US" dirty="0"/>
              <a:t>&gt;</a:t>
            </a:r>
            <a:br>
              <a:rPr lang="en-US" dirty="0"/>
            </a:br>
            <a:r>
              <a:rPr lang="en-US" dirty="0"/>
              <a:t>               &lt;</a:t>
            </a:r>
            <a:r>
              <a:rPr lang="en-US" dirty="0" err="1"/>
              <a:t>objsur</a:t>
            </a:r>
            <a:br>
              <a:rPr lang="en-US" dirty="0"/>
            </a:br>
            <a:r>
              <a:rPr lang="en-US" dirty="0"/>
              <a:t>                  guid="3619197f-1bb1-4fc3-93bb-207561a14137"</a:t>
            </a:r>
            <a:br>
              <a:rPr lang="en-US" dirty="0"/>
            </a:br>
            <a:r>
              <a:rPr lang="en-US" dirty="0"/>
              <a:t>                  t="r" /&gt;</a:t>
            </a:r>
            <a:br>
              <a:rPr lang="en-US" dirty="0"/>
            </a:br>
            <a:r>
              <a:rPr lang="en-US" dirty="0"/>
              <a:t>            &lt;/</a:t>
            </a:r>
            <a:r>
              <a:rPr lang="en-US" dirty="0" err="1"/>
              <a:t>MorphoSyntaxAnalysis</a:t>
            </a:r>
            <a:r>
              <a:rPr lang="en-US" dirty="0"/>
              <a:t>&gt;</a:t>
            </a:r>
            <a:br>
              <a:rPr lang="en-US" dirty="0"/>
            </a:br>
            <a:r>
              <a:rPr lang="en-US" dirty="0"/>
              <a:t>         &lt;/</a:t>
            </a:r>
            <a:r>
              <a:rPr lang="en-US" dirty="0" err="1"/>
              <a:t>ownseq</a:t>
            </a:r>
            <a:r>
              <a:rPr lang="en-US" dirty="0"/>
              <a:t>&gt;</a:t>
            </a:r>
            <a:br>
              <a:rPr lang="en-US" dirty="0"/>
            </a:br>
            <a:r>
              <a:rPr lang="en-US" dirty="0"/>
              <a:t>      &lt;/Senses&gt;</a:t>
            </a:r>
            <a:br>
              <a:rPr lang="en-US" dirty="0"/>
            </a:br>
            <a:r>
              <a:rPr lang="en-US" dirty="0"/>
              <a:t>&lt;/</a:t>
            </a:r>
            <a:r>
              <a:rPr lang="en-US" dirty="0" err="1"/>
              <a:t>LexEntry</a:t>
            </a:r>
            <a:r>
              <a:rPr lang="en-US" dirty="0"/>
              <a:t>&gt;</a:t>
            </a:r>
          </a:p>
        </p:txBody>
      </p:sp>
    </p:spTree>
    <p:extLst>
      <p:ext uri="{BB962C8B-B14F-4D97-AF65-F5344CB8AC3E}">
        <p14:creationId xmlns:p14="http://schemas.microsoft.com/office/powerpoint/2010/main" val="20816885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Send/Receive Data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70000" lnSpcReduction="20000"/>
          </a:bodyPr>
          <a:lstStyle/>
          <a:p>
            <a:r>
              <a:rPr lang="en-US" dirty="0"/>
              <a:t>Just for comparison, this is how this entry would look in LIFT. Documentation for LIFT is in </a:t>
            </a:r>
            <a:r>
              <a:rPr lang="en-US" u="sng" dirty="0">
                <a:hlinkClick r:id="rId2"/>
              </a:rPr>
              <a:t>https://downloads.languagetechnology.org/fieldworks/Documentation/Technical%20Notes%20on%20LIFT%20used%20in%20FLEx.pdf</a:t>
            </a:r>
            <a:r>
              <a:rPr lang="en-US" dirty="0"/>
              <a:t>. FLEx can import and export LIFT format.</a:t>
            </a:r>
          </a:p>
          <a:p>
            <a:r>
              <a:rPr lang="en-US" dirty="0"/>
              <a:t>&lt;entry </a:t>
            </a:r>
            <a:r>
              <a:rPr lang="en-US" dirty="0" err="1"/>
              <a:t>dateCreated</a:t>
            </a:r>
            <a:r>
              <a:rPr lang="en-US" dirty="0"/>
              <a:t>="2024-04-05T15:20:42Z" </a:t>
            </a:r>
            <a:r>
              <a:rPr lang="en-US" dirty="0" err="1"/>
              <a:t>dateModified</a:t>
            </a:r>
            <a:r>
              <a:rPr lang="en-US" dirty="0"/>
              <a:t>="2024-04-05T15:22:50Z" id="maison_acc2031e-4ee4-4532-b151-a0b3eae8ece3" guid="acc2031e-4ee4-4532-b151-a0b3eae8ece3"&gt;</a:t>
            </a:r>
            <a:br>
              <a:rPr lang="en-US" dirty="0"/>
            </a:br>
            <a:r>
              <a:rPr lang="en-US" dirty="0"/>
              <a:t>&lt;lexical-unit&gt;</a:t>
            </a:r>
            <a:br>
              <a:rPr lang="en-US" dirty="0"/>
            </a:br>
            <a:r>
              <a:rPr lang="en-US" dirty="0"/>
              <a:t>&lt;form </a:t>
            </a:r>
            <a:r>
              <a:rPr lang="en-US" dirty="0" err="1"/>
              <a:t>lang</a:t>
            </a:r>
            <a:r>
              <a:rPr lang="en-US" dirty="0"/>
              <a:t>="</a:t>
            </a:r>
            <a:r>
              <a:rPr lang="en-US" dirty="0" err="1"/>
              <a:t>fr</a:t>
            </a:r>
            <a:r>
              <a:rPr lang="en-US" dirty="0"/>
              <a:t>"&gt;&lt;text&gt;</a:t>
            </a:r>
            <a:r>
              <a:rPr lang="en-US" dirty="0" err="1">
                <a:highlight>
                  <a:srgbClr val="00FF00"/>
                </a:highlight>
              </a:rPr>
              <a:t>maison</a:t>
            </a:r>
            <a:r>
              <a:rPr lang="en-US" dirty="0"/>
              <a:t>&lt;/text&gt;&lt;/form&gt;</a:t>
            </a:r>
            <a:br>
              <a:rPr lang="en-US" dirty="0"/>
            </a:br>
            <a:r>
              <a:rPr lang="en-US" dirty="0"/>
              <a:t>&lt;/lexical-unit&gt;</a:t>
            </a:r>
            <a:br>
              <a:rPr lang="en-US" dirty="0"/>
            </a:br>
            <a:r>
              <a:rPr lang="en-US" dirty="0"/>
              <a:t>&lt;trait  name="morph-type" value="stem"/&gt;</a:t>
            </a:r>
            <a:br>
              <a:rPr lang="en-US" dirty="0"/>
            </a:br>
            <a:r>
              <a:rPr lang="en-US" dirty="0"/>
              <a:t>&lt;trait name="do-not-publish-in" value="Zook"/&gt;</a:t>
            </a:r>
            <a:br>
              <a:rPr lang="en-US" dirty="0"/>
            </a:br>
            <a:r>
              <a:rPr lang="en-US" dirty="0"/>
              <a:t>&lt;sense id="5721a00b-2e17-451b-a004-ba02dfb0a761"&gt;</a:t>
            </a:r>
            <a:br>
              <a:rPr lang="en-US" dirty="0"/>
            </a:br>
            <a:r>
              <a:rPr lang="en-US" dirty="0"/>
              <a:t>&lt;grammatical-info value="</a:t>
            </a:r>
            <a:r>
              <a:rPr lang="en-US" dirty="0">
                <a:highlight>
                  <a:srgbClr val="00FF00"/>
                </a:highlight>
              </a:rPr>
              <a:t>Noun</a:t>
            </a:r>
            <a:r>
              <a:rPr lang="en-US" dirty="0"/>
              <a:t>"&gt;</a:t>
            </a:r>
            <a:br>
              <a:rPr lang="en-US" dirty="0"/>
            </a:br>
            <a:r>
              <a:rPr lang="en-US" dirty="0"/>
              <a:t>&lt;/grammatical-info&gt;</a:t>
            </a:r>
            <a:br>
              <a:rPr lang="en-US" dirty="0"/>
            </a:br>
            <a:r>
              <a:rPr lang="en-US" dirty="0"/>
              <a:t>&lt;definition&gt;</a:t>
            </a:r>
            <a:br>
              <a:rPr lang="en-US" dirty="0"/>
            </a:br>
            <a:r>
              <a:rPr lang="en-US" dirty="0"/>
              <a:t>&lt;form </a:t>
            </a:r>
            <a:r>
              <a:rPr lang="en-US" dirty="0" err="1"/>
              <a:t>lang</a:t>
            </a:r>
            <a:r>
              <a:rPr lang="en-US" dirty="0"/>
              <a:t>="</a:t>
            </a:r>
            <a:r>
              <a:rPr lang="en-US" dirty="0" err="1"/>
              <a:t>en</a:t>
            </a:r>
            <a:r>
              <a:rPr lang="en-US" dirty="0"/>
              <a:t>"&gt;&lt;text&gt;</a:t>
            </a:r>
            <a:r>
              <a:rPr lang="en-US" dirty="0">
                <a:highlight>
                  <a:srgbClr val="00FF00"/>
                </a:highlight>
              </a:rPr>
              <a:t>A house or dwelling.</a:t>
            </a:r>
            <a:r>
              <a:rPr lang="en-US" dirty="0"/>
              <a:t>&lt;/text&gt;&lt;/form&gt;</a:t>
            </a:r>
            <a:br>
              <a:rPr lang="en-US" dirty="0"/>
            </a:br>
            <a:r>
              <a:rPr lang="en-US" dirty="0"/>
              <a:t>&lt;/definition&gt;</a:t>
            </a:r>
            <a:br>
              <a:rPr lang="en-US" dirty="0"/>
            </a:br>
            <a:r>
              <a:rPr lang="en-US" dirty="0"/>
              <a:t>&lt;example&gt;</a:t>
            </a:r>
            <a:br>
              <a:rPr lang="en-US" dirty="0"/>
            </a:br>
            <a:r>
              <a:rPr lang="en-US" dirty="0"/>
              <a:t>&lt;form </a:t>
            </a:r>
            <a:r>
              <a:rPr lang="en-US" dirty="0" err="1"/>
              <a:t>lang</a:t>
            </a:r>
            <a:r>
              <a:rPr lang="en-US" dirty="0"/>
              <a:t>="</a:t>
            </a:r>
            <a:r>
              <a:rPr lang="en-US" dirty="0" err="1"/>
              <a:t>fr</a:t>
            </a:r>
            <a:r>
              <a:rPr lang="en-US" dirty="0"/>
              <a:t>"&gt;&lt;text&gt;</a:t>
            </a:r>
            <a:r>
              <a:rPr lang="en-US" dirty="0">
                <a:highlight>
                  <a:srgbClr val="00FF00"/>
                </a:highlight>
              </a:rPr>
              <a:t>Il a </a:t>
            </a:r>
            <a:r>
              <a:rPr lang="en-US" dirty="0" err="1">
                <a:highlight>
                  <a:srgbClr val="00FF00"/>
                </a:highlight>
              </a:rPr>
              <a:t>quitté</a:t>
            </a:r>
            <a:r>
              <a:rPr lang="en-US" dirty="0">
                <a:highlight>
                  <a:srgbClr val="00FF00"/>
                </a:highlight>
              </a:rPr>
              <a:t> la </a:t>
            </a:r>
            <a:r>
              <a:rPr lang="en-US" dirty="0" err="1">
                <a:highlight>
                  <a:srgbClr val="00FF00"/>
                </a:highlight>
              </a:rPr>
              <a:t>maison</a:t>
            </a:r>
            <a:r>
              <a:rPr lang="en-US" dirty="0">
                <a:highlight>
                  <a:srgbClr val="00FF00"/>
                </a:highlight>
              </a:rPr>
              <a:t> à 21 ans.</a:t>
            </a:r>
            <a:r>
              <a:rPr lang="en-US" dirty="0"/>
              <a:t>&lt;/text&gt;&lt;/form&gt;</a:t>
            </a:r>
            <a:br>
              <a:rPr lang="en-US" dirty="0"/>
            </a:br>
            <a:r>
              <a:rPr lang="en-US" dirty="0"/>
              <a:t>&lt;translation type="Free translation"&gt;</a:t>
            </a:r>
            <a:br>
              <a:rPr lang="en-US" dirty="0"/>
            </a:br>
            <a:r>
              <a:rPr lang="en-US" dirty="0"/>
              <a:t>&lt;form </a:t>
            </a:r>
            <a:r>
              <a:rPr lang="en-US" dirty="0" err="1"/>
              <a:t>lang</a:t>
            </a:r>
            <a:r>
              <a:rPr lang="en-US" dirty="0"/>
              <a:t>="</a:t>
            </a:r>
            <a:r>
              <a:rPr lang="en-US" dirty="0" err="1"/>
              <a:t>en</a:t>
            </a:r>
            <a:r>
              <a:rPr lang="en-US" dirty="0"/>
              <a:t>"&gt;&lt;text&gt;</a:t>
            </a:r>
            <a:r>
              <a:rPr lang="en-US" dirty="0">
                <a:highlight>
                  <a:srgbClr val="00FF00"/>
                </a:highlight>
              </a:rPr>
              <a:t>He left home when he was 21.</a:t>
            </a:r>
            <a:r>
              <a:rPr lang="en-US" dirty="0"/>
              <a:t>&lt;/text&gt;&lt;/form&gt;</a:t>
            </a:r>
            <a:br>
              <a:rPr lang="en-US" dirty="0"/>
            </a:br>
            <a:r>
              <a:rPr lang="en-US" dirty="0"/>
              <a:t>&lt;/translation&gt;</a:t>
            </a:r>
            <a:br>
              <a:rPr lang="en-US" dirty="0"/>
            </a:br>
            <a:r>
              <a:rPr lang="en-US" dirty="0"/>
              <a:t>&lt;/example&gt;</a:t>
            </a:r>
            <a:br>
              <a:rPr lang="en-US" dirty="0"/>
            </a:br>
            <a:r>
              <a:rPr lang="en-US" dirty="0"/>
              <a:t>&lt;/sense&gt;</a:t>
            </a:r>
            <a:br>
              <a:rPr lang="en-US" dirty="0"/>
            </a:br>
            <a:r>
              <a:rPr lang="en-US" dirty="0"/>
              <a:t>&lt;/entry&gt;</a:t>
            </a:r>
          </a:p>
          <a:p>
            <a:endParaRPr lang="en-US" dirty="0"/>
          </a:p>
        </p:txBody>
      </p:sp>
    </p:spTree>
    <p:extLst>
      <p:ext uri="{BB962C8B-B14F-4D97-AF65-F5344CB8AC3E}">
        <p14:creationId xmlns:p14="http://schemas.microsoft.com/office/powerpoint/2010/main" val="16189512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Conceptual model resources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62500" lnSpcReduction="20000"/>
          </a:bodyPr>
          <a:lstStyle/>
          <a:p>
            <a:r>
              <a:rPr lang="en-US" dirty="0"/>
              <a:t>There are various tools and resources that can help with understanding the FLEx model and data.</a:t>
            </a:r>
          </a:p>
          <a:p>
            <a:r>
              <a:rPr lang="en-US" dirty="0"/>
              <a:t>One way to see how something is modeled in FLEx is to search the fwdata file to see what is in the file for a particular object. You could type some unique string in the area you are interested in, and then search for that in fwdata.</a:t>
            </a:r>
          </a:p>
          <a:p>
            <a:r>
              <a:rPr lang="en-US" dirty="0"/>
              <a:t>For an entry, you can </a:t>
            </a:r>
            <a:r>
              <a:rPr lang="en-US" dirty="0" err="1"/>
              <a:t>Ctrl+right-click</a:t>
            </a:r>
            <a:r>
              <a:rPr lang="en-US" dirty="0"/>
              <a:t> the entry in the dictionary or dictionary preview, and choose Inspect Entry. This opens a window with the entry guid at the top, and the </a:t>
            </a:r>
            <a:r>
              <a:rPr lang="en-US" dirty="0" err="1"/>
              <a:t>xhtml</a:t>
            </a:r>
            <a:r>
              <a:rPr lang="en-US" dirty="0"/>
              <a:t> data at the bottom.</a:t>
            </a:r>
          </a:p>
          <a:p>
            <a:r>
              <a:rPr lang="en-US" dirty="0"/>
              <a:t>In FLEx, Tools &gt; Utilities &gt; “Find and fix errors in a FieldWorks Data (XML)” will remove any links to non-existent objects. It will also delete objects that are missing owners. This can correct occasional problems that occur within the program, but is also useful for manual editing the fwdata file. If you delete a </a:t>
            </a:r>
            <a:r>
              <a:rPr lang="en-US" dirty="0" err="1"/>
              <a:t>LexEntry</a:t>
            </a:r>
            <a:r>
              <a:rPr lang="en-US" dirty="0"/>
              <a:t> rt object and then Run this utility, it will remove all of the ownership links, delete all objects that were owned by the entry, and remove all references to any of the deleted objects.</a:t>
            </a:r>
          </a:p>
          <a:p>
            <a:r>
              <a:rPr lang="en-US" dirty="0"/>
              <a:t>The Write Everything utility will rewrite the current project fwdata in the standard way which will clean up manual changes that may be missing some null properties, improperly formatted dates, etc.</a:t>
            </a:r>
          </a:p>
          <a:p>
            <a:r>
              <a:rPr lang="en-US" dirty="0"/>
              <a:t>ZEdit.exe is a simple editor that is installed in the FieldWorks program directory. It memory-maps the data when a file is opened, so it can open large fwdata files very quickly and can be used to make changes. Just be sure to close the fwdata file before trying to do anything in FLEx that tries to update fwdata, or FLEx will be blocked.</a:t>
            </a:r>
          </a:p>
          <a:p>
            <a:r>
              <a:rPr lang="en-US" dirty="0"/>
              <a:t>Notepad++ takes a lot longer to open a file, but it can remain open while FLEx is being used. One of its advantages is supporting regex for search and replace. In any text editor you can find the desired object by searching for</a:t>
            </a:r>
            <a:br>
              <a:rPr lang="en-US" dirty="0"/>
            </a:br>
            <a:r>
              <a:rPr lang="en-US" dirty="0"/>
              <a:t>" guid=" followed by the guid.</a:t>
            </a:r>
          </a:p>
        </p:txBody>
      </p:sp>
    </p:spTree>
    <p:extLst>
      <p:ext uri="{BB962C8B-B14F-4D97-AF65-F5344CB8AC3E}">
        <p14:creationId xmlns:p14="http://schemas.microsoft.com/office/powerpoint/2010/main" val="19637640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Conceptual model resources – model diagram</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a:t>Useful model diagrams </a:t>
            </a:r>
            <a:r>
              <a:rPr lang="en-US" dirty="0"/>
              <a:t>can be downloaded from </a:t>
            </a:r>
            <a:r>
              <a:rPr lang="en-US" u="sng" dirty="0">
                <a:hlinkClick r:id="rId2"/>
              </a:rPr>
              <a:t>https://downloads.languagetechnology.org/fieldworks/Documentation/ModelDocumentation.chm</a:t>
            </a:r>
            <a:r>
              <a:rPr lang="en-US" dirty="0"/>
              <a:t>. If you are using Windows 10 or 11, the file will be blocked by Windows after a download. To enable it, right-click the downloaded file and choose Properties, then check the “unblock” box.</a:t>
            </a:r>
          </a:p>
          <a:p>
            <a:r>
              <a:rPr lang="en-US" dirty="0"/>
              <a:t>This was constructed by hand, so may have some errors. Unfortunately, the program that was used to develop this disappeared many years ago, so we haven’t been able to keep it up with the latest changes. However, for the most part it is still accurate and helpful. Interlinear text is not correct, and directional links for reversal indexes are wrong, and some newer things are missing. It also has all of the classes for Scripture used by Translation Editor which no longer exists. Basic Scripture classes are still used when loading data from </a:t>
            </a:r>
            <a:r>
              <a:rPr lang="en-US" dirty="0" err="1"/>
              <a:t>Paratext</a:t>
            </a:r>
            <a:r>
              <a:rPr lang="en-US" dirty="0"/>
              <a:t>, but most of the other classes are unused.</a:t>
            </a:r>
          </a:p>
          <a:p>
            <a:r>
              <a:rPr lang="en-US" dirty="0"/>
              <a:t>The chm file has a Diagrams link in the upper left pane that lists 25 diagrams for different areas of the model.</a:t>
            </a:r>
          </a:p>
          <a:p>
            <a:r>
              <a:rPr lang="en-US" dirty="0"/>
              <a:t>Demonstration…</a:t>
            </a:r>
          </a:p>
          <a:p>
            <a:endParaRPr lang="en-US" dirty="0"/>
          </a:p>
        </p:txBody>
      </p:sp>
    </p:spTree>
    <p:extLst>
      <p:ext uri="{BB962C8B-B14F-4D97-AF65-F5344CB8AC3E}">
        <p14:creationId xmlns:p14="http://schemas.microsoft.com/office/powerpoint/2010/main" val="30777315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Conceptual model resources – spreadsheet</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a:bodyPr>
          <a:lstStyle/>
          <a:p>
            <a:r>
              <a:rPr lang="en-US" dirty="0"/>
              <a:t>If you download the source code </a:t>
            </a:r>
            <a:r>
              <a:rPr lang="en-US" dirty="0" err="1"/>
              <a:t>liblcm</a:t>
            </a:r>
            <a:r>
              <a:rPr lang="en-US" dirty="0"/>
              <a:t> (SIL Language &amp; Culture Model), the MasterLCModel.xml file is the current master file with information on all classes and properties with some documentation. This is located in </a:t>
            </a:r>
            <a:r>
              <a:rPr lang="en-US" dirty="0" err="1"/>
              <a:t>liblcm</a:t>
            </a:r>
            <a:r>
              <a:rPr lang="en-US" dirty="0"/>
              <a:t> \</a:t>
            </a:r>
            <a:r>
              <a:rPr lang="en-US" dirty="0" err="1"/>
              <a:t>SIL.LCModel</a:t>
            </a:r>
            <a:r>
              <a:rPr lang="en-US" dirty="0"/>
              <a:t>\</a:t>
            </a:r>
            <a:r>
              <a:rPr lang="en-US" dirty="0" err="1"/>
              <a:t>src</a:t>
            </a:r>
            <a:r>
              <a:rPr lang="en-US" dirty="0"/>
              <a:t>. You can get to this file directly from </a:t>
            </a:r>
            <a:r>
              <a:rPr lang="en-US" u="sng" dirty="0">
                <a:hlinkClick r:id="rId2"/>
              </a:rPr>
              <a:t>https://github.com/sillsdev/liblcm/blob/master/src/SIL.LCModel/MasterLCModel.xml</a:t>
            </a:r>
            <a:r>
              <a:rPr lang="en-US" dirty="0"/>
              <a:t>. MasterLCModel.xsd defines the XML structure in this file. </a:t>
            </a:r>
          </a:p>
          <a:p>
            <a:r>
              <a:rPr lang="en-US" dirty="0"/>
              <a:t>The information for this model file has been put into a spreadsheet that can be downloaded from </a:t>
            </a:r>
            <a:r>
              <a:rPr lang="en-US" u="sng" dirty="0">
                <a:hlinkClick r:id="rId3"/>
              </a:rPr>
              <a:t>https://downloads.languagetechnology.org/fieldworks/Documentation/MasterFieldWorksModel%20classes%20and%20fields%207000072.xlsx</a:t>
            </a:r>
            <a:r>
              <a:rPr lang="en-US" dirty="0"/>
              <a:t>. This spreadsheet is one way you can find accurate information for all classes and fields. It has two tabs, one for classes and the other for fields. The labels along the top all have dropdown menus that let you sort on that column, or you can use normal Data tab Sort and Filter options in Excel for custom filters or sorting.</a:t>
            </a:r>
          </a:p>
          <a:p>
            <a:endParaRPr lang="en-US" dirty="0"/>
          </a:p>
        </p:txBody>
      </p:sp>
    </p:spTree>
    <p:extLst>
      <p:ext uri="{BB962C8B-B14F-4D97-AF65-F5344CB8AC3E}">
        <p14:creationId xmlns:p14="http://schemas.microsoft.com/office/powerpoint/2010/main" val="38265987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fontScale="90000"/>
          </a:bodyPr>
          <a:lstStyle/>
          <a:p>
            <a:r>
              <a:rPr lang="en-US" dirty="0"/>
              <a:t>Conceptual model resources – spreadsheet classes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lnSpcReduction="10000"/>
          </a:bodyPr>
          <a:lstStyle/>
          <a:p>
            <a:r>
              <a:rPr lang="en-US" dirty="0"/>
              <a:t>The Classes tab has these columns that come from the master model file.</a:t>
            </a:r>
          </a:p>
          <a:p>
            <a:pPr lvl="1"/>
            <a:r>
              <a:rPr lang="en-US" dirty="0" err="1"/>
              <a:t>Clsid</a:t>
            </a:r>
            <a:r>
              <a:rPr lang="en-US" dirty="0"/>
              <a:t>; This is the class id (comes from the module and the class number).</a:t>
            </a:r>
          </a:p>
          <a:p>
            <a:pPr lvl="1"/>
            <a:r>
              <a:rPr lang="en-US" dirty="0"/>
              <a:t>Class: The name of the class.</a:t>
            </a:r>
          </a:p>
          <a:p>
            <a:pPr lvl="1"/>
            <a:r>
              <a:rPr lang="en-US" dirty="0"/>
              <a:t>Base: The base class for this class in the class hierarchy.</a:t>
            </a:r>
          </a:p>
          <a:p>
            <a:pPr lvl="1"/>
            <a:r>
              <a:rPr lang="en-US" dirty="0"/>
              <a:t>Depth: The depth in the class hierarchy from </a:t>
            </a:r>
            <a:r>
              <a:rPr lang="en-US" dirty="0" err="1"/>
              <a:t>CmObject</a:t>
            </a:r>
            <a:r>
              <a:rPr lang="en-US" dirty="0"/>
              <a:t>.</a:t>
            </a:r>
          </a:p>
          <a:p>
            <a:pPr lvl="1"/>
            <a:r>
              <a:rPr lang="en-US" dirty="0"/>
              <a:t>Abstract: True means the class cannot occur in data. Only subclasses can exist. False means this class can occur in data.</a:t>
            </a:r>
          </a:p>
          <a:p>
            <a:pPr lvl="1"/>
            <a:r>
              <a:rPr lang="en-US" dirty="0" err="1"/>
              <a:t>Abbr</a:t>
            </a:r>
            <a:r>
              <a:rPr lang="en-US" dirty="0"/>
              <a:t>: This is an abbreviation for the class. It’s no longer used.</a:t>
            </a:r>
          </a:p>
          <a:p>
            <a:pPr lvl="1"/>
            <a:r>
              <a:rPr lang="en-US" dirty="0"/>
              <a:t>Singleton: This is true if only one occurrence can occur in a project.</a:t>
            </a:r>
          </a:p>
          <a:p>
            <a:pPr lvl="1"/>
            <a:r>
              <a:rPr lang="en-US" dirty="0"/>
              <a:t>Owner: None means there is never an owner for this class in the ownership hierarchy. Optional means there may or may not be an owner.</a:t>
            </a:r>
          </a:p>
          <a:p>
            <a:pPr lvl="1"/>
            <a:r>
              <a:rPr lang="en-US" dirty="0" err="1"/>
              <a:t>GenCreate</a:t>
            </a:r>
            <a:r>
              <a:rPr lang="en-US" dirty="0"/>
              <a:t>: When false, this class cannot be created in code with a Create() method. Check for required parameters in overrides in both the factory and the class overrides.</a:t>
            </a:r>
          </a:p>
          <a:p>
            <a:pPr lvl="1"/>
            <a:r>
              <a:rPr lang="en-US" dirty="0"/>
              <a:t>Comment: Documentation for this class.</a:t>
            </a:r>
          </a:p>
          <a:p>
            <a:endParaRPr lang="en-US" dirty="0"/>
          </a:p>
        </p:txBody>
      </p:sp>
    </p:spTree>
    <p:extLst>
      <p:ext uri="{BB962C8B-B14F-4D97-AF65-F5344CB8AC3E}">
        <p14:creationId xmlns:p14="http://schemas.microsoft.com/office/powerpoint/2010/main" val="1842883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fontScale="90000"/>
          </a:bodyPr>
          <a:lstStyle/>
          <a:p>
            <a:r>
              <a:rPr lang="en-US" dirty="0"/>
              <a:t>Conceptual model resources – spreadsheet fields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10000"/>
          </a:bodyPr>
          <a:lstStyle/>
          <a:p>
            <a:r>
              <a:rPr lang="en-US" dirty="0"/>
              <a:t>The Fields tab has these columns that come from the master model file.</a:t>
            </a:r>
          </a:p>
          <a:p>
            <a:pPr lvl="1"/>
            <a:r>
              <a:rPr lang="en-US" dirty="0" err="1"/>
              <a:t>Flid</a:t>
            </a:r>
            <a:r>
              <a:rPr lang="en-US" dirty="0"/>
              <a:t> The field id which includes the module and class numbers.</a:t>
            </a:r>
          </a:p>
          <a:p>
            <a:pPr lvl="1"/>
            <a:r>
              <a:rPr lang="en-US" dirty="0"/>
              <a:t>Class: The class name.</a:t>
            </a:r>
          </a:p>
          <a:p>
            <a:pPr lvl="1"/>
            <a:r>
              <a:rPr lang="en-US" dirty="0"/>
              <a:t>Field: The field name:</a:t>
            </a:r>
          </a:p>
          <a:p>
            <a:pPr lvl="1"/>
            <a:r>
              <a:rPr lang="en-US" dirty="0"/>
              <a:t>Type: The type of field: bas for basic, own for owning, </a:t>
            </a:r>
            <a:r>
              <a:rPr lang="en-US" dirty="0" err="1"/>
              <a:t>rel</a:t>
            </a:r>
            <a:r>
              <a:rPr lang="en-US" dirty="0"/>
              <a:t> for reference relation.</a:t>
            </a:r>
          </a:p>
          <a:p>
            <a:pPr lvl="1"/>
            <a:r>
              <a:rPr lang="en-US" dirty="0"/>
              <a:t>Card: Cardinality for owning and reference, atomic, col for collection, and seq for sequence.</a:t>
            </a:r>
          </a:p>
          <a:p>
            <a:pPr lvl="1"/>
            <a:r>
              <a:rPr lang="en-US" dirty="0"/>
              <a:t>Sig: Signature of target.</a:t>
            </a:r>
          </a:p>
          <a:p>
            <a:pPr lvl="1"/>
            <a:r>
              <a:rPr lang="en-US" dirty="0"/>
              <a:t>Basic type: Binary, Boolean, Guid, Integer, MultiString, MultiUnicode, String, </a:t>
            </a:r>
            <a:r>
              <a:rPr lang="en-US" dirty="0" err="1"/>
              <a:t>TextPropBinary</a:t>
            </a:r>
            <a:r>
              <a:rPr lang="en-US" dirty="0"/>
              <a:t>, Time, Unicode</a:t>
            </a:r>
          </a:p>
          <a:p>
            <a:pPr lvl="1"/>
            <a:r>
              <a:rPr lang="en-US" dirty="0"/>
              <a:t>Owning and reference types: The class name of the object in this property. When a class is listed here, any subclass in the class hierarchy is valid for this property.</a:t>
            </a:r>
          </a:p>
          <a:p>
            <a:pPr lvl="1"/>
            <a:r>
              <a:rPr lang="en-US" dirty="0"/>
              <a:t>Big: Unused since leaving SQL Server.</a:t>
            </a:r>
          </a:p>
          <a:p>
            <a:pPr lvl="1"/>
            <a:r>
              <a:rPr lang="en-US" dirty="0"/>
              <a:t>Min: For Integer properties, this is the minimum value.</a:t>
            </a:r>
          </a:p>
          <a:p>
            <a:pPr lvl="1"/>
            <a:r>
              <a:rPr lang="en-US" dirty="0"/>
              <a:t>Max: For Integer properties, this is the maximum value.</a:t>
            </a:r>
          </a:p>
          <a:p>
            <a:pPr lvl="1"/>
            <a:r>
              <a:rPr lang="en-US" dirty="0"/>
              <a:t>Comment: Documentation for this field.</a:t>
            </a:r>
          </a:p>
          <a:p>
            <a:endParaRPr lang="en-US" dirty="0"/>
          </a:p>
        </p:txBody>
      </p:sp>
    </p:spTree>
    <p:extLst>
      <p:ext uri="{BB962C8B-B14F-4D97-AF65-F5344CB8AC3E}">
        <p14:creationId xmlns:p14="http://schemas.microsoft.com/office/powerpoint/2010/main" val="5245036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fontScale="90000"/>
          </a:bodyPr>
          <a:lstStyle/>
          <a:p>
            <a:r>
              <a:rPr lang="en-US" dirty="0"/>
              <a:t>Conceptual model resources – spreadsheet use</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With this spreadsheet, you can easily find answers to common questions:</a:t>
            </a:r>
          </a:p>
          <a:p>
            <a:pPr lvl="1"/>
            <a:r>
              <a:rPr lang="en-US" dirty="0"/>
              <a:t>What are all of the properties for a given class? In the Fields tab sort the class names and find the class(es) of interest.</a:t>
            </a:r>
          </a:p>
          <a:p>
            <a:pPr lvl="1"/>
            <a:r>
              <a:rPr lang="en-US" dirty="0"/>
              <a:t>What classes are subclasses of a given class? A possible answer can be found in the Classes tab by sorting on the Base. It’s more complicated when there are multiple levels under a class.</a:t>
            </a:r>
          </a:p>
          <a:p>
            <a:pPr lvl="1"/>
            <a:r>
              <a:rPr lang="en-US" dirty="0"/>
              <a:t>What are the class or field IDs? They are the first column of both tabs. If you have an ID and want to know what it’s for, you can sort the ids and find it or search in the ID column to find it.</a:t>
            </a:r>
          </a:p>
          <a:p>
            <a:pPr lvl="1"/>
            <a:r>
              <a:rPr lang="en-US" dirty="0"/>
              <a:t>What kind of strings are in given fields? This can be found in the Fields tab looking in the Sig column.</a:t>
            </a:r>
          </a:p>
          <a:p>
            <a:pPr lvl="0"/>
            <a:r>
              <a:rPr lang="en-US" dirty="0"/>
              <a:t>Demonstration…</a:t>
            </a:r>
          </a:p>
        </p:txBody>
      </p:sp>
    </p:spTree>
    <p:extLst>
      <p:ext uri="{BB962C8B-B14F-4D97-AF65-F5344CB8AC3E}">
        <p14:creationId xmlns:p14="http://schemas.microsoft.com/office/powerpoint/2010/main" val="38503532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Conceptual model resources – </a:t>
            </a:r>
            <a:r>
              <a:rPr lang="en-US" dirty="0" err="1"/>
              <a:t>LCMBrowser</a:t>
            </a:r>
            <a:endParaRPr lang="en-US" dirty="0"/>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10000"/>
          </a:bodyPr>
          <a:lstStyle/>
          <a:p>
            <a:r>
              <a:rPr lang="en-US" dirty="0"/>
              <a:t>LCM is an abbreviation for SIL Language &amp; Culture Model. LCMBrowser.exe  is a program that comes with FieldWorks and can be started by typing into the Windows start menu or finding it in c:\Program Files\SIL\FieldWorks 9.</a:t>
            </a:r>
          </a:p>
          <a:p>
            <a:r>
              <a:rPr lang="en-US" dirty="0" err="1"/>
              <a:t>LCMBrowser</a:t>
            </a:r>
            <a:r>
              <a:rPr lang="en-US" dirty="0"/>
              <a:t> has a LCM Model tab for showing the current conceptual model. </a:t>
            </a:r>
          </a:p>
          <a:p>
            <a:r>
              <a:rPr lang="en-US" dirty="0" err="1"/>
              <a:t>LCMBrowser</a:t>
            </a:r>
            <a:r>
              <a:rPr lang="en-US" dirty="0"/>
              <a:t> can open a fwdata file and it lets you browse the data, and make limited modifications, such as deleting an object. Once open, there are 2 more tabs</a:t>
            </a:r>
          </a:p>
          <a:p>
            <a:pPr lvl="1"/>
            <a:r>
              <a:rPr lang="en-US" dirty="0"/>
              <a:t>&lt;Project&gt;: </a:t>
            </a:r>
            <a:r>
              <a:rPr lang="en-US" dirty="0" err="1"/>
              <a:t>LangProj</a:t>
            </a:r>
            <a:r>
              <a:rPr lang="en-US" dirty="0"/>
              <a:t> shows the data in an ownership hierarchy starting at </a:t>
            </a:r>
            <a:r>
              <a:rPr lang="en-US" dirty="0" err="1"/>
              <a:t>LangProject</a:t>
            </a:r>
            <a:endParaRPr lang="en-US" dirty="0"/>
          </a:p>
          <a:p>
            <a:pPr lvl="1"/>
            <a:r>
              <a:rPr lang="en-US" dirty="0"/>
              <a:t>&lt;Project&gt;: Repositories lists all classes and shows all instances in each class.</a:t>
            </a:r>
          </a:p>
          <a:p>
            <a:r>
              <a:rPr lang="en-US" dirty="0" err="1"/>
              <a:t>LCMBrowser</a:t>
            </a:r>
            <a:r>
              <a:rPr lang="en-US" dirty="0"/>
              <a:t> will not open a project that is open in FLEx, and vice versa. Changes are saved automatically as in FLEx.</a:t>
            </a:r>
          </a:p>
          <a:p>
            <a:r>
              <a:rPr lang="en-US" dirty="0"/>
              <a:t>The only search capability is for a guid, which opens a new window on that object.</a:t>
            </a:r>
          </a:p>
          <a:p>
            <a:r>
              <a:rPr lang="en-US" dirty="0"/>
              <a:t>Demonstration…</a:t>
            </a:r>
          </a:p>
          <a:p>
            <a:endParaRPr lang="en-US" dirty="0"/>
          </a:p>
        </p:txBody>
      </p:sp>
    </p:spTree>
    <p:extLst>
      <p:ext uri="{BB962C8B-B14F-4D97-AF65-F5344CB8AC3E}">
        <p14:creationId xmlns:p14="http://schemas.microsoft.com/office/powerpoint/2010/main" val="23611718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Conceptual model resources – source code</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lnSpcReduction="10000"/>
          </a:bodyPr>
          <a:lstStyle/>
          <a:p>
            <a:r>
              <a:rPr lang="en-US" dirty="0"/>
              <a:t>FieldWorks is an open source project, so all source code is available to anyone that wants it. You can open sources directly from </a:t>
            </a:r>
            <a:r>
              <a:rPr lang="en-US" dirty="0" err="1"/>
              <a:t>github</a:t>
            </a:r>
            <a:r>
              <a:rPr lang="en-US" dirty="0"/>
              <a:t> in a browser, or you can download the sources using Git (</a:t>
            </a:r>
            <a:r>
              <a:rPr lang="en-US" u="sng" dirty="0">
                <a:hlinkClick r:id="rId2"/>
              </a:rPr>
              <a:t>https://git-scm.com/</a:t>
            </a:r>
            <a:r>
              <a:rPr lang="en-US" dirty="0"/>
              <a:t>). With the source code downloaded you can search all files for class names, methods, etc. to try to understand how certain things are used in code.</a:t>
            </a:r>
          </a:p>
          <a:p>
            <a:r>
              <a:rPr lang="en-US" dirty="0"/>
              <a:t>The program sources are in </a:t>
            </a:r>
            <a:r>
              <a:rPr lang="en-US" u="sng" dirty="0">
                <a:hlinkClick r:id="rId3"/>
              </a:rPr>
              <a:t>https://github.com/sillsdev/</a:t>
            </a:r>
            <a:r>
              <a:rPr lang="en-US" dirty="0"/>
              <a:t>.</a:t>
            </a:r>
          </a:p>
          <a:p>
            <a:r>
              <a:rPr lang="en-US" dirty="0"/>
              <a:t>The following repositories are needed for FieldWorks code</a:t>
            </a:r>
          </a:p>
          <a:p>
            <a:pPr lvl="1"/>
            <a:r>
              <a:rPr lang="en-US" u="sng" dirty="0">
                <a:hlinkClick r:id="rId4"/>
              </a:rPr>
              <a:t>https://github.com/sillsdev/FieldWorks</a:t>
            </a:r>
            <a:r>
              <a:rPr lang="en-US" dirty="0"/>
              <a:t>: The main FieldWorks code</a:t>
            </a:r>
          </a:p>
          <a:p>
            <a:pPr lvl="1"/>
            <a:r>
              <a:rPr lang="en-US" u="sng" dirty="0">
                <a:hlinkClick r:id="rId5"/>
              </a:rPr>
              <a:t>https://github.com/sillsdev/chorus</a:t>
            </a:r>
            <a:r>
              <a:rPr lang="en-US" dirty="0"/>
              <a:t>: A library for using Send/Receive</a:t>
            </a:r>
          </a:p>
          <a:p>
            <a:pPr lvl="1"/>
            <a:r>
              <a:rPr lang="en-US" u="sng" dirty="0">
                <a:hlinkClick r:id="rId6"/>
              </a:rPr>
              <a:t>https://github.com/sillsdev/liblcm</a:t>
            </a:r>
            <a:r>
              <a:rPr lang="en-US" dirty="0"/>
              <a:t>: A library with the basic FieldWorks model code. Most code that is relevant for </a:t>
            </a:r>
            <a:r>
              <a:rPr lang="en-US" dirty="0" err="1"/>
              <a:t>FlexTools</a:t>
            </a:r>
            <a:r>
              <a:rPr lang="en-US" dirty="0"/>
              <a:t> is in this repo.</a:t>
            </a:r>
          </a:p>
          <a:p>
            <a:pPr lvl="1"/>
            <a:r>
              <a:rPr lang="en-US" u="sng" dirty="0">
                <a:hlinkClick r:id="rId7"/>
              </a:rPr>
              <a:t>https://github.com/sillsdev/libpalaso</a:t>
            </a:r>
            <a:r>
              <a:rPr lang="en-US" dirty="0"/>
              <a:t>: A library with various things FLEx uses.</a:t>
            </a:r>
          </a:p>
          <a:p>
            <a:pPr lvl="1"/>
            <a:r>
              <a:rPr lang="en-US" u="sng" dirty="0">
                <a:hlinkClick r:id="rId8"/>
              </a:rPr>
              <a:t>https://github.com/sillsdev/flexbridge</a:t>
            </a:r>
            <a:r>
              <a:rPr lang="en-US" dirty="0"/>
              <a:t>: The source code for FLEx Bridge for doing S/R.</a:t>
            </a:r>
          </a:p>
          <a:p>
            <a:endParaRPr lang="en-US" dirty="0"/>
          </a:p>
        </p:txBody>
      </p:sp>
    </p:spTree>
    <p:extLst>
      <p:ext uri="{BB962C8B-B14F-4D97-AF65-F5344CB8AC3E}">
        <p14:creationId xmlns:p14="http://schemas.microsoft.com/office/powerpoint/2010/main" val="15265930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Conceptual model resources – source code</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To get the source code using a Git Bash window, use this command:</a:t>
            </a:r>
            <a:br>
              <a:rPr lang="en-US" dirty="0"/>
            </a:br>
            <a:r>
              <a:rPr lang="en-US" dirty="0"/>
              <a:t>  git clone https://github.com/sillsdev/FieldWorks </a:t>
            </a:r>
            <a:r>
              <a:rPr lang="en-US" dirty="0" err="1"/>
              <a:t>fw</a:t>
            </a:r>
            <a:br>
              <a:rPr lang="en-US" dirty="0"/>
            </a:br>
            <a:r>
              <a:rPr lang="en-US" dirty="0"/>
              <a:t>where the appropriate repo is used from the previous list, and the final argument is the target directory to create for the downloaded repo. The master branch is usually the appropriate branch to use in the repos.</a:t>
            </a:r>
          </a:p>
          <a:p>
            <a:r>
              <a:rPr lang="en-US" dirty="0"/>
              <a:t>FieldWorks can be built on Windows using a free Visual Studio Community Edition. For more information about building FieldWorks, see</a:t>
            </a:r>
            <a:br>
              <a:rPr lang="en-US" dirty="0"/>
            </a:br>
            <a:r>
              <a:rPr lang="en-US" dirty="0"/>
              <a:t>   </a:t>
            </a:r>
            <a:r>
              <a:rPr lang="en-US" u="sng" dirty="0">
                <a:hlinkClick r:id="rId2"/>
              </a:rPr>
              <a:t>https://github.com/sillsdev/FwDocumentation/wiki</a:t>
            </a:r>
            <a:endParaRPr lang="en-US" dirty="0"/>
          </a:p>
          <a:p>
            <a:r>
              <a:rPr lang="en-US" dirty="0"/>
              <a:t>Debugging can also be done without installing any program using </a:t>
            </a:r>
            <a:r>
              <a:rPr lang="en-US" dirty="0" err="1"/>
              <a:t>dnSpy</a:t>
            </a:r>
            <a:r>
              <a:rPr lang="en-US" dirty="0"/>
              <a:t>.</a:t>
            </a:r>
          </a:p>
        </p:txBody>
      </p:sp>
    </p:spTree>
    <p:extLst>
      <p:ext uri="{BB962C8B-B14F-4D97-AF65-F5344CB8AC3E}">
        <p14:creationId xmlns:p14="http://schemas.microsoft.com/office/powerpoint/2010/main" val="12279394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Conceptual model resources – </a:t>
            </a:r>
            <a:r>
              <a:rPr lang="en-US" dirty="0" err="1"/>
              <a:t>dnSpy</a:t>
            </a:r>
            <a:endParaRPr lang="en-US" dirty="0"/>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If interested in exploring FLEx using a debugger, there is a free .NET debugger that can be used on any machine without installing any software. </a:t>
            </a:r>
          </a:p>
          <a:p>
            <a:r>
              <a:rPr lang="en-US" dirty="0"/>
              <a:t>To use </a:t>
            </a:r>
            <a:r>
              <a:rPr lang="en-US" dirty="0" err="1"/>
              <a:t>dnSpy</a:t>
            </a:r>
            <a:endParaRPr lang="en-US" dirty="0"/>
          </a:p>
          <a:p>
            <a:pPr marL="914400" lvl="1" indent="-457200">
              <a:buFont typeface="+mj-lt"/>
              <a:buAutoNum type="arabicPeriod"/>
            </a:pPr>
            <a:r>
              <a:rPr lang="en-US" dirty="0"/>
              <a:t>Download dnSpy-net-win64.zip from </a:t>
            </a:r>
            <a:r>
              <a:rPr lang="en-US" u="sng" dirty="0">
                <a:hlinkClick r:id="rId2"/>
              </a:rPr>
              <a:t>https://github.com/dnSpy/dnSpy/releases</a:t>
            </a:r>
            <a:r>
              <a:rPr lang="en-US" dirty="0"/>
              <a:t>.</a:t>
            </a:r>
          </a:p>
          <a:p>
            <a:pPr marL="914400" lvl="1" indent="-457200">
              <a:buFont typeface="+mj-lt"/>
              <a:buAutoNum type="arabicPeriod"/>
            </a:pPr>
            <a:r>
              <a:rPr lang="en-US" dirty="0"/>
              <a:t>Unzip the file into a directory.</a:t>
            </a:r>
          </a:p>
          <a:p>
            <a:pPr marL="914400" lvl="1" indent="-457200">
              <a:buFont typeface="+mj-lt"/>
              <a:buAutoNum type="arabicPeriod"/>
            </a:pPr>
            <a:r>
              <a:rPr lang="en-US" dirty="0"/>
              <a:t>Run dnSpy.exe from the unzipped directory.</a:t>
            </a:r>
          </a:p>
          <a:p>
            <a:pPr marL="914400" lvl="1" indent="-457200">
              <a:buFont typeface="+mj-lt"/>
              <a:buAutoNum type="arabicPeriod"/>
            </a:pPr>
            <a:r>
              <a:rPr lang="en-US" dirty="0"/>
              <a:t>Drag C:\Program Files\SIL\FieldWorks 9\FieldWorks.exe into the left Assembly Explorer pane in </a:t>
            </a:r>
            <a:r>
              <a:rPr lang="en-US" dirty="0" err="1"/>
              <a:t>dnSpy</a:t>
            </a:r>
            <a:r>
              <a:rPr lang="en-US" dirty="0"/>
              <a:t>.</a:t>
            </a:r>
          </a:p>
          <a:p>
            <a:pPr marL="914400" lvl="1" indent="-457200">
              <a:buFont typeface="+mj-lt"/>
              <a:buAutoNum type="arabicPeriod"/>
            </a:pPr>
            <a:r>
              <a:rPr lang="en-US" dirty="0"/>
              <a:t>Right-click FieldWorks in the Assembly Explorer.</a:t>
            </a:r>
          </a:p>
          <a:p>
            <a:pPr marL="914400" lvl="1" indent="-457200">
              <a:buFont typeface="+mj-lt"/>
              <a:buAutoNum type="arabicPeriod"/>
            </a:pPr>
            <a:r>
              <a:rPr lang="en-US" dirty="0"/>
              <a:t>Choose “Go to Entry Point”. </a:t>
            </a:r>
          </a:p>
          <a:p>
            <a:pPr marL="914400" lvl="1" indent="-457200">
              <a:buFont typeface="+mj-lt"/>
              <a:buAutoNum type="arabicPeriod"/>
            </a:pPr>
            <a:r>
              <a:rPr lang="en-US" dirty="0"/>
              <a:t>Click the Start button at the top, or press F5. </a:t>
            </a:r>
          </a:p>
          <a:p>
            <a:pPr marL="914400" lvl="1" indent="-457200">
              <a:buFont typeface="+mj-lt"/>
              <a:buAutoNum type="arabicPeriod"/>
            </a:pPr>
            <a:r>
              <a:rPr lang="en-US" dirty="0"/>
              <a:t>Click OK to the initial dialog.</a:t>
            </a:r>
          </a:p>
          <a:p>
            <a:pPr marL="457200" lvl="1" indent="0">
              <a:buNone/>
            </a:pPr>
            <a:endParaRPr lang="en-US" dirty="0"/>
          </a:p>
          <a:p>
            <a:pPr lvl="1"/>
            <a:endParaRPr lang="en-US" dirty="0"/>
          </a:p>
          <a:p>
            <a:endParaRPr lang="en-US" dirty="0"/>
          </a:p>
          <a:p>
            <a:endParaRPr lang="en-US" dirty="0"/>
          </a:p>
        </p:txBody>
      </p:sp>
    </p:spTree>
    <p:extLst>
      <p:ext uri="{BB962C8B-B14F-4D97-AF65-F5344CB8AC3E}">
        <p14:creationId xmlns:p14="http://schemas.microsoft.com/office/powerpoint/2010/main" val="114910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29BEC-E394-43B5-AD07-90615C71DDF7}"/>
              </a:ext>
            </a:extLst>
          </p:cNvPr>
          <p:cNvSpPr>
            <a:spLocks noGrp="1"/>
          </p:cNvSpPr>
          <p:nvPr>
            <p:ph type="title"/>
          </p:nvPr>
        </p:nvSpPr>
        <p:spPr/>
        <p:txBody>
          <a:bodyPr/>
          <a:lstStyle/>
          <a:p>
            <a:r>
              <a:rPr lang="en-US" dirty="0"/>
              <a:t>Documentation</a:t>
            </a:r>
          </a:p>
        </p:txBody>
      </p:sp>
      <p:sp>
        <p:nvSpPr>
          <p:cNvPr id="3" name="Content Placeholder 2">
            <a:extLst>
              <a:ext uri="{FF2B5EF4-FFF2-40B4-BE49-F238E27FC236}">
                <a16:creationId xmlns:a16="http://schemas.microsoft.com/office/drawing/2014/main" id="{8D81C8F6-CD22-4D30-ACCD-17AB4B85D7BD}"/>
              </a:ext>
            </a:extLst>
          </p:cNvPr>
          <p:cNvSpPr>
            <a:spLocks noGrp="1"/>
          </p:cNvSpPr>
          <p:nvPr>
            <p:ph idx="1"/>
          </p:nvPr>
        </p:nvSpPr>
        <p:spPr/>
        <p:txBody>
          <a:bodyPr/>
          <a:lstStyle/>
          <a:p>
            <a:r>
              <a:rPr lang="en-US" dirty="0"/>
              <a:t>FLEx 9.1 Conceptual Model documentation covered in these webinars is available as “FLEx 9.1 Conceptual model.pdf”</a:t>
            </a:r>
            <a:br>
              <a:rPr lang="en-US" dirty="0"/>
            </a:br>
            <a:r>
              <a:rPr lang="en-US" dirty="0"/>
              <a:t>in software.sil.org/fieldworks/support/technical-documents</a:t>
            </a:r>
            <a:br>
              <a:rPr lang="en-US" dirty="0"/>
            </a:br>
            <a:r>
              <a:rPr lang="en-US" dirty="0">
                <a:hlinkClick r:id="rId2"/>
              </a:rPr>
              <a:t>https://downloads.languagetechnology.org/fieldworks/Documentation/FLEx%209.1%20Conceptual%20Model.pdf</a:t>
            </a:r>
            <a:r>
              <a:rPr lang="en-US" dirty="0"/>
              <a:t> (The file also has a link to a Flex 9.1 sample project used in this document, as well as the three PowerPoint presentations.)</a:t>
            </a:r>
          </a:p>
        </p:txBody>
      </p:sp>
    </p:spTree>
    <p:extLst>
      <p:ext uri="{BB962C8B-B14F-4D97-AF65-F5344CB8AC3E}">
        <p14:creationId xmlns:p14="http://schemas.microsoft.com/office/powerpoint/2010/main" val="2574577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2680</TotalTime>
  <Words>10952</Words>
  <Application>Microsoft Office PowerPoint</Application>
  <PresentationFormat>Widescreen</PresentationFormat>
  <Paragraphs>378</Paragraphs>
  <Slides>62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vt:lpstr>
      <vt:lpstr>Calibri</vt:lpstr>
      <vt:lpstr>Calibri Light</vt:lpstr>
      <vt:lpstr>Office Theme</vt:lpstr>
      <vt:lpstr>FLEx 9.1 Conceptual Model</vt:lpstr>
      <vt:lpstr>FieldWorks Language Explorer (FLEx)</vt:lpstr>
      <vt:lpstr>FieldWorks project folder</vt:lpstr>
      <vt:lpstr>FieldWorks XML fwdata file</vt:lpstr>
      <vt:lpstr>FieldWorks data</vt:lpstr>
      <vt:lpstr>Object oriented</vt:lpstr>
      <vt:lpstr>Writing Systems</vt:lpstr>
      <vt:lpstr>SIL Writing System Technology Department</vt:lpstr>
      <vt:lpstr>FLEx writing system storage</vt:lpstr>
      <vt:lpstr>FLEx writing system use</vt:lpstr>
      <vt:lpstr>FLEx writing system lists stored in fwdata</vt:lpstr>
      <vt:lpstr>FLEx shared settings for writing systems</vt:lpstr>
      <vt:lpstr>Basic properties: strings</vt:lpstr>
      <vt:lpstr>Basic properties: strings continued</vt:lpstr>
      <vt:lpstr>Basic properties: Unicode</vt:lpstr>
      <vt:lpstr>Basic properties: String</vt:lpstr>
      <vt:lpstr>Basic properties: String continued</vt:lpstr>
      <vt:lpstr>Basic properties: String continued</vt:lpstr>
      <vt:lpstr>Basic properties: MultiUnicode</vt:lpstr>
      <vt:lpstr>Basic properties: MultiString</vt:lpstr>
      <vt:lpstr>Basic properties: Binary and Boolean</vt:lpstr>
      <vt:lpstr>Basic properties: GenDate</vt:lpstr>
      <vt:lpstr>Basic properties: Guid and Integer</vt:lpstr>
      <vt:lpstr>Basic properties: TextPropBinary</vt:lpstr>
      <vt:lpstr>Basic properties: Time</vt:lpstr>
      <vt:lpstr>Linking Properties</vt:lpstr>
      <vt:lpstr>Linking Properties: Owning</vt:lpstr>
      <vt:lpstr>Linking Properties: Owning continued</vt:lpstr>
      <vt:lpstr>Linking Properties: Owning continued</vt:lpstr>
      <vt:lpstr>Linking Properties: Reference</vt:lpstr>
      <vt:lpstr>Linking Properties: Reference continued</vt:lpstr>
      <vt:lpstr>Styles</vt:lpstr>
      <vt:lpstr>Styles continued</vt:lpstr>
      <vt:lpstr>Possibility lists</vt:lpstr>
      <vt:lpstr>Possibility lists continued</vt:lpstr>
      <vt:lpstr>Possibility lists continued</vt:lpstr>
      <vt:lpstr>Possibility lists continued</vt:lpstr>
      <vt:lpstr>Possibility lists continued</vt:lpstr>
      <vt:lpstr>Possibility lists continued</vt:lpstr>
      <vt:lpstr>Custom fields</vt:lpstr>
      <vt:lpstr>Custom fields continued</vt:lpstr>
      <vt:lpstr>Custom fields continued</vt:lpstr>
      <vt:lpstr>Custom fields continued</vt:lpstr>
      <vt:lpstr>Custom fields continued</vt:lpstr>
      <vt:lpstr>Custom fields continued</vt:lpstr>
      <vt:lpstr>Send/Receive Data</vt:lpstr>
      <vt:lpstr>Send/Receive Data continued</vt:lpstr>
      <vt:lpstr>Send/Receive Data continued</vt:lpstr>
      <vt:lpstr>Send/Receive Data continued</vt:lpstr>
      <vt:lpstr>Send/Receive Data continued</vt:lpstr>
      <vt:lpstr>Send/Receive Data continued</vt:lpstr>
      <vt:lpstr>Conceptual model resources</vt:lpstr>
      <vt:lpstr>Conceptual model resources – model diagram</vt:lpstr>
      <vt:lpstr>Conceptual model resources – spreadsheet</vt:lpstr>
      <vt:lpstr>Conceptual model resources – spreadsheet classes</vt:lpstr>
      <vt:lpstr>Conceptual model resources – spreadsheet fields</vt:lpstr>
      <vt:lpstr>Conceptual model resources – spreadsheet use</vt:lpstr>
      <vt:lpstr>Conceptual model resources – LCMBrowser</vt:lpstr>
      <vt:lpstr>Conceptual model resources – source code</vt:lpstr>
      <vt:lpstr>Conceptual model resources – source code</vt:lpstr>
      <vt:lpstr>Conceptual model resources – dnSpy</vt:lpstr>
      <vt:lpstr>Documentation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 Conceptual Model</dc:title>
  <dc:creator>Ken Zook</dc:creator>
  <cp:lastModifiedBy>Ken Zook</cp:lastModifiedBy>
  <cp:revision>139</cp:revision>
  <dcterms:created xsi:type="dcterms:W3CDTF">2024-04-08T21:34:03Z</dcterms:created>
  <dcterms:modified xsi:type="dcterms:W3CDTF">2024-06-25T13:25:25Z</dcterms:modified>
</cp:coreProperties>
</file>